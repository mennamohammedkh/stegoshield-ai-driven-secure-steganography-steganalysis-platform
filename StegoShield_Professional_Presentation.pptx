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StegoShield as a secure pipeline for hiding and detecting information in images. Emphasize that the project combines cryptography, steganography, ML steganalysis, backend orchestration, and a React user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system. The key review point is separation: encryption is not embedding, steganography is not ML, and the backend only orchestrates calls across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core problem: steganography alone is not enough. We also need encrypted payloads, detection capability, and measurable robustness against common image transformations.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project is ambitious but bounded. The deliverables are not vague; they map to specific services, APIs, models, and frontend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adversary model. The system is designed for confidentiality and stealth, while also providing a detector to support forensic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request path: frontend sends REST calls to FastAPI, which routes to independent modules. This separation makes testing, replacement, and deployment cleaner.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prevents conceptual confusion. JUNIWARD belongs to steganography, not ML. The ML component performs detection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complete encoding path. The message is encrypted first, then the encrypted bytes are embedded. The frontend receives the result and quality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extraction and decryption are separate stages. A successful extraction can still fail decryption if the wrong key is supplied or the stego image was modified.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ML boundary. Detection is a classification task. It does not perform cryptography or steganographic embedding.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JUNIWARD improves stealth: it avoids embedding in statistically sensitive areas and prefers textured wavelet coefficients with lower embedding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ML lifecycle. The dataset is balanced, the model is tuned with Optuna, and ONNX is used for production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API contracts make integration explicit. Each endpoint has defined inputs, outputs, and known error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frontend is intentionally thin. It handles file uploads, form input, preview, error states, and confidence visualization while delegating logic to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testing strategy and performance targets. The deployment model is simple enough for local demos and structured enough for containerized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acknowledging limitations honestly, then restate the engineering value: modular design, secure payloads, adaptive embedding, ML-based detection, and deployable UI/API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BFF"/>
                </a:solidFill>
              </a:rPr>
              <a:t>STEGOSHIELD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03504" y="177393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EE7FF"/>
                </a:solidFill>
              </a:rPr>
              <a:t>AI-Driven Secure Steganography &amp; Steganalysis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" y="22219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7DA"/>
                </a:solidFill>
              </a:rPr>
              <a:t>Secure message hiding • encrypted payloads • AI-based stego detection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" y="2880360"/>
            <a:ext cx="1353312" cy="320040"/>
          </a:xfrm>
          <a:prstGeom prst="roundRect">
            <a:avLst>
              <a:gd name="adj" fmla="val 22857"/>
            </a:avLst>
          </a:prstGeom>
          <a:solidFill>
            <a:srgbClr val="2EE7FF">
              <a:alpha val="15000"/>
            </a:srgbClr>
          </a:solidFill>
          <a:ln w="12700">
            <a:solidFill>
              <a:srgbClr val="2EE7FF">
                <a:alpha val="7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96265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EE7FF"/>
                </a:solidFill>
              </a:rPr>
              <a:t>AES-256-CBC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084832" y="2880360"/>
            <a:ext cx="1261872" cy="320040"/>
          </a:xfrm>
          <a:prstGeom prst="roundRect">
            <a:avLst>
              <a:gd name="adj" fmla="val 22857"/>
            </a:avLst>
          </a:prstGeom>
          <a:solidFill>
            <a:srgbClr val="2EFFB8">
              <a:alpha val="15000"/>
            </a:srgbClr>
          </a:solidFill>
          <a:ln w="12700">
            <a:solidFill>
              <a:srgbClr val="2EFFB8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296265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EFFB8"/>
                </a:solidFill>
              </a:rPr>
              <a:t>JUNIWARD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493008" y="2880360"/>
            <a:ext cx="1225296" cy="320040"/>
          </a:xfrm>
          <a:prstGeom prst="roundRect">
            <a:avLst>
              <a:gd name="adj" fmla="val 22857"/>
            </a:avLst>
          </a:prstGeom>
          <a:solidFill>
            <a:srgbClr val="FFB84D">
              <a:alpha val="15000"/>
            </a:srgbClr>
          </a:solidFill>
          <a:ln w="1270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96265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B84D"/>
                </a:solidFill>
              </a:rPr>
              <a:t>DWT + STC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864608" y="2880360"/>
            <a:ext cx="1298448" cy="320040"/>
          </a:xfrm>
          <a:prstGeom prst="roundRect">
            <a:avLst>
              <a:gd name="adj" fmla="val 22857"/>
            </a:avLst>
          </a:prstGeom>
          <a:solidFill>
            <a:srgbClr val="8D5CFF">
              <a:alpha val="15000"/>
            </a:srgbClr>
          </a:solidFill>
          <a:ln w="12700">
            <a:solidFill>
              <a:srgbClr val="8D5CFF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962656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8D5CFF"/>
                </a:solidFill>
              </a:rPr>
              <a:t>CNN + ONNX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309360" y="288036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96265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A7BFF"/>
                </a:solidFill>
              </a:rPr>
              <a:t>React + FastAPI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132320" y="3840480"/>
            <a:ext cx="1417320" cy="822960"/>
          </a:xfrm>
          <a:prstGeom prst="roundRect">
            <a:avLst>
              <a:gd name="adj" fmla="val 13333"/>
            </a:avLst>
          </a:prstGeom>
          <a:solidFill>
            <a:srgbClr val="132A4B"/>
          </a:solidFill>
          <a:ln w="15240">
            <a:solidFill>
              <a:srgbClr val="2EE7FF">
                <a:alpha val="8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3968496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React Frontend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42048" y="4279392"/>
            <a:ext cx="11978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Upload • Encode • Detect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8558784" y="4251960"/>
            <a:ext cx="585216" cy="0"/>
          </a:xfrm>
          <a:prstGeom prst="line">
            <a:avLst/>
          </a:prstGeom>
          <a:noFill/>
          <a:ln w="1905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62288" y="3840480"/>
            <a:ext cx="1097280" cy="822960"/>
          </a:xfrm>
          <a:prstGeom prst="roundRect">
            <a:avLst>
              <a:gd name="adj" fmla="val 13333"/>
            </a:avLst>
          </a:prstGeom>
          <a:solidFill>
            <a:srgbClr val="132A4B"/>
          </a:solidFill>
          <a:ln w="15240">
            <a:solidFill>
              <a:srgbClr val="3A7BFF">
                <a:alpha val="8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72016" y="396849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FastAPI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272016" y="4279392"/>
            <a:ext cx="877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Orchestration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10277856" y="4251960"/>
            <a:ext cx="603504" cy="0"/>
          </a:xfrm>
          <a:prstGeom prst="line">
            <a:avLst/>
          </a:prstGeom>
          <a:noFill/>
          <a:ln w="1905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881360" y="3840480"/>
            <a:ext cx="1005840" cy="822960"/>
          </a:xfrm>
          <a:prstGeom prst="roundRect">
            <a:avLst>
              <a:gd name="adj" fmla="val 13333"/>
            </a:avLst>
          </a:prstGeom>
          <a:solidFill>
            <a:srgbClr val="132A4B"/>
          </a:solidFill>
          <a:ln w="15240">
            <a:solidFill>
              <a:srgbClr val="2EFFB8">
                <a:alpha val="8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91088" y="396849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Services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91088" y="4279392"/>
            <a:ext cx="786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Crypto • Stego • ML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03504" y="3886200"/>
            <a:ext cx="5440680" cy="1554480"/>
          </a:xfrm>
          <a:prstGeom prst="roundRect">
            <a:avLst>
              <a:gd name="adj" fmla="val 7059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" y="3886200"/>
            <a:ext cx="73152" cy="1554480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05079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Project Identity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4416552"/>
            <a:ext cx="4965192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Modular platform combining standards-based encryption, adaptive steganographic embedding, and production-ready ML inference for forensic detection.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03504" y="56875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3A1"/>
                </a:solidFill>
              </a:rPr>
              <a:t>Academic / Technical Documentation  •  Version 4.0  •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Executive Summary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A modular system that separates security, embedding, detection, API, and UI responsibilities.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3096" y="1088136"/>
            <a:ext cx="5093208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3970">
            <a:solidFill>
              <a:srgbClr val="2EE7FF">
                <a:alpha val="70000"/>
              </a:srgbClr>
            </a:solidFill>
            <a:prstDash val="solid"/>
          </a:ln>
        </p:spPr>
      </p:sp>
      <p:pic>
        <p:nvPicPr>
          <p:cNvPr id="11" name="Image 0" descr="/mnt/data/image(55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144567"/>
            <a:ext cx="4983480" cy="30875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4297680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83A1"/>
                </a:solidFill>
              </a:rPr>
              <a:t>Reference overview image included and aligned to StegoShield modules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502920" y="1207008"/>
            <a:ext cx="2651760" cy="932688"/>
          </a:xfrm>
          <a:prstGeom prst="roundRect">
            <a:avLst>
              <a:gd name="adj" fmla="val 11765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1207008"/>
            <a:ext cx="73152" cy="932688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" y="13716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Cryptography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0664" y="1737360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AES-256-CBC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Message confidentiality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3383280" y="1207008"/>
            <a:ext cx="2651760" cy="932688"/>
          </a:xfrm>
          <a:prstGeom prst="roundRect">
            <a:avLst>
              <a:gd name="adj" fmla="val 11765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83280" y="1207008"/>
            <a:ext cx="73152" cy="932688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21024" y="1371600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Steganography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21024" y="1737360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JUNIWARD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Adaptive image hiding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02920" y="2560320"/>
            <a:ext cx="2651760" cy="932688"/>
          </a:xfrm>
          <a:prstGeom prst="roundRect">
            <a:avLst>
              <a:gd name="adj" fmla="val 11765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2920" y="2560320"/>
            <a:ext cx="73152" cy="932688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" y="272491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ML Detection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0664" y="3090672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CNN + ONNX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CLEAN / STEGO classification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3383280" y="2560320"/>
            <a:ext cx="2651760" cy="932688"/>
          </a:xfrm>
          <a:prstGeom prst="roundRect">
            <a:avLst>
              <a:gd name="adj" fmla="val 11765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83280" y="2560320"/>
            <a:ext cx="73152" cy="932688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21024" y="2724912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621024" y="3090672"/>
            <a:ext cx="21762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FastAPI + Uvicorn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Routing and orchestration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502920" y="3913632"/>
            <a:ext cx="5715000" cy="932688"/>
          </a:xfrm>
          <a:prstGeom prst="roundRect">
            <a:avLst>
              <a:gd name="adj" fmla="val 11765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" y="3913632"/>
            <a:ext cx="73152" cy="93268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0664" y="4078224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40664" y="4443984"/>
            <a:ext cx="523951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React 18 + Axios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User workflows and API calls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6537960" y="4663440"/>
            <a:ext cx="123444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E7FF">
                <a:alpha val="8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47688" y="4791456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7FF"/>
                </a:solidFill>
              </a:rPr>
              <a:t>3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6647688" y="507492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Core domains</a:t>
            </a:r>
            <a:endParaRPr lang="en-US" sz="760" dirty="0"/>
          </a:p>
        </p:txBody>
      </p:sp>
      <p:sp>
        <p:nvSpPr>
          <p:cNvPr id="36" name="Shape 33"/>
          <p:cNvSpPr/>
          <p:nvPr/>
        </p:nvSpPr>
        <p:spPr>
          <a:xfrm>
            <a:off x="7973568" y="4663440"/>
            <a:ext cx="123444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3A7BFF">
                <a:alpha val="8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083296" y="4791456"/>
            <a:ext cx="1014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7BFF"/>
                </a:solidFill>
              </a:rPr>
              <a:t>4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8083296" y="5074920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API endpoints</a:t>
            </a:r>
            <a:endParaRPr lang="en-US" sz="760" dirty="0"/>
          </a:p>
        </p:txBody>
      </p:sp>
      <p:sp>
        <p:nvSpPr>
          <p:cNvPr id="39" name="Shape 36"/>
          <p:cNvSpPr/>
          <p:nvPr/>
        </p:nvSpPr>
        <p:spPr>
          <a:xfrm>
            <a:off x="9409176" y="4663440"/>
            <a:ext cx="141732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FFB8">
                <a:alpha val="8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518904" y="479145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FFB8"/>
                </a:solidFill>
              </a:rPr>
              <a:t>&gt;40 dB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9518904" y="5074920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Target PSNR</a:t>
            </a:r>
            <a:endParaRPr lang="en-US" sz="760" dirty="0"/>
          </a:p>
        </p:txBody>
      </p:sp>
      <p:sp>
        <p:nvSpPr>
          <p:cNvPr id="42" name="Shape 39"/>
          <p:cNvSpPr/>
          <p:nvPr/>
        </p:nvSpPr>
        <p:spPr>
          <a:xfrm>
            <a:off x="10954512" y="4663440"/>
            <a:ext cx="9144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8D5CFF">
                <a:alpha val="85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064240" y="4791456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D5CFF"/>
                </a:solidFill>
              </a:rPr>
              <a:t>&lt;50 ms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11064240" y="507492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ONNX target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Modern steganography pipelines face confidentiality, detectability, and robustness challenges.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1353312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353312"/>
            <a:ext cx="73152" cy="361188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1554480"/>
            <a:ext cx="310896" cy="310896"/>
          </a:xfrm>
          <a:prstGeom prst="ellipse">
            <a:avLst/>
          </a:prstGeom>
          <a:solidFill>
            <a:srgbClr val="FF5C7A">
              <a:alpha val="90000"/>
            </a:srgbClr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6276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01F"/>
                </a:solidFill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43584" y="15179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Security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" y="1883664"/>
            <a:ext cx="2953512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Hidden data is often embedded directly without a strong encryption layer. If extracted, the payload may be readable.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379976" y="1353312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353312"/>
            <a:ext cx="73152" cy="361188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62856" y="1554480"/>
            <a:ext cx="310896" cy="310896"/>
          </a:xfrm>
          <a:prstGeom prst="ellipse">
            <a:avLst/>
          </a:prstGeom>
          <a:solidFill>
            <a:srgbClr val="FFB84D">
              <a:alpha val="90000"/>
            </a:srgbClr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62856" y="16276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01F"/>
                </a:solidFill>
              </a:rPr>
              <a:t>02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01768" y="15179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Detection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17720" y="1883664"/>
            <a:ext cx="2953512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Forensic analysis needs reliable tools that classify whether an image is CLEAN or STEGO under modern embedding pipelines.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138160" y="1353312"/>
            <a:ext cx="3429000" cy="3611880"/>
          </a:xfrm>
          <a:prstGeom prst="roundRect">
            <a:avLst>
              <a:gd name="adj" fmla="val 32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1353312"/>
            <a:ext cx="73152" cy="3611880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1554480"/>
            <a:ext cx="310896" cy="310896"/>
          </a:xfrm>
          <a:prstGeom prst="ellipse">
            <a:avLst/>
          </a:prstGeom>
          <a:solidFill>
            <a:srgbClr val="8D5CFF">
              <a:alpha val="90000"/>
            </a:srgbClr>
          </a:solidFill>
          <a:ln w="12700">
            <a:solidFill>
              <a:srgbClr val="8D5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62763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101F"/>
                </a:solidFill>
              </a:rPr>
              <a:t>03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59952" y="15179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Robustness Gap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75904" y="1883664"/>
            <a:ext cx="2953512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Basic methods are fragile under compression, resizing, noise, and brightness/contrast adjustments.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1097280" y="53949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BFF"/>
                </a:solidFill>
              </a:rPr>
              <a:t>StegoShield addresses these gaps by combining AES encryption, JUNIWARD adaptive embedding, and ML-based steganalysis in one cohesive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Project Objectives &amp; Scope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Clearly scoped deliverables across crypto, steganography, detection, API, and frontend.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234440"/>
            <a:ext cx="10835640" cy="4480560"/>
          </a:xfrm>
          <a:prstGeom prst="roundRect">
            <a:avLst>
              <a:gd name="adj" fmla="val 2449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234440"/>
            <a:ext cx="10835640" cy="502920"/>
          </a:xfrm>
          <a:prstGeom prst="rect">
            <a:avLst/>
          </a:prstGeom>
          <a:solidFill>
            <a:srgbClr val="3A7BFF">
              <a:alpha val="84000"/>
            </a:srgbClr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3898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7FF"/>
                </a:solidFill>
              </a:rPr>
              <a:t>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38988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7FF"/>
                </a:solidFill>
              </a:rPr>
              <a:t>Objective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38360" y="138988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E7FF"/>
                </a:solidFill>
              </a:rPr>
              <a:t>Priority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BFF"/>
                </a:solidFill>
              </a:rPr>
              <a:t>O1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187452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AES-256 encryption / decryption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46920" y="1801368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5C7A">
              <a:alpha val="15000"/>
            </a:srgbClr>
          </a:solidFill>
          <a:ln w="12700">
            <a:solidFill>
              <a:srgbClr val="FF5C7A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0072" y="188366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5C7A"/>
                </a:solidFill>
              </a:rPr>
              <a:t>Critical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914400" y="235000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BFF"/>
                </a:solidFill>
              </a:rPr>
              <a:t>O2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235000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JUNIWARD embed / extract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46920" y="2276856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5C7A">
              <a:alpha val="15000"/>
            </a:srgbClr>
          </a:solidFill>
          <a:ln w="12700">
            <a:solidFill>
              <a:srgbClr val="FF5C7A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235915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5C7A"/>
                </a:solidFill>
              </a:rPr>
              <a:t>Critical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914400" y="282549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BFF"/>
                </a:solidFill>
              </a:rPr>
              <a:t>O3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282549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CNN training for detection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46920" y="2752344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B84D">
              <a:alpha val="15000"/>
            </a:srgbClr>
          </a:solidFill>
          <a:ln w="1270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0072" y="283464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B84D"/>
                </a:solidFill>
              </a:rPr>
              <a:t>High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914400" y="3300984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BFF"/>
                </a:solidFill>
              </a:rPr>
              <a:t>O4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330098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Optuna hyperparameter tuning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46920" y="3227832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B84D">
              <a:alpha val="15000"/>
            </a:srgbClr>
          </a:solidFill>
          <a:ln w="1270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20072" y="331012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B84D"/>
                </a:solidFill>
              </a:rPr>
              <a:t>High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14400" y="377647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BFF"/>
                </a:solidFill>
              </a:rPr>
              <a:t>O5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377647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ONNX export &amp; inference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46920" y="3703320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3A7BFF">
              <a:alpha val="15000"/>
            </a:srgbClr>
          </a:solidFill>
          <a:ln w="12700">
            <a:solidFill>
              <a:srgbClr val="3A7BFF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20072" y="378561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A7BFF"/>
                </a:solidFill>
              </a:rPr>
              <a:t>Medium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914400" y="425196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BFF"/>
                </a:solidFill>
              </a:rPr>
              <a:t>O6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425196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React frontend interface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646920" y="4178808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B84D">
              <a:alpha val="15000"/>
            </a:srgbClr>
          </a:solidFill>
          <a:ln w="1270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20072" y="4261104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B84D"/>
                </a:solidFill>
              </a:rPr>
              <a:t>High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14400" y="4727448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BFF"/>
                </a:solidFill>
              </a:rPr>
              <a:t>O7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28800" y="472744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RESTful API orchestration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646920" y="4654296"/>
            <a:ext cx="1005840" cy="320040"/>
          </a:xfrm>
          <a:prstGeom prst="roundRect">
            <a:avLst>
              <a:gd name="adj" fmla="val 22857"/>
            </a:avLst>
          </a:prstGeom>
          <a:solidFill>
            <a:srgbClr val="FFB84D">
              <a:alpha val="15000"/>
            </a:srgbClr>
          </a:solidFill>
          <a:ln w="1270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20072" y="473659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B84D"/>
                </a:solidFill>
              </a:rPr>
              <a:t>High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85800" y="5870448"/>
            <a:ext cx="10835640" cy="530352"/>
          </a:xfrm>
          <a:prstGeom prst="roundRect">
            <a:avLst>
              <a:gd name="adj" fmla="val 2069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5870448"/>
            <a:ext cx="73152" cy="530352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" y="6035040"/>
            <a:ext cx="10360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Scope note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3544" y="6400800"/>
            <a:ext cx="10360152" cy="-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Each module is independently developable, testable, and deployable; interfaces are defined through REST and service contracts.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Threat Model &amp; Security Goals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Defense mapping against passive monitoring, image manipulation, and forensic analysis.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2344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234440"/>
            <a:ext cx="73152" cy="384048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3990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Adversary Capabilities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23544" y="1764792"/>
            <a:ext cx="2816352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Intercepts stego images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Applies JPEG compression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Resizes images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Adds noise or brightness changes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Performs statistical steganalysis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526280" y="123444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234440"/>
            <a:ext cx="73152" cy="3840480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399032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Security Goals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64024" y="1764792"/>
            <a:ext cx="2816352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G1 Preserve confidentiality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G2 Maintain statistical stealth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G3 Detect stego images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G4 Test robustness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G5 Provide usable UI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366760" y="1234440"/>
            <a:ext cx="3154680" cy="3840480"/>
          </a:xfrm>
          <a:prstGeom prst="roundRect">
            <a:avLst>
              <a:gd name="adj" fmla="val 3478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1234440"/>
            <a:ext cx="73152" cy="3840480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04504" y="139903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System Defense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04504" y="1764792"/>
            <a:ext cx="2679192" cy="3163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AES-256-CBC encryption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JUNIWARD adaptive costs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CNN-based detector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Attack testing endpoint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React workflow UI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3977640" y="3108960"/>
            <a:ext cx="54864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18120" y="3108960"/>
            <a:ext cx="54864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914400" y="546811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BFF"/>
                </a:solidFill>
              </a:rPr>
              <a:t>Key assumption: the attacker does not have AES keys and does not know JUNIWARD parameters a priori.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High-Level System Architecture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React UI, FastAPI orchestration, independent services, and image/model/log storage.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48856" y="1261872"/>
            <a:ext cx="4636008" cy="3456432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3970">
            <a:solidFill>
              <a:srgbClr val="2EE7FF">
                <a:alpha val="70000"/>
              </a:srgbClr>
            </a:solidFill>
            <a:prstDash val="solid"/>
          </a:ln>
        </p:spPr>
      </p:sp>
      <p:pic>
        <p:nvPicPr>
          <p:cNvPr id="11" name="Image 0" descr="/mnt/data/image(55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17818"/>
            <a:ext cx="4526280" cy="31433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03720" y="4526280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83A1"/>
                </a:solidFill>
              </a:rPr>
              <a:t>Attached reference image: service-oriented architecture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58368" y="192024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132A4B"/>
          </a:solidFill>
          <a:ln w="15240">
            <a:solidFill>
              <a:srgbClr val="2EE7FF">
                <a:alpha val="8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204825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React Frontend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8096" y="2359152"/>
            <a:ext cx="1563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Port 3000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Upload • Encode • Decode • Detect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2450592" y="2395728"/>
            <a:ext cx="676656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145536" y="1920240"/>
            <a:ext cx="1783080" cy="960120"/>
          </a:xfrm>
          <a:prstGeom prst="roundRect">
            <a:avLst>
              <a:gd name="adj" fmla="val 11429"/>
            </a:avLst>
          </a:prstGeom>
          <a:solidFill>
            <a:srgbClr val="132A4B"/>
          </a:solidFill>
          <a:ln w="15240">
            <a:solidFill>
              <a:srgbClr val="3A7BFF">
                <a:alpha val="82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55264" y="204825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FastAPI Backend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255264" y="2359152"/>
            <a:ext cx="15636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Port 8000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Orchestration only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4937760" y="2395728"/>
            <a:ext cx="393192" cy="-585216"/>
          </a:xfrm>
          <a:prstGeom prst="line">
            <a:avLst/>
          </a:prstGeom>
          <a:noFill/>
          <a:ln w="1905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937760" y="2395728"/>
            <a:ext cx="393192" cy="292608"/>
          </a:xfrm>
          <a:prstGeom prst="line">
            <a:avLst/>
          </a:prstGeom>
          <a:noFill/>
          <a:ln w="1905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937760" y="2395728"/>
            <a:ext cx="393192" cy="1188720"/>
          </a:xfrm>
          <a:prstGeom prst="line">
            <a:avLst/>
          </a:prstGeom>
          <a:noFill/>
          <a:ln w="1905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330952" y="1444752"/>
            <a:ext cx="1234440" cy="713232"/>
          </a:xfrm>
          <a:prstGeom prst="roundRect">
            <a:avLst>
              <a:gd name="adj" fmla="val 15385"/>
            </a:avLst>
          </a:prstGeom>
          <a:solidFill>
            <a:srgbClr val="132A4B"/>
          </a:solidFill>
          <a:ln w="15240">
            <a:solidFill>
              <a:srgbClr val="2EE7FF">
                <a:alpha val="82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1572768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Crypto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440680" y="1883664"/>
            <a:ext cx="10149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AES-256-CBC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Encrypt / Decrypt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330952" y="2331720"/>
            <a:ext cx="1234440" cy="713232"/>
          </a:xfrm>
          <a:prstGeom prst="roundRect">
            <a:avLst>
              <a:gd name="adj" fmla="val 15385"/>
            </a:avLst>
          </a:prstGeom>
          <a:solidFill>
            <a:srgbClr val="132A4B"/>
          </a:solidFill>
          <a:ln w="15240">
            <a:solidFill>
              <a:srgbClr val="2EFFB8">
                <a:alpha val="8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40680" y="2459736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JUNIWARD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40680" y="2770632"/>
            <a:ext cx="10149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DWT + STC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Embed / Extract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5330952" y="3218688"/>
            <a:ext cx="1234440" cy="713232"/>
          </a:xfrm>
          <a:prstGeom prst="roundRect">
            <a:avLst>
              <a:gd name="adj" fmla="val 15385"/>
            </a:avLst>
          </a:prstGeom>
          <a:solidFill>
            <a:srgbClr val="132A4B"/>
          </a:solidFill>
          <a:ln w="15240">
            <a:solidFill>
              <a:srgbClr val="8D5CFF">
                <a:alpha val="82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0680" y="3346704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ML Detection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40680" y="3657600"/>
            <a:ext cx="1014984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CNN + ONNX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CLEAN / STEGO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3520440" y="4407408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132A4B"/>
          </a:solidFill>
          <a:ln w="15240">
            <a:solidFill>
              <a:srgbClr val="FFB84D">
                <a:alpha val="82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30168" y="4535424"/>
            <a:ext cx="1746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Storage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630168" y="4846320"/>
            <a:ext cx="174650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Images • Models • Logs</a:t>
            </a:r>
            <a:endParaRPr lang="en-US" sz="880" dirty="0"/>
          </a:p>
        </p:txBody>
      </p:sp>
      <p:sp>
        <p:nvSpPr>
          <p:cNvPr id="35" name="Shape 32"/>
          <p:cNvSpPr/>
          <p:nvPr/>
        </p:nvSpPr>
        <p:spPr>
          <a:xfrm>
            <a:off x="5852160" y="3931920"/>
            <a:ext cx="-530352" cy="475488"/>
          </a:xfrm>
          <a:prstGeom prst="line">
            <a:avLst/>
          </a:prstGeom>
          <a:noFill/>
          <a:ln w="15240">
            <a:solidFill>
              <a:srgbClr val="FFB84D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658368" y="5394960"/>
            <a:ext cx="10972800" cy="530352"/>
          </a:xfrm>
          <a:prstGeom prst="roundRect">
            <a:avLst>
              <a:gd name="adj" fmla="val 2069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58368" y="5394960"/>
            <a:ext cx="73152" cy="530352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96112" y="555955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Architecture rule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896112" y="5925312"/>
            <a:ext cx="10497312" cy="-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Backend coordinates services but does not contain core crypto implementation or ML model logic.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Five-Layer Architecture &amp; Module Boundaries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A defense-ready explanation of what each layer is—and what it is not.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1243584"/>
            <a:ext cx="5458968" cy="279806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3970">
            <a:solidFill>
              <a:srgbClr val="2EE7FF">
                <a:alpha val="70000"/>
              </a:srgbClr>
            </a:solidFill>
            <a:prstDash val="solid"/>
          </a:ln>
        </p:spPr>
      </p:sp>
      <p:pic>
        <p:nvPicPr>
          <p:cNvPr id="11" name="Image 0" descr="/mnt/data/image(55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22" y="1298448"/>
            <a:ext cx="5016779" cy="2487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3849624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83A1"/>
                </a:solidFill>
              </a:rPr>
              <a:t>Attached reference image: layered architecture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291072" y="1051560"/>
            <a:ext cx="5239512" cy="4389120"/>
          </a:xfrm>
          <a:prstGeom prst="roundRect">
            <a:avLst>
              <a:gd name="adj" fmla="val 25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3952" y="1316736"/>
            <a:ext cx="73152" cy="438912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12984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7FBFF"/>
                </a:solidFill>
              </a:rPr>
              <a:t>Frontend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8156448" y="129844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E7FF"/>
                </a:solidFill>
              </a:rPr>
              <a:t>React 18 + Axios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464040" y="12984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8C7DA"/>
                </a:solidFill>
              </a:rPr>
              <a:t>UI and REST API communication only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6473952" y="2093976"/>
            <a:ext cx="73152" cy="438912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93408" y="20756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7FBFF"/>
                </a:solidFill>
              </a:rPr>
              <a:t>Backend</a:t>
            </a:r>
            <a:endParaRPr lang="en-US" sz="1060" dirty="0"/>
          </a:p>
        </p:txBody>
      </p:sp>
      <p:sp>
        <p:nvSpPr>
          <p:cNvPr id="20" name="Text 17"/>
          <p:cNvSpPr/>
          <p:nvPr/>
        </p:nvSpPr>
        <p:spPr>
          <a:xfrm>
            <a:off x="8156448" y="20756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A7BFF"/>
                </a:solidFill>
              </a:rPr>
              <a:t>FastAPI + Uvicorn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464040" y="20756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8C7DA"/>
                </a:solidFill>
              </a:rPr>
              <a:t>Routing, validation, orchestration only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6473952" y="2871216"/>
            <a:ext cx="73152" cy="438912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28529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7FBFF"/>
                </a:solidFill>
              </a:rPr>
              <a:t>Cryptography</a:t>
            </a:r>
            <a:endParaRPr lang="en-US" sz="1060" dirty="0"/>
          </a:p>
        </p:txBody>
      </p:sp>
      <p:sp>
        <p:nvSpPr>
          <p:cNvPr id="24" name="Text 21"/>
          <p:cNvSpPr/>
          <p:nvPr/>
        </p:nvSpPr>
        <p:spPr>
          <a:xfrm>
            <a:off x="8156448" y="28529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EFFB8"/>
                </a:solidFill>
              </a:rPr>
              <a:t>AES-256-CBC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464040" y="28529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8C7DA"/>
                </a:solidFill>
              </a:rPr>
              <a:t>Message encryption and decryption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6473952" y="3648456"/>
            <a:ext cx="73152" cy="43891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93408" y="3630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7FBFF"/>
                </a:solidFill>
              </a:rPr>
              <a:t>Steganography</a:t>
            </a:r>
            <a:endParaRPr lang="en-US" sz="1060" dirty="0"/>
          </a:p>
        </p:txBody>
      </p:sp>
      <p:sp>
        <p:nvSpPr>
          <p:cNvPr id="28" name="Text 25"/>
          <p:cNvSpPr/>
          <p:nvPr/>
        </p:nvSpPr>
        <p:spPr>
          <a:xfrm>
            <a:off x="8156448" y="363016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JUNIWARD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464040" y="36301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8C7DA"/>
                </a:solidFill>
              </a:rPr>
              <a:t>Adaptive image embed/extract using DWT + STC</a:t>
            </a:r>
            <a:endParaRPr lang="en-US" sz="870" dirty="0"/>
          </a:p>
        </p:txBody>
      </p:sp>
      <p:sp>
        <p:nvSpPr>
          <p:cNvPr id="30" name="Shape 27"/>
          <p:cNvSpPr/>
          <p:nvPr/>
        </p:nvSpPr>
        <p:spPr>
          <a:xfrm>
            <a:off x="6473952" y="4425696"/>
            <a:ext cx="73152" cy="438912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93408" y="4407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F7FBFF"/>
                </a:solidFill>
              </a:rPr>
              <a:t>ML Detection</a:t>
            </a:r>
            <a:endParaRPr lang="en-US" sz="1060" dirty="0"/>
          </a:p>
        </p:txBody>
      </p:sp>
      <p:sp>
        <p:nvSpPr>
          <p:cNvPr id="32" name="Text 29"/>
          <p:cNvSpPr/>
          <p:nvPr/>
        </p:nvSpPr>
        <p:spPr>
          <a:xfrm>
            <a:off x="8156448" y="44074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D5CFF"/>
                </a:solidFill>
              </a:rPr>
              <a:t>PyTorch → ONNX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9464040" y="440740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B8C7DA"/>
                </a:solidFill>
              </a:rPr>
              <a:t>Binary classification: CLEAN or STEGO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621792" y="4251960"/>
            <a:ext cx="5349240" cy="1188720"/>
          </a:xfrm>
          <a:prstGeom prst="roundRect">
            <a:avLst>
              <a:gd name="adj" fmla="val 9231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1792" y="4251960"/>
            <a:ext cx="73152" cy="118872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9536" y="4416552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Critical clarification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59536" y="4782312"/>
            <a:ext cx="487375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JUNIWARD is not pure Machine Learning. It is heuristic optimization-based steganography using signal processing and cost-based embedding.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Encoding Workflow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From user input to encrypted stego image with measurable quality metadata.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2EE7FF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6829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Upload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Cover image + message + key + payload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197864" y="1664208"/>
            <a:ext cx="457200" cy="457200"/>
          </a:xfrm>
          <a:prstGeom prst="ellipse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7864" y="17922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01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9424" y="2697480"/>
            <a:ext cx="566928" cy="0"/>
          </a:xfrm>
          <a:prstGeom prst="line">
            <a:avLst/>
          </a:prstGeom>
          <a:noFill/>
          <a:ln w="2032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3A7BFF">
                <a:alpha val="8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236829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Validate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35808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Format, payload range, capacity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3483864" y="1664208"/>
            <a:ext cx="457200" cy="457200"/>
          </a:xfrm>
          <a:prstGeom prst="ellipse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3864" y="17922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01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35424" y="2697480"/>
            <a:ext cx="566928" cy="0"/>
          </a:xfrm>
          <a:prstGeom prst="line">
            <a:avLst/>
          </a:prstGeom>
          <a:noFill/>
          <a:ln w="2032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1208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2EFFB8">
                <a:alpha val="8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808" y="236829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Encrypt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21808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AES-256-CBC + random IV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769864" y="1664208"/>
            <a:ext cx="457200" cy="457200"/>
          </a:xfrm>
          <a:prstGeom prst="ellipse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7922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01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21424" y="2697480"/>
            <a:ext cx="566928" cy="0"/>
          </a:xfrm>
          <a:prstGeom prst="line">
            <a:avLst/>
          </a:prstGeom>
          <a:noFill/>
          <a:ln w="2032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9808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FFB84D">
                <a:alpha val="8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07808" y="236829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Embed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07808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JUNIWARD DWT + STC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055864" y="1664208"/>
            <a:ext cx="457200" cy="457200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55864" y="17922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01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07424" y="2697480"/>
            <a:ext cx="566928" cy="0"/>
          </a:xfrm>
          <a:prstGeom prst="line">
            <a:avLst/>
          </a:prstGeom>
          <a:noFill/>
          <a:ln w="2032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78408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8D5CFF">
                <a:alpha val="8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93808" y="2368296"/>
            <a:ext cx="1380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Return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893808" y="2679192"/>
            <a:ext cx="13807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Stego image + PSNR + timing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10341864" y="1664208"/>
            <a:ext cx="457200" cy="457200"/>
          </a:xfrm>
          <a:prstGeom prst="ellipse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41864" y="17922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01F"/>
                </a:solidFill>
              </a:rPr>
              <a:t>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60120" y="425196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4251960"/>
            <a:ext cx="73152" cy="1097280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97864" y="441655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Input contract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97864" y="4782312"/>
            <a:ext cx="43708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image, message, optional 32-byte base64 key, payload float default 0.2 bpp.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6355080" y="425196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4251960"/>
            <a:ext cx="73152" cy="1097280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92824" y="4416552"/>
            <a:ext cx="4370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Output contract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92824" y="4782312"/>
            <a:ext cx="437083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base64 stego image with encryption metadata, payload_bpp, PSNR, file sizes, and encoding_time_ms.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Decoding Workflow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Extract the hidden encrypted payload, then decrypt it using the provided key.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212848"/>
            <a:ext cx="1920240" cy="932688"/>
          </a:xfrm>
          <a:prstGeom prst="roundRect">
            <a:avLst>
              <a:gd name="adj" fmla="val 11765"/>
            </a:avLst>
          </a:prstGeom>
          <a:solidFill>
            <a:srgbClr val="132A4B"/>
          </a:solidFill>
          <a:ln w="15240">
            <a:solidFill>
              <a:srgbClr val="2EE7FF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34086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Stego Image + Key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2651760"/>
            <a:ext cx="1700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User upload through React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743200" y="2679192"/>
            <a:ext cx="82296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66160" y="2212848"/>
            <a:ext cx="2057400" cy="932688"/>
          </a:xfrm>
          <a:prstGeom prst="roundRect">
            <a:avLst>
              <a:gd name="adj" fmla="val 11765"/>
            </a:avLst>
          </a:prstGeom>
          <a:solidFill>
            <a:srgbClr val="132A4B"/>
          </a:solidFill>
          <a:ln w="15240">
            <a:solidFill>
              <a:srgbClr val="2EFFB8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34086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JUNIWARD Extraction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75888" y="2651760"/>
            <a:ext cx="18379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Recover encrypted bytes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623560" y="2679192"/>
            <a:ext cx="82296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46520" y="2212848"/>
            <a:ext cx="1920240" cy="932688"/>
          </a:xfrm>
          <a:prstGeom prst="roundRect">
            <a:avLst>
              <a:gd name="adj" fmla="val 11765"/>
            </a:avLst>
          </a:prstGeom>
          <a:solidFill>
            <a:srgbClr val="132A4B"/>
          </a:solidFill>
          <a:ln w="15240">
            <a:solidFill>
              <a:srgbClr val="3A7BFF">
                <a:alpha val="8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234086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AES Decryption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56248" y="2651760"/>
            <a:ext cx="1700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AES-256-CBC + PKCS7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366760" y="2679192"/>
            <a:ext cx="82296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89720" y="2212848"/>
            <a:ext cx="1920240" cy="932688"/>
          </a:xfrm>
          <a:prstGeom prst="roundRect">
            <a:avLst>
              <a:gd name="adj" fmla="val 11765"/>
            </a:avLst>
          </a:prstGeom>
          <a:solidFill>
            <a:srgbClr val="132A4B"/>
          </a:solidFill>
          <a:ln w="15240">
            <a:solidFill>
              <a:srgbClr val="8D5CFF">
                <a:alpha val="8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448" y="234086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Original Message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99448" y="2651760"/>
            <a:ext cx="17007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Recovered plaintext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14400" y="406908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069080"/>
            <a:ext cx="73152" cy="118872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2144" y="423367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Failure Case 01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2144" y="4599432"/>
            <a:ext cx="26791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DECRYPTION_FAILED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Incorrect key or corrupted data.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526280" y="406908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4069080"/>
            <a:ext cx="73152" cy="118872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423367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Failure Case 02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64024" y="4599432"/>
            <a:ext cx="26791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NO_DATA_FOUND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No hidden payload was detected.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8138160" y="4069080"/>
            <a:ext cx="3154680" cy="1188720"/>
          </a:xfrm>
          <a:prstGeom prst="roundRect">
            <a:avLst>
              <a:gd name="adj" fmla="val 9231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4069080"/>
            <a:ext cx="73152" cy="1188720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75904" y="423367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Failure Case 03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75904" y="4599432"/>
            <a:ext cx="267919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CORRUPTED_STEGO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Image modified after embedding.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Detection Workflow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Fast binary steganalysis: is the uploaded image CLEAN or STEGO?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0574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2EE7FF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185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Image Upload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496312"/>
            <a:ext cx="17922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Any supported image format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935224" y="2514600"/>
            <a:ext cx="612648" cy="0"/>
          </a:xfrm>
          <a:prstGeom prst="line">
            <a:avLst/>
          </a:prstGeom>
          <a:noFill/>
          <a:ln w="2286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20574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3A7BFF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2185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Preprocess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67328" y="2496312"/>
            <a:ext cx="17922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RGB, resize 256×256, normalize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678424" y="2514600"/>
            <a:ext cx="612648" cy="0"/>
          </a:xfrm>
          <a:prstGeom prst="line">
            <a:avLst/>
          </a:prstGeom>
          <a:noFill/>
          <a:ln w="2286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20574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8D5CFF">
                <a:alpha val="8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185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ONNX Inference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2496312"/>
            <a:ext cx="17922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Production model runtime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421624" y="2514600"/>
            <a:ext cx="612648" cy="0"/>
          </a:xfrm>
          <a:prstGeom prst="line">
            <a:avLst/>
          </a:prstGeom>
          <a:noFill/>
          <a:ln w="2286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0" y="20574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32A4B"/>
          </a:solidFill>
          <a:ln w="15240">
            <a:solidFill>
              <a:srgbClr val="2EFFB8">
                <a:alpha val="8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3728" y="2185416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Prediction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53728" y="2496312"/>
            <a:ext cx="17922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CLEAN / STEGO + confidence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1051560" y="4069080"/>
            <a:ext cx="18288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E7FF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1288" y="419709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7FF"/>
                </a:solidFill>
              </a:rPr>
              <a:t>256×256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61288" y="4480560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Input Size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3566160" y="4069080"/>
            <a:ext cx="18288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3A7BFF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419709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7BFF"/>
                </a:solidFill>
              </a:rPr>
              <a:t>2 classes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675888" y="4480560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Output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6080760" y="4069080"/>
            <a:ext cx="18288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FFB8">
                <a:alpha val="8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419709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FFB8"/>
                </a:solidFill>
              </a:rPr>
              <a:t>90%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190488" y="4480560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Target Accuracy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8595360" y="4069080"/>
            <a:ext cx="18288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8D5CFF">
                <a:alpha val="8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05088" y="419709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D5CFF"/>
                </a:solidFill>
              </a:rPr>
              <a:t>&lt;50 ms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705088" y="4480560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CPU Inference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2057400" y="5257800"/>
            <a:ext cx="8092440" cy="594360"/>
          </a:xfrm>
          <a:prstGeom prst="roundRect">
            <a:avLst>
              <a:gd name="adj" fmla="val 1846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57400" y="5257800"/>
            <a:ext cx="73152" cy="59436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95144" y="5422392"/>
            <a:ext cx="7616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Boundary condition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295144" y="5788152"/>
            <a:ext cx="7616952" cy="-82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The ML model detects stego likelihood only; it does not encrypt, embed, extract, or decode hidden messages.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JUNIWARD Steganography Algorithm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A deterministic heuristic optimization method using wavelet-domain embedding.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1737360" cy="1115568"/>
          </a:xfrm>
          <a:prstGeom prst="roundRect">
            <a:avLst>
              <a:gd name="adj" fmla="val 9836"/>
            </a:avLst>
          </a:prstGeom>
          <a:solidFill>
            <a:srgbClr val="132A4B"/>
          </a:solidFill>
          <a:ln w="15240">
            <a:solidFill>
              <a:srgbClr val="2EE7FF">
                <a:alpha val="8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0482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RGB → YUV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2648" y="2359152"/>
            <a:ext cx="15179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Embed only in luminance channel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240280" y="2468880"/>
            <a:ext cx="548640" cy="0"/>
          </a:xfrm>
          <a:prstGeom prst="line">
            <a:avLst/>
          </a:prstGeom>
          <a:noFill/>
          <a:ln w="1778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1920240"/>
            <a:ext cx="1737360" cy="1115568"/>
          </a:xfrm>
          <a:prstGeom prst="roundRect">
            <a:avLst>
              <a:gd name="adj" fmla="val 9836"/>
            </a:avLst>
          </a:prstGeom>
          <a:solidFill>
            <a:srgbClr val="132A4B"/>
          </a:solidFill>
          <a:ln w="15240">
            <a:solidFill>
              <a:srgbClr val="3A7BFF">
                <a:alpha val="8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20482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4-Level DWT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44368" y="2359152"/>
            <a:ext cx="15179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Daubechies-8 wavelet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572000" y="2468880"/>
            <a:ext cx="548640" cy="0"/>
          </a:xfrm>
          <a:prstGeom prst="line">
            <a:avLst/>
          </a:prstGeom>
          <a:noFill/>
          <a:ln w="1778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66360" y="1920240"/>
            <a:ext cx="1737360" cy="1115568"/>
          </a:xfrm>
          <a:prstGeom prst="roundRect">
            <a:avLst>
              <a:gd name="adj" fmla="val 9836"/>
            </a:avLst>
          </a:prstGeom>
          <a:solidFill>
            <a:srgbClr val="132A4B"/>
          </a:solidFill>
          <a:ln w="15240">
            <a:solidFill>
              <a:srgbClr val="FFB84D">
                <a:alpha val="8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0482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Cost ρ[i]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76088" y="2359152"/>
            <a:ext cx="15179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High cost in smooth regions; low cost in textured regions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903720" y="2468880"/>
            <a:ext cx="548640" cy="0"/>
          </a:xfrm>
          <a:prstGeom prst="line">
            <a:avLst/>
          </a:prstGeom>
          <a:noFill/>
          <a:ln w="1778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98080" y="1920240"/>
            <a:ext cx="1737360" cy="1115568"/>
          </a:xfrm>
          <a:prstGeom prst="roundRect">
            <a:avLst>
              <a:gd name="adj" fmla="val 9836"/>
            </a:avLst>
          </a:prstGeom>
          <a:solidFill>
            <a:srgbClr val="132A4B"/>
          </a:solidFill>
          <a:ln w="15240">
            <a:solidFill>
              <a:srgbClr val="8D5CFF">
                <a:alpha val="8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20482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STC Encoding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607808" y="2359152"/>
            <a:ext cx="15179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Near-optimal constrained embedding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235440" y="2468880"/>
            <a:ext cx="548640" cy="0"/>
          </a:xfrm>
          <a:prstGeom prst="line">
            <a:avLst/>
          </a:prstGeom>
          <a:noFill/>
          <a:ln w="1778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29800" y="1920240"/>
            <a:ext cx="1737360" cy="1115568"/>
          </a:xfrm>
          <a:prstGeom prst="roundRect">
            <a:avLst>
              <a:gd name="adj" fmla="val 9836"/>
            </a:avLst>
          </a:prstGeom>
          <a:solidFill>
            <a:srgbClr val="132A4B"/>
          </a:solidFill>
          <a:ln w="15240">
            <a:solidFill>
              <a:srgbClr val="2EFFB8">
                <a:alpha val="8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20482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Inverse DWT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939528" y="2359152"/>
            <a:ext cx="15179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Reconstruct stego image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3977640"/>
            <a:ext cx="73152" cy="114300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984" y="414223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Cost Function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4984" y="4507992"/>
            <a:ext cx="459943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rho[i] = 1 / ( |c[i]|^1.0 + 1e-10 )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LL subband is left untouched; detail subbands LH, HL, HH are used.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355080" y="397764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3977640"/>
            <a:ext cx="73152" cy="114300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4142232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92824" y="4507992"/>
            <a:ext cx="4599432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JUNIWARD is not pure ML: no neural networks, no training data, deterministic for fixed inputs.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ML Pipeline for Steganalysis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Dataset generation, training optimization, ONNX export, and production inference.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" y="1152144"/>
            <a:ext cx="573328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3970">
            <a:solidFill>
              <a:srgbClr val="2EE7FF">
                <a:alpha val="70000"/>
              </a:srgbClr>
            </a:solidFill>
            <a:prstDash val="solid"/>
          </a:ln>
        </p:spPr>
      </p:sp>
      <p:pic>
        <p:nvPicPr>
          <p:cNvPr id="11" name="Image 0" descr="/mnt/data/image(55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07047"/>
            <a:ext cx="5623560" cy="252366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6928" y="3794760"/>
            <a:ext cx="5623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83A1"/>
                </a:solidFill>
              </a:rPr>
              <a:t>Attached reference image: ML training and inference pipeline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537960" y="1143000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1143000"/>
            <a:ext cx="73152" cy="914400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75704" y="13075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Dataset Preparation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75704" y="1673352"/>
            <a:ext cx="4416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ALASKA2 clean images + synthetically generated JUNIWARD stego samples across payloads 0.1–0.4 bpp.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6537960" y="2331720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37960" y="2331720"/>
            <a:ext cx="73152" cy="91440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75704" y="249631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Training &amp; Optimization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75704" y="2862072"/>
            <a:ext cx="4416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CNN in PyTorch with Optuna search: learning rate, batch size, layers, dropout, optimizer.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37960" y="3520440"/>
            <a:ext cx="4892040" cy="914400"/>
          </a:xfrm>
          <a:prstGeom prst="roundRect">
            <a:avLst>
              <a:gd name="adj" fmla="val 12000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3520440"/>
            <a:ext cx="73152" cy="914400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75704" y="368503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Production Inference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75704" y="4050792"/>
            <a:ext cx="44165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Export best model to ONNX and serve through ONNX Runtime for low-latency classification.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777240" y="4389120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FFB8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6968" y="4517136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FFB8"/>
                </a:solidFill>
              </a:rPr>
              <a:t>90%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86968" y="480060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Target Accuracy</a:t>
            </a:r>
            <a:endParaRPr lang="en-US" sz="760" dirty="0"/>
          </a:p>
        </p:txBody>
      </p:sp>
      <p:sp>
        <p:nvSpPr>
          <p:cNvPr id="28" name="Shape 25"/>
          <p:cNvSpPr/>
          <p:nvPr/>
        </p:nvSpPr>
        <p:spPr>
          <a:xfrm>
            <a:off x="2788920" y="4389120"/>
            <a:ext cx="150876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E7FF">
                <a:alpha val="8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898648" y="4517136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7FF"/>
                </a:solidFill>
              </a:rPr>
              <a:t>0.95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2898648" y="480060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AUC-ROC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4434840" y="4389120"/>
            <a:ext cx="150876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FFB84D">
                <a:alpha val="8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44568" y="4517136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0.92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4544568" y="4800600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F1-score</a:t>
            </a:r>
            <a:endParaRPr lang="en-US" sz="760" dirty="0"/>
          </a:p>
        </p:txBody>
      </p:sp>
      <p:sp>
        <p:nvSpPr>
          <p:cNvPr id="34" name="Shape 31"/>
          <p:cNvSpPr/>
          <p:nvPr/>
        </p:nvSpPr>
        <p:spPr>
          <a:xfrm>
            <a:off x="6675120" y="4773168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8D5CFF">
                <a:alpha val="85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84848" y="490118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D5CFF"/>
                </a:solidFill>
              </a:rPr>
              <a:t>35–50 ms</a:t>
            </a:r>
            <a:endParaRPr lang="en-US" sz="1700" dirty="0"/>
          </a:p>
        </p:txBody>
      </p:sp>
      <p:sp>
        <p:nvSpPr>
          <p:cNvPr id="36" name="Text 33"/>
          <p:cNvSpPr/>
          <p:nvPr/>
        </p:nvSpPr>
        <p:spPr>
          <a:xfrm>
            <a:off x="6784848" y="518464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ONNX CPU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8778240" y="4773168"/>
            <a:ext cx="187452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3A7BFF">
                <a:alpha val="85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887968" y="490118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7BFF"/>
                </a:solidFill>
              </a:rPr>
              <a:t>70/15/15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8887968" y="518464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Split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API Design &amp; Specifications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Four REST endpoints serve the complete secure-stego and detection workflows.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137160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371600"/>
            <a:ext cx="73152" cy="1234440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5361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POST /encode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1901952"/>
            <a:ext cx="441655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Input: image, message, key, payload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Output: stego_image, metadata, PSNR, timing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45352" y="137160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45352" y="1371600"/>
            <a:ext cx="73152" cy="1234440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83096" y="15361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POST /decode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83096" y="1901952"/>
            <a:ext cx="441655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Input: stego image, key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Output: recovered original message, decoding time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13232" y="320040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200400"/>
            <a:ext cx="73152" cy="1234440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3649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POST /detect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3730752"/>
            <a:ext cx="441655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Input: image, confidence_threshold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Output: CLEAN/STEG, confidence, probabilities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45352" y="320040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3200400"/>
            <a:ext cx="73152" cy="123444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336499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POST /attack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83096" y="3730752"/>
            <a:ext cx="4416552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Input: image, attack_type, attack_params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Output: BER, character accuracy, PSNR, SSIM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0120" y="5349240"/>
            <a:ext cx="10287000" cy="502920"/>
          </a:xfrm>
          <a:prstGeom prst="roundRect">
            <a:avLst>
              <a:gd name="adj" fmla="val 21818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5349240"/>
            <a:ext cx="73152" cy="50292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7864" y="5513832"/>
            <a:ext cx="9811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Base URL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97864" y="5879592"/>
            <a:ext cx="9811512" cy="-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http://localhost:8000/api/v1  •  JSON responses  •  multipart/form-data for uploads  •  CORS enabled for React localhost:3000</a:t>
            </a:r>
            <a:endParaRPr lang="en-US" sz="10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Frontend Design: React 18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A clear component structure maps directly to user-facing workflows.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1207008"/>
            <a:ext cx="3840480" cy="4434840"/>
          </a:xfrm>
          <a:prstGeom prst="roundRect">
            <a:avLst>
              <a:gd name="adj" fmla="val 2857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7FF"/>
                </a:solidFill>
              </a:rPr>
              <a:t>src/components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1874520"/>
            <a:ext cx="324612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10" dirty="0">
                <a:solidFill>
                  <a:srgbClr val="B8C7DA"/>
                </a:solidFill>
              </a:rPr>
              <a:t>Navigation / Navbar</a:t>
            </a:r>
            <a:endParaRPr lang="en-US" sz="1110" dirty="0"/>
          </a:p>
          <a:p>
            <a:r>
              <a:rPr lang="en-US" sz="1110" dirty="0">
                <a:solidFill>
                  <a:srgbClr val="B8C7DA"/>
                </a:solidFill>
              </a:rPr>
              <a:t>Encode: Form, Uploader, Result</a:t>
            </a:r>
            <a:endParaRPr lang="en-US" sz="1110" dirty="0"/>
          </a:p>
          <a:p>
            <a:r>
              <a:rPr lang="en-US" sz="1110" dirty="0">
                <a:solidFill>
                  <a:srgbClr val="B8C7DA"/>
                </a:solidFill>
              </a:rPr>
              <a:t>Decode: Form, Message Display</a:t>
            </a:r>
            <a:endParaRPr lang="en-US" sz="1110" dirty="0"/>
          </a:p>
          <a:p>
            <a:r>
              <a:rPr lang="en-US" sz="1110" dirty="0">
                <a:solidFill>
                  <a:srgbClr val="B8C7DA"/>
                </a:solidFill>
              </a:rPr>
              <a:t>Detect: Form, Prediction Card</a:t>
            </a:r>
            <a:endParaRPr lang="en-US" sz="1110" dirty="0"/>
          </a:p>
          <a:p>
            <a:r>
              <a:rPr lang="en-US" sz="1110" dirty="0">
                <a:solidFill>
                  <a:srgbClr val="B8C7DA"/>
                </a:solidFill>
              </a:rPr>
              <a:t>Attack: Form, Metrics Display</a:t>
            </a:r>
            <a:endParaRPr lang="en-US" sz="1110" dirty="0"/>
          </a:p>
          <a:p>
            <a:r>
              <a:rPr lang="en-US" sz="1110" dirty="0">
                <a:solidFill>
                  <a:srgbClr val="B8C7DA"/>
                </a:solidFill>
              </a:rPr>
              <a:t>Common: Spinner, Alert, Confidence Bar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5120640" y="2084832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132A4B"/>
          </a:solidFill>
          <a:ln w="15240">
            <a:solidFill>
              <a:srgbClr val="3A7BFF">
                <a:alpha val="8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212848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Axios API Service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0368" y="2523744"/>
            <a:ext cx="18379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baseURL: /api/v1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encodeAPI • decodeAPI • detectAPI • attackAPI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35424" y="2697480"/>
            <a:ext cx="566928" cy="0"/>
          </a:xfrm>
          <a:prstGeom prst="line">
            <a:avLst/>
          </a:prstGeom>
          <a:noFill/>
          <a:ln w="2286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2084832"/>
            <a:ext cx="2057400" cy="1234440"/>
          </a:xfrm>
          <a:prstGeom prst="roundRect">
            <a:avLst>
              <a:gd name="adj" fmla="val 8889"/>
            </a:avLst>
          </a:prstGeom>
          <a:solidFill>
            <a:srgbClr val="132A4B"/>
          </a:solidFill>
          <a:ln w="15240">
            <a:solidFill>
              <a:srgbClr val="2EFFB8">
                <a:alpha val="8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2212848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FBFF"/>
                </a:solidFill>
              </a:rPr>
              <a:t>FastAPI Backend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27848" y="2523744"/>
            <a:ext cx="183794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B8C7DA"/>
                </a:solidFill>
              </a:rPr>
              <a:t>Orchestration and response handling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178040" y="2697480"/>
            <a:ext cx="612648" cy="0"/>
          </a:xfrm>
          <a:prstGeom prst="line">
            <a:avLst/>
          </a:prstGeom>
          <a:noFill/>
          <a:ln w="22860">
            <a:solidFill>
              <a:srgbClr val="2EE7F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12080" y="4187952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4187952"/>
            <a:ext cx="73152" cy="960120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4352544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User experience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9824" y="4718304"/>
            <a:ext cx="4096512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The UI exposes encode, decode, detect, and attack testing without exposing internal service complexity.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Testing, Performance &amp; Deployment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Quality gates across unit, integration, E2E, performance, and containerized deployment.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71616" y="1170432"/>
            <a:ext cx="5458968" cy="3035808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3970">
            <a:solidFill>
              <a:srgbClr val="2EE7FF">
                <a:alpha val="70000"/>
              </a:srgbClr>
            </a:solidFill>
            <a:prstDash val="solid"/>
          </a:ln>
        </p:spPr>
      </p:sp>
      <p:pic>
        <p:nvPicPr>
          <p:cNvPr id="11" name="Image 0" descr="/mnt/data/image(55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227072"/>
            <a:ext cx="5349240" cy="27213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126480" y="4014216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E83A1"/>
                </a:solidFill>
              </a:rPr>
              <a:t>Attached reference image: deployment/container architecture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640080" y="118872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188720"/>
            <a:ext cx="73152" cy="868680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135331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Unit Tests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77824" y="1719072"/>
            <a:ext cx="185623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Pytest / Jest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Target: 90–100%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3337560" y="118872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37560" y="1188720"/>
            <a:ext cx="73152" cy="868680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75304" y="135331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Integration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575304" y="1719072"/>
            <a:ext cx="185623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Pytest / Postman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Target: 90%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40080" y="242316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2423160"/>
            <a:ext cx="73152" cy="868680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25877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E2E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77824" y="2953512"/>
            <a:ext cx="185623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Cypress / Selenium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Target: Key flows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3337560" y="2423160"/>
            <a:ext cx="2331720" cy="868680"/>
          </a:xfrm>
          <a:prstGeom prst="roundRect">
            <a:avLst>
              <a:gd name="adj" fmla="val 1263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37560" y="2423160"/>
            <a:ext cx="73152" cy="868680"/>
          </a:xfrm>
          <a:prstGeom prst="rect">
            <a:avLst/>
          </a:prstGeom>
          <a:solidFill>
            <a:srgbClr val="8D5CFF"/>
          </a:solidFill>
          <a:ln w="12700">
            <a:solidFill>
              <a:srgbClr val="8D5C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75304" y="258775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575304" y="2953512"/>
            <a:ext cx="1856232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Locust / k6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Target: SLA targets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777240" y="4206240"/>
            <a:ext cx="16002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E7FF">
                <a:alpha val="8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6968" y="4334256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7FF"/>
                </a:solidFill>
              </a:rPr>
              <a:t>&lt;5 sec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886968" y="461772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Encoding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2633472" y="4206240"/>
            <a:ext cx="16002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3A7BFF">
                <a:alpha val="8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0" y="4334256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A7BFF"/>
                </a:solidFill>
              </a:rPr>
              <a:t>&lt;3 sec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2743200" y="461772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Decoding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>
            <a:off x="4489704" y="4206240"/>
            <a:ext cx="16002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8D5CFF">
                <a:alpha val="8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99432" y="4334256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D5CFF"/>
                </a:solidFill>
              </a:rPr>
              <a:t>&lt;50 ms</a:t>
            </a:r>
            <a:endParaRPr lang="en-US" sz="1700" dirty="0"/>
          </a:p>
        </p:txBody>
      </p:sp>
      <p:sp>
        <p:nvSpPr>
          <p:cNvPr id="37" name="Text 34"/>
          <p:cNvSpPr/>
          <p:nvPr/>
        </p:nvSpPr>
        <p:spPr>
          <a:xfrm>
            <a:off x="4599432" y="461772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Inference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345936" y="4206240"/>
            <a:ext cx="16002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2EFFB8">
                <a:alpha val="85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55664" y="4334256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FFB8"/>
                </a:solidFill>
              </a:rPr>
              <a:t>&gt;40 dB</a:t>
            </a:r>
            <a:endParaRPr lang="en-US" sz="1700" dirty="0"/>
          </a:p>
        </p:txBody>
      </p:sp>
      <p:sp>
        <p:nvSpPr>
          <p:cNvPr id="40" name="Text 37"/>
          <p:cNvSpPr/>
          <p:nvPr/>
        </p:nvSpPr>
        <p:spPr>
          <a:xfrm>
            <a:off x="6455664" y="461772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PSNR</a:t>
            </a:r>
            <a:endParaRPr lang="en-US" sz="760" dirty="0"/>
          </a:p>
        </p:txBody>
      </p:sp>
      <p:sp>
        <p:nvSpPr>
          <p:cNvPr id="41" name="Shape 38"/>
          <p:cNvSpPr/>
          <p:nvPr/>
        </p:nvSpPr>
        <p:spPr>
          <a:xfrm>
            <a:off x="8202168" y="4206240"/>
            <a:ext cx="16002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FFB84D">
                <a:alpha val="8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11896" y="4334256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84D"/>
                </a:solidFill>
              </a:rPr>
              <a:t>&gt;0.95</a:t>
            </a:r>
            <a:endParaRPr lang="en-US" sz="1700" dirty="0"/>
          </a:p>
        </p:txBody>
      </p:sp>
      <p:sp>
        <p:nvSpPr>
          <p:cNvPr id="43" name="Text 40"/>
          <p:cNvSpPr/>
          <p:nvPr/>
        </p:nvSpPr>
        <p:spPr>
          <a:xfrm>
            <a:off x="8311896" y="461772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SSIM</a:t>
            </a:r>
            <a:endParaRPr lang="en-US" sz="760" dirty="0"/>
          </a:p>
        </p:txBody>
      </p:sp>
      <p:sp>
        <p:nvSpPr>
          <p:cNvPr id="44" name="Shape 41"/>
          <p:cNvSpPr/>
          <p:nvPr/>
        </p:nvSpPr>
        <p:spPr>
          <a:xfrm>
            <a:off x="10058400" y="4206240"/>
            <a:ext cx="1600200" cy="676656"/>
          </a:xfrm>
          <a:prstGeom prst="roundRect">
            <a:avLst>
              <a:gd name="adj" fmla="val 16216"/>
            </a:avLst>
          </a:prstGeom>
          <a:solidFill>
            <a:srgbClr val="0B1730"/>
          </a:solidFill>
          <a:ln w="13970">
            <a:solidFill>
              <a:srgbClr val="FF5C7A">
                <a:alpha val="8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68128" y="4334256"/>
            <a:ext cx="1380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C7A"/>
                </a:solidFill>
              </a:rPr>
              <a:t>&gt;10 rps</a:t>
            </a:r>
            <a:endParaRPr lang="en-US" sz="1700" dirty="0"/>
          </a:p>
        </p:txBody>
      </p:sp>
      <p:sp>
        <p:nvSpPr>
          <p:cNvPr id="46" name="Text 43"/>
          <p:cNvSpPr/>
          <p:nvPr/>
        </p:nvSpPr>
        <p:spPr>
          <a:xfrm>
            <a:off x="10168128" y="461772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B8C7DA"/>
                </a:solidFill>
              </a:rPr>
              <a:t>Throughput</a:t>
            </a:r>
            <a:endParaRPr lang="en-US" sz="760" dirty="0"/>
          </a:p>
        </p:txBody>
      </p:sp>
      <p:sp>
        <p:nvSpPr>
          <p:cNvPr id="47" name="Shape 44"/>
          <p:cNvSpPr/>
          <p:nvPr/>
        </p:nvSpPr>
        <p:spPr>
          <a:xfrm>
            <a:off x="777240" y="5285232"/>
            <a:ext cx="10698480" cy="502920"/>
          </a:xfrm>
          <a:prstGeom prst="roundRect">
            <a:avLst>
              <a:gd name="adj" fmla="val 21818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77240" y="5285232"/>
            <a:ext cx="73152" cy="502920"/>
          </a:xfrm>
          <a:prstGeom prst="rect">
            <a:avLst/>
          </a:prstGeom>
          <a:solidFill>
            <a:srgbClr val="2EE7FF"/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14984" y="5449824"/>
            <a:ext cx="10222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14984" y="5815584"/>
            <a:ext cx="10222992" cy="-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Local development uses uvicorn for FastAPI and npm start for React; Docker Compose runs backend and frontend independently.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01F"/>
          </a:solidFill>
          <a:ln w="12700">
            <a:solidFill>
              <a:srgbClr val="0610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2EE7FF">
              <a:alpha val="95000"/>
            </a:srgbClr>
          </a:solidFill>
          <a:ln w="12700">
            <a:solidFill>
              <a:srgbClr val="2EE7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3A7BFF"/>
          </a:solidFill>
          <a:ln w="12700">
            <a:solidFill>
              <a:srgbClr val="3A7B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105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8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StegoShield v4.0  |  AI-Driven Secure Steganography &amp; Steganalysis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155680" y="6428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32918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7FBFF"/>
                </a:solidFill>
              </a:rPr>
              <a:t>Risks, Limitations &amp; Conclusion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832104"/>
            <a:ext cx="1874520" cy="0"/>
          </a:xfrm>
          <a:prstGeom prst="line">
            <a:avLst/>
          </a:prstGeom>
          <a:noFill/>
          <a:ln w="25400">
            <a:solidFill>
              <a:srgbClr val="2E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A"/>
                </a:solidFill>
              </a:rPr>
              <a:t>Transparent limitations strengthen the credibility of the system design.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123444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234440"/>
            <a:ext cx="73152" cy="2971800"/>
          </a:xfrm>
          <a:prstGeom prst="rect">
            <a:avLst/>
          </a:prstGeom>
          <a:solidFill>
            <a:srgbClr val="FF5C7A"/>
          </a:solidFill>
          <a:ln w="12700">
            <a:solidFill>
              <a:srgbClr val="FF5C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39903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Known Limitations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1764792"/>
            <a:ext cx="2862072" cy="2295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ALASKA2 is not originally JUNIWARD-based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Stego labels are synthetic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Payloads are controlled: 0.1–0.4 bpp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Unknown real-world algorithms may differ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407408" y="123444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07408" y="1234440"/>
            <a:ext cx="73152" cy="297180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39903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Mitigation Strategy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5152" y="1764792"/>
            <a:ext cx="2862072" cy="2295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Train across multiple payloads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Document distribution shift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Use robustness testing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Keep modules replaceable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• Improve dataset realism later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156448" y="1234440"/>
            <a:ext cx="3337560" cy="2971800"/>
          </a:xfrm>
          <a:prstGeom prst="roundRect">
            <a:avLst>
              <a:gd name="adj" fmla="val 3692"/>
            </a:avLst>
          </a:prstGeom>
          <a:solidFill>
            <a:srgbClr val="0F2342"/>
          </a:solidFill>
          <a:ln w="13970">
            <a:solidFill>
              <a:srgbClr val="2A45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1234440"/>
            <a:ext cx="73152" cy="2971800"/>
          </a:xfrm>
          <a:prstGeom prst="rect">
            <a:avLst/>
          </a:prstGeom>
          <a:solidFill>
            <a:srgbClr val="2EFFB8"/>
          </a:solidFill>
          <a:ln w="12700">
            <a:solidFill>
              <a:srgbClr val="2EFFB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139903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Final Value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94192" y="1764792"/>
            <a:ext cx="2862072" cy="2295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8C7DA"/>
                </a:solidFill>
              </a:rPr>
              <a:t>StegoShield delivers a complete secure pipeline: encrypt → embed → detect → test → deploy.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1143000" y="4800600"/>
            <a:ext cx="1965960" cy="594360"/>
          </a:xfrm>
          <a:prstGeom prst="chevron">
            <a:avLst/>
          </a:prstGeom>
          <a:solidFill>
            <a:srgbClr val="2EE7FF">
              <a:alpha val="88000"/>
            </a:srgbClr>
          </a:solidFill>
          <a:ln w="12700">
            <a:solidFill>
              <a:srgbClr val="2EE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50109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Confidentiality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01568" y="4800600"/>
            <a:ext cx="1965960" cy="594360"/>
          </a:xfrm>
          <a:prstGeom prst="chevron">
            <a:avLst/>
          </a:prstGeom>
          <a:solidFill>
            <a:srgbClr val="2EFFB8">
              <a:alpha val="88000"/>
            </a:srgbClr>
          </a:solidFill>
          <a:ln w="12700">
            <a:solidFill>
              <a:srgbClr val="2EF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50109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Stealth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50992" y="4800600"/>
            <a:ext cx="1965960" cy="594360"/>
          </a:xfrm>
          <a:prstGeom prst="chevron">
            <a:avLst/>
          </a:prstGeom>
          <a:solidFill>
            <a:srgbClr val="8D5CFF">
              <a:alpha val="88000"/>
            </a:srgbClr>
          </a:solidFill>
          <a:ln w="12700">
            <a:solidFill>
              <a:srgbClr val="8D5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9864" y="50109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Detection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00416" y="4800600"/>
            <a:ext cx="1965960" cy="594360"/>
          </a:xfrm>
          <a:prstGeom prst="chevron">
            <a:avLst/>
          </a:prstGeom>
          <a:solidFill>
            <a:srgbClr val="3A7BFF">
              <a:alpha val="88000"/>
            </a:srgbClr>
          </a:solidFill>
          <a:ln w="12700">
            <a:solidFill>
              <a:srgbClr val="3A7B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9288" y="50109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BFF"/>
                </a:solidFill>
              </a:rPr>
              <a:t>Deployment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5742432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E7FF"/>
                </a:solidFill>
              </a:rPr>
              <a:t>StegoShield: a modular, secure, AI-assisted steganography and steganalysis platform.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StegoShield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StegoShield Presentation</dc:title>
  <dc:subject>AI-Driven Secure Steganography &amp; Steganalysis System</dc:subject>
  <dc:creator>OpenAI</dc:creator>
  <cp:lastModifiedBy>OpenAI</cp:lastModifiedBy>
  <cp:revision>1</cp:revision>
  <dcterms:created xsi:type="dcterms:W3CDTF">2026-05-04T23:50:25Z</dcterms:created>
  <dcterms:modified xsi:type="dcterms:W3CDTF">2026-05-04T23:50:25Z</dcterms:modified>
</cp:coreProperties>
</file>