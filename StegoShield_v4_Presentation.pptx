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committee. This is StegoShield v4.0 — a modular, expert-level system that integrates AES-256-CBC encryption, JUNIWARD adaptive steganography, and a CNN-based AI detector. Emphasize the three-layer security model and the strict separation of concerns between all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StegoShield has five strictly separated modules. Stress to reviewers: the ML detection module ONLY classifies images — it does not perform embedding or encryption. JUNIWARD uses DWT and STC, not neural networks. FastAPI is purely orchestration. This separation of concerns is a deliberate architectural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each gap as a genuine unsolved problem in the field. Security gap: most steganography tools embed plaintext. Detection gap: state-of-art steganalysis struggles with adaptive methods like JUNIWARD. Robustness gap: image transformations destroy naive LSB approaches. StegoShield is the unified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and its priority level. O1 and O2 are CRITICAL — without encryption and JUNIWARD, there is no system. O3-O5 are HIGH priority for the complete feature set. O6 (ONNX export) is the production inference optimization. Note that objectives map directly to the five module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reviewers through the threat model. The adversary is assumed to be a sophisticated network-level attacker with access to stego images and image manipulation tools, but NOT the encryption keys. Map each goal to the implementing module. Emphasize G2 (JUNIWARD stealth) and G3 (CNN detection) as the novel contributions of this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five-layer architecture. User browser communicates with React on port 3000 via CORS. React calls FastAPI on port 8000. FastAPI orchestrates three fully independent services: AES Cryptography, JUNIWARD Steganography, and ML Detection. Storage is at the bottom layer. Note: the services can all run as separate Docker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critical for your defense. Each module has a hard boundary. If a reviewer asks 'does ML detection decrypt messages?' — the answer is clearly NO per the restriction column. If they ask 'is JUNIWARD neural network-based?' — the answer is clearly NO: it uses DWT and STC (signal processing + heuristic optimization). The restrictions column documents what each module explicitly does 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sequentially. Inputs: cover image + plaintext message + AES key. Step 1: React frontend collects inputs and posts to /api/v1/encode. Step 2: FastAPI validates and routes. Step 3: AES-256-CBC encrypts the message with PKCS7 padding and a fresh 16-byte random IV. Step 4: JUNIWARD embeds the encrypted bytes using DWT+STC into the cover image's wavelet coefficients. Step 5: Stego image returned with PSNR, payload density, and timing metadata. PSNR target &gt; 40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Decoding is the reverse of encoding. The stego image and AES key are submitted to /api/v1/decode. JUNIWARD extraction reads LSB-modified wavelet coefficients to reconstruct the encrypted byte payload. AES-256-CBC decryption strips the IV prefix and decrypts. Three specific error codes exist: wrong key, no data, and corrupted stego — each has a distinct HTTP 400 response so the frontend can give specific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detection pipeline is independent of encode/decode. It accepts any image and returns CLEAN or STEGO with a confidence score. Preprocessing normalizes the image to 256x256 RGB before ONNX inference. The model output is a softmax probability pair — the threshold is 0.5 by default but configurable. Emphasize: this module cannot recover the hidden message — it is pure forensic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JUNIWARD is a deterministic adaptive steganography algorithm based on wavelet analysis and STC error-correction codes. It is NOT machine learning — there are no neural networks, no training, no model weights. Step 1: converts image to YUV and works only on the Y (luminance) channel. Step 2: applies 4-level Daubechies-8 DWT. Step 3: assigns embedding cost to each coefficient — smooth areas are expensive (high cost, avoid), textured areas are cheap (embed here). Step 4: STC finds the near-optimal set of coefficients to flip. Step 5: flips LSBs of selected wavelet coefficients. Step 6: inverse DWT reconstructs the stego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 pipeline trains a CNN on the ALASKA2 dataset. ALASKA2 provides 75,000+ images with balanced clean and JUNIWARD-generated stego at 0.1–0.4 bpp payload densities. The optimization loop uses Optuna for hyperparameter search — best found parameters are LR=3.2e-4, batch=64, 4 layers, dropout=0.4, AdamW optimizer. After training, the model is exported to ONNX format for production CPU inference. Target: 90% accuracy, AUC 0.95, inference &lt; 35ms. Mention the limitation: training is on synthetic JUNIWARD stego only — real-world generalization may vary.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has four endpoints — all POST using multipart/form-data. /encode takes a cover image and message, returns a stego image with quality metrics. /decode takes a stego image and key, returns the recovered message. /detect takes any image and returns CLEAN or STEGO with confidence. /attack takes a stego image and attack parameters for robustness testing. All errors follow structured JSON with a code and message field. CORS is configured for React on port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frontend is a single-page application with four main pages: Encode, Decode, Detect, and Attack. All pages use the shared Axios service layer to communicate with FastAPI on port 8000. The ImageUploader uses react-dropzone for drag-and-drop file handling. The React app runs on port 3000. Styling is Tailwind CSS or Material-UI. The frontend does NO processing — it only sends/receives data via REST API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multi-layer: Pytest for unit tests on each module, Jest for React component tests, Cypress or Selenium for end-to-end workflow tests, and Locust or k6 for load testing. Performance targets: encoding &lt; 5s, decoding &lt; 3s, ONNX inference &lt; 50ms. Image quality targets: PSNR &gt; 40dB and SSIM &gt; 0.95. Deployment uses Docker Compose — a single 'docker-compose up' starts all four containers. ML and crypto/stego containers are internal (no external port) for security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defense by acknowledging limitations honestly: the model is trained on synthetic JUNIWARD stego only — this is a known dataset limitation. Distribution shift is a real risk if deployed against unknown steganographic algorithms. However, the system is architecturally sound and each module delivers its specified responsibility with measurable performance targets. StegoShield is ready for academic defense. Thank the committee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090F"/>
          </a:solidFill>
          <a:ln w="12700">
            <a:solidFill>
              <a:srgbClr val="07090F"/>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0" y="0"/>
            <a:ext cx="9144000" cy="5143500"/>
          </a:xfrm>
          <a:prstGeom prst="rect">
            <a:avLst/>
          </a:prstGeom>
          <a:solidFill>
            <a:srgbClr val="081428">
              <a:alpha val="40000"/>
            </a:srgbClr>
          </a:solidFill>
          <a:ln w="12700">
            <a:solidFill>
              <a:srgbClr val="081428">
                <a:alpha val="40000"/>
              </a:srgbClr>
            </a:solidFill>
            <a:prstDash val="solid"/>
          </a:ln>
        </p:spPr>
      </p:sp>
      <p:sp>
        <p:nvSpPr>
          <p:cNvPr id="5" name="Shape 3"/>
          <p:cNvSpPr/>
          <p:nvPr/>
        </p:nvSpPr>
        <p:spPr>
          <a:xfrm>
            <a:off x="3474720" y="457200"/>
            <a:ext cx="2194560" cy="2194560"/>
          </a:xfrm>
          <a:prstGeom prst="oval">
            <a:avLst/>
          </a:prstGeom>
          <a:solidFill>
            <a:srgbClr val="00E5FF">
              <a:alpha val="12000"/>
            </a:srgbClr>
          </a:solidFill>
          <a:ln w="12700">
            <a:solidFill>
              <a:srgbClr val="00E5FF">
                <a:alpha val="40000"/>
              </a:srgbClr>
            </a:solidFill>
            <a:prstDash val="solid"/>
          </a:ln>
        </p:spPr>
      </p:sp>
      <p:sp>
        <p:nvSpPr>
          <p:cNvPr id="6" name="Shape 4"/>
          <p:cNvSpPr/>
          <p:nvPr/>
        </p:nvSpPr>
        <p:spPr>
          <a:xfrm>
            <a:off x="3749040" y="640080"/>
            <a:ext cx="1645920" cy="1645920"/>
          </a:xfrm>
          <a:prstGeom prst="oval">
            <a:avLst/>
          </a:prstGeom>
          <a:solidFill>
            <a:srgbClr val="1A8CFF">
              <a:alpha val="20000"/>
            </a:srgbClr>
          </a:solidFill>
          <a:ln w="12700">
            <a:solidFill>
              <a:srgbClr val="1A8CFF">
                <a:alpha val="30000"/>
              </a:srgbClr>
            </a:solidFill>
            <a:prstDash val="solid"/>
          </a:ln>
        </p:spPr>
      </p:sp>
      <p:pic>
        <p:nvPicPr>
          <p:cNvPr id="7" name="Image 0" descr="preencoded.png">    </p:cNvPr>
          <p:cNvPicPr>
            <a:picLocks noChangeAspect="1"/>
          </p:cNvPicPr>
          <p:nvPr/>
        </p:nvPicPr>
        <p:blipFill>
          <a:blip r:embed="rId1"/>
          <a:stretch>
            <a:fillRect/>
          </a:stretch>
        </p:blipFill>
        <p:spPr>
          <a:xfrm>
            <a:off x="4206240" y="822960"/>
            <a:ext cx="731520" cy="731520"/>
          </a:xfrm>
          <a:prstGeom prst="rect">
            <a:avLst/>
          </a:prstGeom>
        </p:spPr>
      </p:pic>
      <p:sp>
        <p:nvSpPr>
          <p:cNvPr id="8" name="Text 5"/>
          <p:cNvSpPr/>
          <p:nvPr/>
        </p:nvSpPr>
        <p:spPr>
          <a:xfrm>
            <a:off x="457200" y="1737360"/>
            <a:ext cx="8229600" cy="914400"/>
          </a:xfrm>
          <a:prstGeom prst="rect">
            <a:avLst/>
          </a:prstGeom>
          <a:noFill/>
          <a:ln/>
        </p:spPr>
        <p:txBody>
          <a:bodyPr wrap="square" rtlCol="0" anchor="ctr"/>
          <a:lstStyle/>
          <a:p>
            <a:pPr algn="ctr" indent="0" marL="0">
              <a:buNone/>
            </a:pPr>
            <a:r>
              <a:rPr lang="en-US" sz="5200" b="1" spc="800" kern="0" dirty="0">
                <a:solidFill>
                  <a:srgbClr val="FFFFFF"/>
                </a:solidFill>
                <a:latin typeface="Arial Black" pitchFamily="34" charset="0"/>
                <a:ea typeface="Arial Black" pitchFamily="34" charset="-122"/>
                <a:cs typeface="Arial Black" pitchFamily="34" charset="-120"/>
              </a:rPr>
              <a:t>STEGOSHIELD</a:t>
            </a:r>
            <a:endParaRPr lang="en-US" sz="5200" dirty="0"/>
          </a:p>
        </p:txBody>
      </p:sp>
      <p:sp>
        <p:nvSpPr>
          <p:cNvPr id="9" name="Shape 6"/>
          <p:cNvSpPr/>
          <p:nvPr/>
        </p:nvSpPr>
        <p:spPr>
          <a:xfrm>
            <a:off x="2926080" y="2606040"/>
            <a:ext cx="3291840" cy="36576"/>
          </a:xfrm>
          <a:prstGeom prst="rect">
            <a:avLst/>
          </a:prstGeom>
          <a:solidFill>
            <a:srgbClr val="00E5FF"/>
          </a:solidFill>
          <a:ln w="12700">
            <a:solidFill>
              <a:srgbClr val="00E5FF"/>
            </a:solidFill>
            <a:prstDash val="solid"/>
          </a:ln>
        </p:spPr>
      </p:sp>
      <p:sp>
        <p:nvSpPr>
          <p:cNvPr id="10" name="Text 7"/>
          <p:cNvSpPr/>
          <p:nvPr/>
        </p:nvSpPr>
        <p:spPr>
          <a:xfrm>
            <a:off x="457200" y="2697480"/>
            <a:ext cx="8229600" cy="457200"/>
          </a:xfrm>
          <a:prstGeom prst="rect">
            <a:avLst/>
          </a:prstGeom>
          <a:noFill/>
          <a:ln/>
        </p:spPr>
        <p:txBody>
          <a:bodyPr wrap="square" rtlCol="0" anchor="ctr"/>
          <a:lstStyle/>
          <a:p>
            <a:pPr algn="ctr" indent="0" marL="0">
              <a:buNone/>
            </a:pPr>
            <a:r>
              <a:rPr lang="en-US" sz="1800" dirty="0">
                <a:solidFill>
                  <a:srgbClr val="00E5FF"/>
                </a:solidFill>
                <a:latin typeface="Calibri" pitchFamily="34" charset="0"/>
                <a:ea typeface="Calibri" pitchFamily="34" charset="-122"/>
                <a:cs typeface="Calibri" pitchFamily="34" charset="-120"/>
              </a:rPr>
              <a:t>AI-Driven Secure Steganography &amp; Steganalysis System</a:t>
            </a:r>
            <a:endParaRPr lang="en-US" sz="1800" dirty="0"/>
          </a:p>
        </p:txBody>
      </p:sp>
      <p:sp>
        <p:nvSpPr>
          <p:cNvPr id="11" name="Text 8"/>
          <p:cNvSpPr/>
          <p:nvPr/>
        </p:nvSpPr>
        <p:spPr>
          <a:xfrm>
            <a:off x="914400" y="3200400"/>
            <a:ext cx="7315200" cy="365760"/>
          </a:xfrm>
          <a:prstGeom prst="rect">
            <a:avLst/>
          </a:prstGeom>
          <a:noFill/>
          <a:ln/>
        </p:spPr>
        <p:txBody>
          <a:bodyPr wrap="square" rtlCol="0" anchor="ctr"/>
          <a:lstStyle/>
          <a:p>
            <a:pPr algn="ctr" indent="0" marL="0">
              <a:buNone/>
            </a:pPr>
            <a:r>
              <a:rPr lang="en-US" sz="1300" i="1" dirty="0">
                <a:solidFill>
                  <a:srgbClr val="CBD5E1"/>
                </a:solidFill>
              </a:rPr>
              <a:t>Secure message hiding, encrypted payloads, and AI-based stego detection.</a:t>
            </a:r>
            <a:endParaRPr lang="en-US" sz="1300" dirty="0"/>
          </a:p>
        </p:txBody>
      </p:sp>
      <p:sp>
        <p:nvSpPr>
          <p:cNvPr id="12" name="Shape 9"/>
          <p:cNvSpPr/>
          <p:nvPr/>
        </p:nvSpPr>
        <p:spPr>
          <a:xfrm>
            <a:off x="731520" y="3794760"/>
            <a:ext cx="1737360" cy="320040"/>
          </a:xfrm>
          <a:prstGeom prst="roundRect">
            <a:avLst>
              <a:gd name="adj" fmla="val 22857"/>
            </a:avLst>
          </a:prstGeom>
          <a:solidFill>
            <a:srgbClr val="0F1E35"/>
          </a:solidFill>
          <a:ln w="12700">
            <a:solidFill>
              <a:srgbClr val="1A8CFF"/>
            </a:solidFill>
            <a:prstDash val="solid"/>
          </a:ln>
        </p:spPr>
      </p:sp>
      <p:sp>
        <p:nvSpPr>
          <p:cNvPr id="13" name="Text 10"/>
          <p:cNvSpPr/>
          <p:nvPr/>
        </p:nvSpPr>
        <p:spPr>
          <a:xfrm>
            <a:off x="731520" y="3794760"/>
            <a:ext cx="1737360" cy="320040"/>
          </a:xfrm>
          <a:prstGeom prst="rect">
            <a:avLst/>
          </a:prstGeom>
          <a:noFill/>
          <a:ln/>
        </p:spPr>
        <p:txBody>
          <a:bodyPr wrap="square" rtlCol="0" anchor="ctr"/>
          <a:lstStyle/>
          <a:p>
            <a:pPr algn="ctr" indent="0" marL="0">
              <a:buNone/>
            </a:pPr>
            <a:r>
              <a:rPr lang="en-US" sz="950" b="1" dirty="0">
                <a:solidFill>
                  <a:srgbClr val="1A8CFF"/>
                </a:solidFill>
              </a:rPr>
              <a:t>AES-256-CBC</a:t>
            </a:r>
            <a:endParaRPr lang="en-US" sz="950" dirty="0"/>
          </a:p>
        </p:txBody>
      </p:sp>
      <p:sp>
        <p:nvSpPr>
          <p:cNvPr id="14" name="Shape 11"/>
          <p:cNvSpPr/>
          <p:nvPr/>
        </p:nvSpPr>
        <p:spPr>
          <a:xfrm>
            <a:off x="2743200" y="3794760"/>
            <a:ext cx="1737360" cy="320040"/>
          </a:xfrm>
          <a:prstGeom prst="roundRect">
            <a:avLst>
              <a:gd name="adj" fmla="val 22857"/>
            </a:avLst>
          </a:prstGeom>
          <a:solidFill>
            <a:srgbClr val="0F1E35"/>
          </a:solidFill>
          <a:ln w="12700">
            <a:solidFill>
              <a:srgbClr val="1A8CFF"/>
            </a:solidFill>
            <a:prstDash val="solid"/>
          </a:ln>
        </p:spPr>
      </p:sp>
      <p:sp>
        <p:nvSpPr>
          <p:cNvPr id="15" name="Text 12"/>
          <p:cNvSpPr/>
          <p:nvPr/>
        </p:nvSpPr>
        <p:spPr>
          <a:xfrm>
            <a:off x="2743200" y="3794760"/>
            <a:ext cx="1737360" cy="320040"/>
          </a:xfrm>
          <a:prstGeom prst="rect">
            <a:avLst/>
          </a:prstGeom>
          <a:noFill/>
          <a:ln/>
        </p:spPr>
        <p:txBody>
          <a:bodyPr wrap="square" rtlCol="0" anchor="ctr"/>
          <a:lstStyle/>
          <a:p>
            <a:pPr algn="ctr" indent="0" marL="0">
              <a:buNone/>
            </a:pPr>
            <a:r>
              <a:rPr lang="en-US" sz="950" b="1" dirty="0">
                <a:solidFill>
                  <a:srgbClr val="1A8CFF"/>
                </a:solidFill>
              </a:rPr>
              <a:t>JUNIWARD DWT+STC</a:t>
            </a:r>
            <a:endParaRPr lang="en-US" sz="950" dirty="0"/>
          </a:p>
        </p:txBody>
      </p:sp>
      <p:sp>
        <p:nvSpPr>
          <p:cNvPr id="16" name="Shape 13"/>
          <p:cNvSpPr/>
          <p:nvPr/>
        </p:nvSpPr>
        <p:spPr>
          <a:xfrm>
            <a:off x="4754880" y="3794760"/>
            <a:ext cx="1737360" cy="320040"/>
          </a:xfrm>
          <a:prstGeom prst="roundRect">
            <a:avLst>
              <a:gd name="adj" fmla="val 22857"/>
            </a:avLst>
          </a:prstGeom>
          <a:solidFill>
            <a:srgbClr val="0F1E35"/>
          </a:solidFill>
          <a:ln w="12700">
            <a:solidFill>
              <a:srgbClr val="1A8CFF"/>
            </a:solidFill>
            <a:prstDash val="solid"/>
          </a:ln>
        </p:spPr>
      </p:sp>
      <p:sp>
        <p:nvSpPr>
          <p:cNvPr id="17" name="Text 14"/>
          <p:cNvSpPr/>
          <p:nvPr/>
        </p:nvSpPr>
        <p:spPr>
          <a:xfrm>
            <a:off x="4754880" y="3794760"/>
            <a:ext cx="1737360" cy="320040"/>
          </a:xfrm>
          <a:prstGeom prst="rect">
            <a:avLst/>
          </a:prstGeom>
          <a:noFill/>
          <a:ln/>
        </p:spPr>
        <p:txBody>
          <a:bodyPr wrap="square" rtlCol="0" anchor="ctr"/>
          <a:lstStyle/>
          <a:p>
            <a:pPr algn="ctr" indent="0" marL="0">
              <a:buNone/>
            </a:pPr>
            <a:r>
              <a:rPr lang="en-US" sz="950" b="1" dirty="0">
                <a:solidFill>
                  <a:srgbClr val="1A8CFF"/>
                </a:solidFill>
              </a:rPr>
              <a:t>CNN / ONNX</a:t>
            </a:r>
            <a:endParaRPr lang="en-US" sz="950" dirty="0"/>
          </a:p>
        </p:txBody>
      </p:sp>
      <p:sp>
        <p:nvSpPr>
          <p:cNvPr id="18" name="Shape 15"/>
          <p:cNvSpPr/>
          <p:nvPr/>
        </p:nvSpPr>
        <p:spPr>
          <a:xfrm>
            <a:off x="6766560" y="3794760"/>
            <a:ext cx="1737360" cy="320040"/>
          </a:xfrm>
          <a:prstGeom prst="roundRect">
            <a:avLst>
              <a:gd name="adj" fmla="val 22857"/>
            </a:avLst>
          </a:prstGeom>
          <a:solidFill>
            <a:srgbClr val="0F1E35"/>
          </a:solidFill>
          <a:ln w="12700">
            <a:solidFill>
              <a:srgbClr val="1A8CFF"/>
            </a:solidFill>
            <a:prstDash val="solid"/>
          </a:ln>
        </p:spPr>
      </p:sp>
      <p:sp>
        <p:nvSpPr>
          <p:cNvPr id="19" name="Text 16"/>
          <p:cNvSpPr/>
          <p:nvPr/>
        </p:nvSpPr>
        <p:spPr>
          <a:xfrm>
            <a:off x="6766560" y="3794760"/>
            <a:ext cx="1737360" cy="320040"/>
          </a:xfrm>
          <a:prstGeom prst="rect">
            <a:avLst/>
          </a:prstGeom>
          <a:noFill/>
          <a:ln/>
        </p:spPr>
        <p:txBody>
          <a:bodyPr wrap="square" rtlCol="0" anchor="ctr"/>
          <a:lstStyle/>
          <a:p>
            <a:pPr algn="ctr" indent="0" marL="0">
              <a:buNone/>
            </a:pPr>
            <a:r>
              <a:rPr lang="en-US" sz="950" b="1" dirty="0">
                <a:solidFill>
                  <a:srgbClr val="1A8CFF"/>
                </a:solidFill>
              </a:rPr>
              <a:t>React 18 + FastAPI</a:t>
            </a:r>
            <a:endParaRPr lang="en-US" sz="950" dirty="0"/>
          </a:p>
        </p:txBody>
      </p:sp>
      <p:sp>
        <p:nvSpPr>
          <p:cNvPr id="20" name="Text 17"/>
          <p:cNvSpPr/>
          <p:nvPr/>
        </p:nvSpPr>
        <p:spPr>
          <a:xfrm>
            <a:off x="457200" y="4224528"/>
            <a:ext cx="8229600" cy="274320"/>
          </a:xfrm>
          <a:prstGeom prst="rect">
            <a:avLst/>
          </a:prstGeom>
          <a:noFill/>
          <a:ln/>
        </p:spPr>
        <p:txBody>
          <a:bodyPr wrap="square" rtlCol="0" anchor="ctr"/>
          <a:lstStyle/>
          <a:p>
            <a:pPr algn="ctr" indent="0" marL="0">
              <a:buNone/>
            </a:pPr>
            <a:r>
              <a:rPr lang="en-US" sz="900" dirty="0">
                <a:solidFill>
                  <a:srgbClr val="64748B"/>
                </a:solidFill>
              </a:rPr>
              <a:t>StegoShield Team  ·  Version 4.0  ·  May 2026  ·  Academic Final Project Defense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w="12700">
            <a:solidFill>
              <a:srgbClr val="0B1220"/>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457200" y="256032"/>
            <a:ext cx="1463040" cy="256032"/>
          </a:xfrm>
          <a:prstGeom prst="rect">
            <a:avLst/>
          </a:prstGeom>
          <a:solidFill>
            <a:srgbClr val="00E5FF"/>
          </a:solidFill>
          <a:ln w="12700">
            <a:solidFill>
              <a:srgbClr val="00E5FF"/>
            </a:solidFill>
            <a:prstDash val="solid"/>
          </a:ln>
        </p:spPr>
      </p:sp>
      <p:sp>
        <p:nvSpPr>
          <p:cNvPr id="5" name="Text 3"/>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OVERVIEW</a:t>
            </a:r>
            <a:endParaRPr lang="en-US" sz="900" dirty="0"/>
          </a:p>
        </p:txBody>
      </p:sp>
      <p:sp>
        <p:nvSpPr>
          <p:cNvPr id="6" name="Text 4"/>
          <p:cNvSpPr/>
          <p:nvPr/>
        </p:nvSpPr>
        <p:spPr>
          <a:xfrm>
            <a:off x="2103120" y="182880"/>
            <a:ext cx="6400800" cy="438912"/>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Executive Summary</a:t>
            </a:r>
            <a:endParaRPr lang="en-US" sz="2800" dirty="0"/>
          </a:p>
        </p:txBody>
      </p:sp>
      <p:sp>
        <p:nvSpPr>
          <p:cNvPr id="7" name="Text 5"/>
          <p:cNvSpPr/>
          <p:nvPr/>
        </p:nvSpPr>
        <p:spPr>
          <a:xfrm>
            <a:off x="457200" y="713232"/>
            <a:ext cx="8229600" cy="320040"/>
          </a:xfrm>
          <a:prstGeom prst="rect">
            <a:avLst/>
          </a:prstGeom>
          <a:noFill/>
          <a:ln/>
        </p:spPr>
        <p:txBody>
          <a:bodyPr wrap="square" rtlCol="0" anchor="ctr"/>
          <a:lstStyle/>
          <a:p>
            <a:pPr algn="ctr" indent="0" marL="0">
              <a:buNone/>
            </a:pPr>
            <a:r>
              <a:rPr lang="en-US" sz="1250" i="1" dirty="0">
                <a:solidFill>
                  <a:srgbClr val="CBD5E1"/>
                </a:solidFill>
              </a:rPr>
              <a:t>StegoShield is a five-module secure pipeline for covert communication and AI-assisted forensic detection.</a:t>
            </a:r>
            <a:endParaRPr lang="en-US" sz="1250" dirty="0"/>
          </a:p>
        </p:txBody>
      </p:sp>
      <p:sp>
        <p:nvSpPr>
          <p:cNvPr id="8" name="Shape 6"/>
          <p:cNvSpPr/>
          <p:nvPr/>
        </p:nvSpPr>
        <p:spPr>
          <a:xfrm>
            <a:off x="274320" y="1143000"/>
            <a:ext cx="1572768" cy="2377440"/>
          </a:xfrm>
          <a:prstGeom prst="roundRect">
            <a:avLst>
              <a:gd name="adj" fmla="val 8140"/>
            </a:avLst>
          </a:prstGeom>
          <a:solidFill>
            <a:srgbClr val="0F1E35"/>
          </a:solidFill>
          <a:ln w="25400">
            <a:solidFill>
              <a:srgbClr val="1A8CFF"/>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274320" y="1143000"/>
            <a:ext cx="1572768" cy="274320"/>
          </a:xfrm>
          <a:prstGeom prst="rect">
            <a:avLst/>
          </a:prstGeom>
          <a:solidFill>
            <a:srgbClr val="1A8CFF">
              <a:alpha val="70000"/>
            </a:srgbClr>
          </a:solidFill>
          <a:ln w="12700">
            <a:solidFill>
              <a:srgbClr val="1A8CFF">
                <a:alpha val="70000"/>
              </a:srgbClr>
            </a:solidFill>
            <a:prstDash val="solid"/>
          </a:ln>
        </p:spPr>
      </p:sp>
      <p:pic>
        <p:nvPicPr>
          <p:cNvPr id="10" name="Image 0" descr="preencoded.png">    </p:cNvPr>
          <p:cNvPicPr>
            <a:picLocks noChangeAspect="1"/>
          </p:cNvPicPr>
          <p:nvPr/>
        </p:nvPicPr>
        <p:blipFill>
          <a:blip r:embed="rId1"/>
          <a:stretch>
            <a:fillRect/>
          </a:stretch>
        </p:blipFill>
        <p:spPr>
          <a:xfrm>
            <a:off x="832104" y="1463040"/>
            <a:ext cx="457200" cy="457200"/>
          </a:xfrm>
          <a:prstGeom prst="rect">
            <a:avLst/>
          </a:prstGeom>
        </p:spPr>
      </p:pic>
      <p:sp>
        <p:nvSpPr>
          <p:cNvPr id="11" name="Text 8"/>
          <p:cNvSpPr/>
          <p:nvPr/>
        </p:nvSpPr>
        <p:spPr>
          <a:xfrm>
            <a:off x="274320" y="1984248"/>
            <a:ext cx="1572768" cy="320040"/>
          </a:xfrm>
          <a:prstGeom prst="rect">
            <a:avLst/>
          </a:prstGeom>
          <a:noFill/>
          <a:ln/>
        </p:spPr>
        <p:txBody>
          <a:bodyPr wrap="square" rtlCol="0" anchor="ctr"/>
          <a:lstStyle/>
          <a:p>
            <a:pPr algn="ctr" indent="0" marL="0">
              <a:buNone/>
            </a:pPr>
            <a:r>
              <a:rPr lang="en-US" sz="1100" b="1" dirty="0">
                <a:solidFill>
                  <a:srgbClr val="FFFFFF"/>
                </a:solidFill>
              </a:rPr>
              <a:t>React Frontend</a:t>
            </a:r>
            <a:endParaRPr lang="en-US" sz="1100" dirty="0"/>
          </a:p>
        </p:txBody>
      </p:sp>
      <p:sp>
        <p:nvSpPr>
          <p:cNvPr id="12" name="Text 9"/>
          <p:cNvSpPr/>
          <p:nvPr/>
        </p:nvSpPr>
        <p:spPr>
          <a:xfrm>
            <a:off x="274320" y="2331720"/>
            <a:ext cx="1572768" cy="731520"/>
          </a:xfrm>
          <a:prstGeom prst="rect">
            <a:avLst/>
          </a:prstGeom>
          <a:noFill/>
          <a:ln/>
        </p:spPr>
        <p:txBody>
          <a:bodyPr wrap="square" rtlCol="0" anchor="ctr"/>
          <a:lstStyle/>
          <a:p>
            <a:pPr algn="ctr" indent="0" marL="0">
              <a:buNone/>
            </a:pPr>
            <a:r>
              <a:rPr lang="en-US" sz="900" dirty="0">
                <a:solidFill>
                  <a:srgbClr val="CBD5E1"/>
                </a:solidFill>
              </a:rPr>
              <a:t>UI + Axios API calls</a:t>
            </a:r>
            <a:endParaRPr lang="en-US" sz="900" dirty="0"/>
          </a:p>
          <a:p>
            <a:pPr algn="ctr" indent="0" marL="0">
              <a:buNone/>
            </a:pPr>
            <a:r>
              <a:rPr lang="en-US" sz="900" dirty="0">
                <a:solidFill>
                  <a:srgbClr val="CBD5E1"/>
                </a:solidFill>
              </a:rPr>
              <a:t>Port 3000</a:t>
            </a:r>
            <a:endParaRPr lang="en-US" sz="900" dirty="0"/>
          </a:p>
        </p:txBody>
      </p:sp>
      <p:sp>
        <p:nvSpPr>
          <p:cNvPr id="13" name="Shape 10"/>
          <p:cNvSpPr/>
          <p:nvPr/>
        </p:nvSpPr>
        <p:spPr>
          <a:xfrm>
            <a:off x="1993392" y="1143000"/>
            <a:ext cx="1572768" cy="2377440"/>
          </a:xfrm>
          <a:prstGeom prst="roundRect">
            <a:avLst>
              <a:gd name="adj" fmla="val 8140"/>
            </a:avLst>
          </a:prstGeom>
          <a:solidFill>
            <a:srgbClr val="0F1E35"/>
          </a:solidFill>
          <a:ln w="25400">
            <a:solidFill>
              <a:srgbClr val="7B2FFF"/>
            </a:solidFill>
            <a:prstDash val="solid"/>
          </a:ln>
          <a:effectLst>
            <a:outerShdw sx="100000" sy="100000" kx="0" ky="0" algn="bl" rotWithShape="0" blurRad="101600" dist="38100" dir="8100000">
              <a:srgbClr val="000000">
                <a:alpha val="30000"/>
              </a:srgbClr>
            </a:outerShdw>
          </a:effectLst>
        </p:spPr>
      </p:sp>
      <p:sp>
        <p:nvSpPr>
          <p:cNvPr id="14" name="Shape 11"/>
          <p:cNvSpPr/>
          <p:nvPr/>
        </p:nvSpPr>
        <p:spPr>
          <a:xfrm>
            <a:off x="1993392" y="1143000"/>
            <a:ext cx="1572768" cy="274320"/>
          </a:xfrm>
          <a:prstGeom prst="rect">
            <a:avLst/>
          </a:prstGeom>
          <a:solidFill>
            <a:srgbClr val="7B2FFF">
              <a:alpha val="70000"/>
            </a:srgbClr>
          </a:solidFill>
          <a:ln w="12700">
            <a:solidFill>
              <a:srgbClr val="7B2FFF">
                <a:alpha val="70000"/>
              </a:srgbClr>
            </a:solidFill>
            <a:prstDash val="solid"/>
          </a:ln>
        </p:spPr>
      </p:sp>
      <p:pic>
        <p:nvPicPr>
          <p:cNvPr id="15" name="Image 1" descr="preencoded.png">    </p:cNvPr>
          <p:cNvPicPr>
            <a:picLocks noChangeAspect="1"/>
          </p:cNvPicPr>
          <p:nvPr/>
        </p:nvPicPr>
        <p:blipFill>
          <a:blip r:embed="rId2"/>
          <a:stretch>
            <a:fillRect/>
          </a:stretch>
        </p:blipFill>
        <p:spPr>
          <a:xfrm>
            <a:off x="2551176" y="1463040"/>
            <a:ext cx="457200" cy="457200"/>
          </a:xfrm>
          <a:prstGeom prst="rect">
            <a:avLst/>
          </a:prstGeom>
        </p:spPr>
      </p:pic>
      <p:sp>
        <p:nvSpPr>
          <p:cNvPr id="16" name="Text 12"/>
          <p:cNvSpPr/>
          <p:nvPr/>
        </p:nvSpPr>
        <p:spPr>
          <a:xfrm>
            <a:off x="1993392" y="1984248"/>
            <a:ext cx="1572768" cy="320040"/>
          </a:xfrm>
          <a:prstGeom prst="rect">
            <a:avLst/>
          </a:prstGeom>
          <a:noFill/>
          <a:ln/>
        </p:spPr>
        <p:txBody>
          <a:bodyPr wrap="square" rtlCol="0" anchor="ctr"/>
          <a:lstStyle/>
          <a:p>
            <a:pPr algn="ctr" indent="0" marL="0">
              <a:buNone/>
            </a:pPr>
            <a:r>
              <a:rPr lang="en-US" sz="1100" b="1" dirty="0">
                <a:solidFill>
                  <a:srgbClr val="FFFFFF"/>
                </a:solidFill>
              </a:rPr>
              <a:t>FastAPI Backend</a:t>
            </a:r>
            <a:endParaRPr lang="en-US" sz="1100" dirty="0"/>
          </a:p>
        </p:txBody>
      </p:sp>
      <p:sp>
        <p:nvSpPr>
          <p:cNvPr id="17" name="Text 13"/>
          <p:cNvSpPr/>
          <p:nvPr/>
        </p:nvSpPr>
        <p:spPr>
          <a:xfrm>
            <a:off x="1993392" y="2331720"/>
            <a:ext cx="1572768" cy="731520"/>
          </a:xfrm>
          <a:prstGeom prst="rect">
            <a:avLst/>
          </a:prstGeom>
          <a:noFill/>
          <a:ln/>
        </p:spPr>
        <p:txBody>
          <a:bodyPr wrap="square" rtlCol="0" anchor="ctr"/>
          <a:lstStyle/>
          <a:p>
            <a:pPr algn="ctr" indent="0" marL="0">
              <a:buNone/>
            </a:pPr>
            <a:r>
              <a:rPr lang="en-US" sz="900" dirty="0">
                <a:solidFill>
                  <a:srgbClr val="CBD5E1"/>
                </a:solidFill>
              </a:rPr>
              <a:t>Orchestration only</a:t>
            </a:r>
            <a:endParaRPr lang="en-US" sz="900" dirty="0"/>
          </a:p>
          <a:p>
            <a:pPr algn="ctr" indent="0" marL="0">
              <a:buNone/>
            </a:pPr>
            <a:r>
              <a:rPr lang="en-US" sz="900" dirty="0">
                <a:solidFill>
                  <a:srgbClr val="CBD5E1"/>
                </a:solidFill>
              </a:rPr>
              <a:t>Port 8000</a:t>
            </a:r>
            <a:endParaRPr lang="en-US" sz="900" dirty="0"/>
          </a:p>
        </p:txBody>
      </p:sp>
      <p:sp>
        <p:nvSpPr>
          <p:cNvPr id="18" name="Shape 14"/>
          <p:cNvSpPr/>
          <p:nvPr/>
        </p:nvSpPr>
        <p:spPr>
          <a:xfrm>
            <a:off x="3712464" y="1143000"/>
            <a:ext cx="1572768" cy="2377440"/>
          </a:xfrm>
          <a:prstGeom prst="roundRect">
            <a:avLst>
              <a:gd name="adj" fmla="val 8140"/>
            </a:avLst>
          </a:prstGeom>
          <a:solidFill>
            <a:srgbClr val="0F1E35"/>
          </a:solidFill>
          <a:ln w="25400">
            <a:solidFill>
              <a:srgbClr val="00E5FF"/>
            </a:solidFill>
            <a:prstDash val="solid"/>
          </a:ln>
          <a:effectLst>
            <a:outerShdw sx="100000" sy="100000" kx="0" ky="0" algn="bl" rotWithShape="0" blurRad="101600" dist="38100" dir="8100000">
              <a:srgbClr val="000000">
                <a:alpha val="30000"/>
              </a:srgbClr>
            </a:outerShdw>
          </a:effectLst>
        </p:spPr>
      </p:sp>
      <p:sp>
        <p:nvSpPr>
          <p:cNvPr id="19" name="Shape 15"/>
          <p:cNvSpPr/>
          <p:nvPr/>
        </p:nvSpPr>
        <p:spPr>
          <a:xfrm>
            <a:off x="3712464" y="1143000"/>
            <a:ext cx="1572768" cy="274320"/>
          </a:xfrm>
          <a:prstGeom prst="rect">
            <a:avLst/>
          </a:prstGeom>
          <a:solidFill>
            <a:srgbClr val="00E5FF">
              <a:alpha val="70000"/>
            </a:srgbClr>
          </a:solidFill>
          <a:ln w="12700">
            <a:solidFill>
              <a:srgbClr val="00E5FF">
                <a:alpha val="70000"/>
              </a:srgbClr>
            </a:solidFill>
            <a:prstDash val="solid"/>
          </a:ln>
        </p:spPr>
      </p:sp>
      <p:pic>
        <p:nvPicPr>
          <p:cNvPr id="20" name="Image 2" descr="preencoded.png">    </p:cNvPr>
          <p:cNvPicPr>
            <a:picLocks noChangeAspect="1"/>
          </p:cNvPicPr>
          <p:nvPr/>
        </p:nvPicPr>
        <p:blipFill>
          <a:blip r:embed="rId3"/>
          <a:stretch>
            <a:fillRect/>
          </a:stretch>
        </p:blipFill>
        <p:spPr>
          <a:xfrm>
            <a:off x="4270248" y="1463040"/>
            <a:ext cx="457200" cy="457200"/>
          </a:xfrm>
          <a:prstGeom prst="rect">
            <a:avLst/>
          </a:prstGeom>
        </p:spPr>
      </p:pic>
      <p:sp>
        <p:nvSpPr>
          <p:cNvPr id="21" name="Text 16"/>
          <p:cNvSpPr/>
          <p:nvPr/>
        </p:nvSpPr>
        <p:spPr>
          <a:xfrm>
            <a:off x="3712464" y="1984248"/>
            <a:ext cx="1572768" cy="320040"/>
          </a:xfrm>
          <a:prstGeom prst="rect">
            <a:avLst/>
          </a:prstGeom>
          <a:noFill/>
          <a:ln/>
        </p:spPr>
        <p:txBody>
          <a:bodyPr wrap="square" rtlCol="0" anchor="ctr"/>
          <a:lstStyle/>
          <a:p>
            <a:pPr algn="ctr" indent="0" marL="0">
              <a:buNone/>
            </a:pPr>
            <a:r>
              <a:rPr lang="en-US" sz="1100" b="1" dirty="0">
                <a:solidFill>
                  <a:srgbClr val="FFFFFF"/>
                </a:solidFill>
              </a:rPr>
              <a:t>AES-256-CBC</a:t>
            </a:r>
            <a:endParaRPr lang="en-US" sz="1100" dirty="0"/>
          </a:p>
        </p:txBody>
      </p:sp>
      <p:sp>
        <p:nvSpPr>
          <p:cNvPr id="22" name="Text 17"/>
          <p:cNvSpPr/>
          <p:nvPr/>
        </p:nvSpPr>
        <p:spPr>
          <a:xfrm>
            <a:off x="3712464" y="2331720"/>
            <a:ext cx="1572768" cy="731520"/>
          </a:xfrm>
          <a:prstGeom prst="rect">
            <a:avLst/>
          </a:prstGeom>
          <a:noFill/>
          <a:ln/>
        </p:spPr>
        <p:txBody>
          <a:bodyPr wrap="square" rtlCol="0" anchor="ctr"/>
          <a:lstStyle/>
          <a:p>
            <a:pPr algn="ctr" indent="0" marL="0">
              <a:buNone/>
            </a:pPr>
            <a:r>
              <a:rPr lang="en-US" sz="900" dirty="0">
                <a:solidFill>
                  <a:srgbClr val="CBD5E1"/>
                </a:solidFill>
              </a:rPr>
              <a:t>Encrypt / Decrypt</a:t>
            </a:r>
            <a:endParaRPr lang="en-US" sz="900" dirty="0"/>
          </a:p>
          <a:p>
            <a:pPr algn="ctr" indent="0" marL="0">
              <a:buNone/>
            </a:pPr>
            <a:r>
              <a:rPr lang="en-US" sz="900" dirty="0">
                <a:solidFill>
                  <a:srgbClr val="CBD5E1"/>
                </a:solidFill>
              </a:rPr>
              <a:t>PyCryptodome</a:t>
            </a:r>
            <a:endParaRPr lang="en-US" sz="900" dirty="0"/>
          </a:p>
        </p:txBody>
      </p:sp>
      <p:sp>
        <p:nvSpPr>
          <p:cNvPr id="23" name="Shape 18"/>
          <p:cNvSpPr/>
          <p:nvPr/>
        </p:nvSpPr>
        <p:spPr>
          <a:xfrm>
            <a:off x="5431536" y="1143000"/>
            <a:ext cx="1572768" cy="2377440"/>
          </a:xfrm>
          <a:prstGeom prst="roundRect">
            <a:avLst>
              <a:gd name="adj" fmla="val 8140"/>
            </a:avLst>
          </a:prstGeom>
          <a:solidFill>
            <a:srgbClr val="0F1E35"/>
          </a:solidFill>
          <a:ln w="25400">
            <a:solidFill>
              <a:srgbClr val="FF6B35"/>
            </a:solidFill>
            <a:prstDash val="solid"/>
          </a:ln>
          <a:effectLst>
            <a:outerShdw sx="100000" sy="100000" kx="0" ky="0" algn="bl" rotWithShape="0" blurRad="101600" dist="38100" dir="8100000">
              <a:srgbClr val="000000">
                <a:alpha val="30000"/>
              </a:srgbClr>
            </a:outerShdw>
          </a:effectLst>
        </p:spPr>
      </p:sp>
      <p:sp>
        <p:nvSpPr>
          <p:cNvPr id="24" name="Shape 19"/>
          <p:cNvSpPr/>
          <p:nvPr/>
        </p:nvSpPr>
        <p:spPr>
          <a:xfrm>
            <a:off x="5431536" y="1143000"/>
            <a:ext cx="1572768" cy="274320"/>
          </a:xfrm>
          <a:prstGeom prst="rect">
            <a:avLst/>
          </a:prstGeom>
          <a:solidFill>
            <a:srgbClr val="FF6B35">
              <a:alpha val="70000"/>
            </a:srgbClr>
          </a:solidFill>
          <a:ln w="12700">
            <a:solidFill>
              <a:srgbClr val="FF6B35">
                <a:alpha val="70000"/>
              </a:srgbClr>
            </a:solidFill>
            <a:prstDash val="solid"/>
          </a:ln>
        </p:spPr>
      </p:sp>
      <p:pic>
        <p:nvPicPr>
          <p:cNvPr id="25" name="Image 3" descr="preencoded.png">    </p:cNvPr>
          <p:cNvPicPr>
            <a:picLocks noChangeAspect="1"/>
          </p:cNvPicPr>
          <p:nvPr/>
        </p:nvPicPr>
        <p:blipFill>
          <a:blip r:embed="rId4"/>
          <a:stretch>
            <a:fillRect/>
          </a:stretch>
        </p:blipFill>
        <p:spPr>
          <a:xfrm>
            <a:off x="5989320" y="1463040"/>
            <a:ext cx="457200" cy="457200"/>
          </a:xfrm>
          <a:prstGeom prst="rect">
            <a:avLst/>
          </a:prstGeom>
        </p:spPr>
      </p:pic>
      <p:sp>
        <p:nvSpPr>
          <p:cNvPr id="26" name="Text 20"/>
          <p:cNvSpPr/>
          <p:nvPr/>
        </p:nvSpPr>
        <p:spPr>
          <a:xfrm>
            <a:off x="5431536" y="1984248"/>
            <a:ext cx="1572768" cy="320040"/>
          </a:xfrm>
          <a:prstGeom prst="rect">
            <a:avLst/>
          </a:prstGeom>
          <a:noFill/>
          <a:ln/>
        </p:spPr>
        <p:txBody>
          <a:bodyPr wrap="square" rtlCol="0" anchor="ctr"/>
          <a:lstStyle/>
          <a:p>
            <a:pPr algn="ctr" indent="0" marL="0">
              <a:buNone/>
            </a:pPr>
            <a:r>
              <a:rPr lang="en-US" sz="1100" b="1" dirty="0">
                <a:solidFill>
                  <a:srgbClr val="FFFFFF"/>
                </a:solidFill>
              </a:rPr>
              <a:t>JUNIWARD</a:t>
            </a:r>
            <a:endParaRPr lang="en-US" sz="1100" dirty="0"/>
          </a:p>
        </p:txBody>
      </p:sp>
      <p:sp>
        <p:nvSpPr>
          <p:cNvPr id="27" name="Text 21"/>
          <p:cNvSpPr/>
          <p:nvPr/>
        </p:nvSpPr>
        <p:spPr>
          <a:xfrm>
            <a:off x="5431536" y="2331720"/>
            <a:ext cx="1572768" cy="731520"/>
          </a:xfrm>
          <a:prstGeom prst="rect">
            <a:avLst/>
          </a:prstGeom>
          <a:noFill/>
          <a:ln/>
        </p:spPr>
        <p:txBody>
          <a:bodyPr wrap="square" rtlCol="0" anchor="ctr"/>
          <a:lstStyle/>
          <a:p>
            <a:pPr algn="ctr" indent="0" marL="0">
              <a:buNone/>
            </a:pPr>
            <a:r>
              <a:rPr lang="en-US" sz="900" dirty="0">
                <a:solidFill>
                  <a:srgbClr val="CBD5E1"/>
                </a:solidFill>
              </a:rPr>
              <a:t>DWT + STC Embed</a:t>
            </a:r>
            <a:endParaRPr lang="en-US" sz="900" dirty="0"/>
          </a:p>
          <a:p>
            <a:pPr algn="ctr" indent="0" marL="0">
              <a:buNone/>
            </a:pPr>
            <a:r>
              <a:rPr lang="en-US" sz="900" dirty="0">
                <a:solidFill>
                  <a:srgbClr val="CBD5E1"/>
                </a:solidFill>
              </a:rPr>
              <a:t>Heuristic Optimization</a:t>
            </a:r>
            <a:endParaRPr lang="en-US" sz="900" dirty="0"/>
          </a:p>
        </p:txBody>
      </p:sp>
      <p:sp>
        <p:nvSpPr>
          <p:cNvPr id="28" name="Shape 22"/>
          <p:cNvSpPr/>
          <p:nvPr/>
        </p:nvSpPr>
        <p:spPr>
          <a:xfrm>
            <a:off x="7150608" y="1143000"/>
            <a:ext cx="1572768" cy="2377440"/>
          </a:xfrm>
          <a:prstGeom prst="roundRect">
            <a:avLst>
              <a:gd name="adj" fmla="val 8140"/>
            </a:avLst>
          </a:prstGeom>
          <a:solidFill>
            <a:srgbClr val="0F1E35"/>
          </a:solidFill>
          <a:ln w="25400">
            <a:solidFill>
              <a:srgbClr val="00D4A1"/>
            </a:solidFill>
            <a:prstDash val="solid"/>
          </a:ln>
          <a:effectLst>
            <a:outerShdw sx="100000" sy="100000" kx="0" ky="0" algn="bl" rotWithShape="0" blurRad="101600" dist="38100" dir="8100000">
              <a:srgbClr val="000000">
                <a:alpha val="30000"/>
              </a:srgbClr>
            </a:outerShdw>
          </a:effectLst>
        </p:spPr>
      </p:sp>
      <p:sp>
        <p:nvSpPr>
          <p:cNvPr id="29" name="Shape 23"/>
          <p:cNvSpPr/>
          <p:nvPr/>
        </p:nvSpPr>
        <p:spPr>
          <a:xfrm>
            <a:off x="7150608" y="1143000"/>
            <a:ext cx="1572768" cy="274320"/>
          </a:xfrm>
          <a:prstGeom prst="rect">
            <a:avLst/>
          </a:prstGeom>
          <a:solidFill>
            <a:srgbClr val="00D4A1">
              <a:alpha val="70000"/>
            </a:srgbClr>
          </a:solidFill>
          <a:ln w="12700">
            <a:solidFill>
              <a:srgbClr val="00D4A1">
                <a:alpha val="70000"/>
              </a:srgbClr>
            </a:solidFill>
            <a:prstDash val="solid"/>
          </a:ln>
        </p:spPr>
      </p:sp>
      <p:pic>
        <p:nvPicPr>
          <p:cNvPr id="30" name="Image 4" descr="preencoded.png">    </p:cNvPr>
          <p:cNvPicPr>
            <a:picLocks noChangeAspect="1"/>
          </p:cNvPicPr>
          <p:nvPr/>
        </p:nvPicPr>
        <p:blipFill>
          <a:blip r:embed="rId5"/>
          <a:stretch>
            <a:fillRect/>
          </a:stretch>
        </p:blipFill>
        <p:spPr>
          <a:xfrm>
            <a:off x="7708392" y="1463040"/>
            <a:ext cx="457200" cy="457200"/>
          </a:xfrm>
          <a:prstGeom prst="rect">
            <a:avLst/>
          </a:prstGeom>
        </p:spPr>
      </p:pic>
      <p:sp>
        <p:nvSpPr>
          <p:cNvPr id="31" name="Text 24"/>
          <p:cNvSpPr/>
          <p:nvPr/>
        </p:nvSpPr>
        <p:spPr>
          <a:xfrm>
            <a:off x="7150608" y="1984248"/>
            <a:ext cx="1572768" cy="320040"/>
          </a:xfrm>
          <a:prstGeom prst="rect">
            <a:avLst/>
          </a:prstGeom>
          <a:noFill/>
          <a:ln/>
        </p:spPr>
        <p:txBody>
          <a:bodyPr wrap="square" rtlCol="0" anchor="ctr"/>
          <a:lstStyle/>
          <a:p>
            <a:pPr algn="ctr" indent="0" marL="0">
              <a:buNone/>
            </a:pPr>
            <a:r>
              <a:rPr lang="en-US" sz="1100" b="1" dirty="0">
                <a:solidFill>
                  <a:srgbClr val="FFFFFF"/>
                </a:solidFill>
              </a:rPr>
              <a:t>CNN / ONNX</a:t>
            </a:r>
            <a:endParaRPr lang="en-US" sz="1100" dirty="0"/>
          </a:p>
        </p:txBody>
      </p:sp>
      <p:sp>
        <p:nvSpPr>
          <p:cNvPr id="32" name="Text 25"/>
          <p:cNvSpPr/>
          <p:nvPr/>
        </p:nvSpPr>
        <p:spPr>
          <a:xfrm>
            <a:off x="7150608" y="2331720"/>
            <a:ext cx="1572768" cy="731520"/>
          </a:xfrm>
          <a:prstGeom prst="rect">
            <a:avLst/>
          </a:prstGeom>
          <a:noFill/>
          <a:ln/>
        </p:spPr>
        <p:txBody>
          <a:bodyPr wrap="square" rtlCol="0" anchor="ctr"/>
          <a:lstStyle/>
          <a:p>
            <a:pPr algn="ctr" indent="0" marL="0">
              <a:buNone/>
            </a:pPr>
            <a:r>
              <a:rPr lang="en-US" sz="900" dirty="0">
                <a:solidFill>
                  <a:srgbClr val="CBD5E1"/>
                </a:solidFill>
              </a:rPr>
              <a:t>CLEAN vs STEGO</a:t>
            </a:r>
            <a:endParaRPr lang="en-US" sz="900" dirty="0"/>
          </a:p>
          <a:p>
            <a:pPr algn="ctr" indent="0" marL="0">
              <a:buNone/>
            </a:pPr>
            <a:r>
              <a:rPr lang="en-US" sz="900" dirty="0">
                <a:solidFill>
                  <a:srgbClr val="CBD5E1"/>
                </a:solidFill>
              </a:rPr>
              <a:t>Binary Detection Only</a:t>
            </a:r>
            <a:endParaRPr lang="en-US" sz="900" dirty="0"/>
          </a:p>
        </p:txBody>
      </p:sp>
      <p:sp>
        <p:nvSpPr>
          <p:cNvPr id="33" name="Shape 26"/>
          <p:cNvSpPr/>
          <p:nvPr/>
        </p:nvSpPr>
        <p:spPr>
          <a:xfrm>
            <a:off x="1847088" y="2331720"/>
            <a:ext cx="146304" cy="0"/>
          </a:xfrm>
          <a:prstGeom prst="line">
            <a:avLst/>
          </a:prstGeom>
          <a:noFill/>
          <a:ln w="25400">
            <a:solidFill>
              <a:srgbClr val="00E5FF"/>
            </a:solidFill>
            <a:prstDash val="solid"/>
            <a:tailEnd type="triangle"/>
          </a:ln>
        </p:spPr>
      </p:sp>
      <p:sp>
        <p:nvSpPr>
          <p:cNvPr id="34" name="Shape 27"/>
          <p:cNvSpPr/>
          <p:nvPr/>
        </p:nvSpPr>
        <p:spPr>
          <a:xfrm>
            <a:off x="3566160" y="2331720"/>
            <a:ext cx="146304" cy="0"/>
          </a:xfrm>
          <a:prstGeom prst="line">
            <a:avLst/>
          </a:prstGeom>
          <a:noFill/>
          <a:ln w="25400">
            <a:solidFill>
              <a:srgbClr val="00E5FF"/>
            </a:solidFill>
            <a:prstDash val="solid"/>
            <a:tailEnd type="triangle"/>
          </a:ln>
        </p:spPr>
      </p:sp>
      <p:sp>
        <p:nvSpPr>
          <p:cNvPr id="35" name="Shape 28"/>
          <p:cNvSpPr/>
          <p:nvPr/>
        </p:nvSpPr>
        <p:spPr>
          <a:xfrm>
            <a:off x="5285232" y="2331720"/>
            <a:ext cx="146304" cy="0"/>
          </a:xfrm>
          <a:prstGeom prst="line">
            <a:avLst/>
          </a:prstGeom>
          <a:noFill/>
          <a:ln w="25400">
            <a:solidFill>
              <a:srgbClr val="00E5FF"/>
            </a:solidFill>
            <a:prstDash val="solid"/>
            <a:tailEnd type="triangle"/>
          </a:ln>
        </p:spPr>
      </p:sp>
      <p:sp>
        <p:nvSpPr>
          <p:cNvPr id="36" name="Shape 29"/>
          <p:cNvSpPr/>
          <p:nvPr/>
        </p:nvSpPr>
        <p:spPr>
          <a:xfrm>
            <a:off x="7004304" y="2331720"/>
            <a:ext cx="146304" cy="0"/>
          </a:xfrm>
          <a:prstGeom prst="line">
            <a:avLst/>
          </a:prstGeom>
          <a:noFill/>
          <a:ln w="25400">
            <a:solidFill>
              <a:srgbClr val="00E5FF"/>
            </a:solidFill>
            <a:prstDash val="solid"/>
            <a:tailEnd type="triangle"/>
          </a:ln>
        </p:spPr>
      </p:sp>
      <p:sp>
        <p:nvSpPr>
          <p:cNvPr id="37" name="Shape 30"/>
          <p:cNvSpPr/>
          <p:nvPr/>
        </p:nvSpPr>
        <p:spPr>
          <a:xfrm>
            <a:off x="457200" y="3703320"/>
            <a:ext cx="8229600" cy="502920"/>
          </a:xfrm>
          <a:prstGeom prst="roundRect">
            <a:avLst>
              <a:gd name="adj" fmla="val 14545"/>
            </a:avLst>
          </a:prstGeom>
          <a:solidFill>
            <a:srgbClr val="0A1F3A"/>
          </a:solidFill>
          <a:ln w="12700">
            <a:solidFill>
              <a:srgbClr val="00E5FF"/>
            </a:solidFill>
            <a:prstDash val="solid"/>
          </a:ln>
        </p:spPr>
      </p:sp>
      <p:sp>
        <p:nvSpPr>
          <p:cNvPr id="38" name="Text 31"/>
          <p:cNvSpPr/>
          <p:nvPr/>
        </p:nvSpPr>
        <p:spPr>
          <a:xfrm>
            <a:off x="548640" y="3730752"/>
            <a:ext cx="8046720" cy="438912"/>
          </a:xfrm>
          <a:prstGeom prst="rect">
            <a:avLst/>
          </a:prstGeom>
          <a:noFill/>
          <a:ln/>
        </p:spPr>
        <p:txBody>
          <a:bodyPr wrap="square" rtlCol="0" anchor="ctr"/>
          <a:lstStyle/>
          <a:p>
            <a:pPr indent="0" marL="0">
              <a:buNone/>
            </a:pPr>
            <a:r>
              <a:rPr lang="en-US" sz="1000" b="1" dirty="0">
                <a:solidFill>
                  <a:srgbClr val="00E5FF"/>
                </a:solidFill>
              </a:rPr>
              <a:t>⚠  Key Principle: </a:t>
            </a:r>
            <a:pPr indent="0" marL="0">
              <a:buNone/>
            </a:pPr>
            <a:r>
              <a:rPr lang="en-US" sz="1000" dirty="0">
                <a:solidFill>
                  <a:srgbClr val="CBD5E1"/>
                </a:solidFill>
              </a:rPr>
              <a:t>Each module operates independently. ML detection does NOT embed. JUNIWARD is NOT machine learning. FastAPI is orchestration ONLY.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090F"/>
          </a:solidFill>
          <a:ln w="12700">
            <a:solidFill>
              <a:srgbClr val="07090F"/>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0" y="0"/>
            <a:ext cx="9144000" cy="5143500"/>
          </a:xfrm>
          <a:prstGeom prst="rect">
            <a:avLst/>
          </a:prstGeom>
          <a:solidFill>
            <a:srgbClr val="081428">
              <a:alpha val="40000"/>
            </a:srgbClr>
          </a:solidFill>
          <a:ln w="12700">
            <a:solidFill>
              <a:srgbClr val="081428">
                <a:alpha val="40000"/>
              </a:srgbClr>
            </a:solidFill>
            <a:prstDash val="solid"/>
          </a:ln>
        </p:spPr>
      </p:sp>
      <p:sp>
        <p:nvSpPr>
          <p:cNvPr id="5" name="Shape 3"/>
          <p:cNvSpPr/>
          <p:nvPr/>
        </p:nvSpPr>
        <p:spPr>
          <a:xfrm>
            <a:off x="457200" y="256032"/>
            <a:ext cx="1463040" cy="256032"/>
          </a:xfrm>
          <a:prstGeom prst="rect">
            <a:avLst/>
          </a:prstGeom>
          <a:solidFill>
            <a:srgbClr val="00E5FF"/>
          </a:solidFill>
          <a:ln w="12700">
            <a:solidFill>
              <a:srgbClr val="00E5FF"/>
            </a:solidFill>
            <a:prstDash val="solid"/>
          </a:ln>
        </p:spPr>
      </p:sp>
      <p:sp>
        <p:nvSpPr>
          <p:cNvPr id="6" name="Text 4"/>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PROBLEM</a:t>
            </a:r>
            <a:endParaRPr lang="en-US" sz="900" dirty="0"/>
          </a:p>
        </p:txBody>
      </p:sp>
      <p:sp>
        <p:nvSpPr>
          <p:cNvPr id="7" name="Text 5"/>
          <p:cNvSpPr/>
          <p:nvPr/>
        </p:nvSpPr>
        <p:spPr>
          <a:xfrm>
            <a:off x="2103120" y="182880"/>
            <a:ext cx="6400800" cy="438912"/>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Problem Statement</a:t>
            </a:r>
            <a:endParaRPr lang="en-US" sz="2800" dirty="0"/>
          </a:p>
        </p:txBody>
      </p:sp>
      <p:sp>
        <p:nvSpPr>
          <p:cNvPr id="8" name="Shape 6"/>
          <p:cNvSpPr/>
          <p:nvPr/>
        </p:nvSpPr>
        <p:spPr>
          <a:xfrm>
            <a:off x="365760" y="822960"/>
            <a:ext cx="5120640" cy="1097280"/>
          </a:xfrm>
          <a:prstGeom prst="roundRect">
            <a:avLst>
              <a:gd name="adj" fmla="val 8333"/>
            </a:avLst>
          </a:prstGeom>
          <a:solidFill>
            <a:srgbClr val="0F1E35"/>
          </a:solidFill>
          <a:ln w="25400">
            <a:solidFill>
              <a:srgbClr val="FF3B5C"/>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365760" y="822960"/>
            <a:ext cx="201168" cy="1097280"/>
          </a:xfrm>
          <a:prstGeom prst="rect">
            <a:avLst/>
          </a:prstGeom>
          <a:solidFill>
            <a:srgbClr val="FF3B5C"/>
          </a:solidFill>
          <a:ln w="12700">
            <a:solidFill>
              <a:srgbClr val="FF3B5C"/>
            </a:solidFill>
            <a:prstDash val="solid"/>
          </a:ln>
        </p:spPr>
      </p:sp>
      <p:pic>
        <p:nvPicPr>
          <p:cNvPr id="10" name="Image 0" descr="preencoded.png">    </p:cNvPr>
          <p:cNvPicPr>
            <a:picLocks noChangeAspect="1"/>
          </p:cNvPicPr>
          <p:nvPr/>
        </p:nvPicPr>
        <p:blipFill>
          <a:blip r:embed="rId1"/>
          <a:stretch>
            <a:fillRect/>
          </a:stretch>
        </p:blipFill>
        <p:spPr>
          <a:xfrm>
            <a:off x="640080" y="1143000"/>
            <a:ext cx="438912" cy="438912"/>
          </a:xfrm>
          <a:prstGeom prst="rect">
            <a:avLst/>
          </a:prstGeom>
        </p:spPr>
      </p:pic>
      <p:sp>
        <p:nvSpPr>
          <p:cNvPr id="11" name="Text 8"/>
          <p:cNvSpPr/>
          <p:nvPr/>
        </p:nvSpPr>
        <p:spPr>
          <a:xfrm>
            <a:off x="1188720" y="914400"/>
            <a:ext cx="4206240" cy="347472"/>
          </a:xfrm>
          <a:prstGeom prst="rect">
            <a:avLst/>
          </a:prstGeom>
          <a:noFill/>
          <a:ln/>
        </p:spPr>
        <p:txBody>
          <a:bodyPr wrap="square" rtlCol="0" anchor="ctr"/>
          <a:lstStyle/>
          <a:p>
            <a:pPr indent="0" marL="0">
              <a:buNone/>
            </a:pPr>
            <a:r>
              <a:rPr lang="en-US" sz="1400" b="1" dirty="0">
                <a:solidFill>
                  <a:srgbClr val="FF3B5C"/>
                </a:solidFill>
              </a:rPr>
              <a:t>Security Gap</a:t>
            </a:r>
            <a:endParaRPr lang="en-US" sz="1400" dirty="0"/>
          </a:p>
        </p:txBody>
      </p:sp>
      <p:sp>
        <p:nvSpPr>
          <p:cNvPr id="12" name="Text 9"/>
          <p:cNvSpPr/>
          <p:nvPr/>
        </p:nvSpPr>
        <p:spPr>
          <a:xfrm>
            <a:off x="1188720" y="1261872"/>
            <a:ext cx="4206240" cy="585216"/>
          </a:xfrm>
          <a:prstGeom prst="rect">
            <a:avLst/>
          </a:prstGeom>
          <a:noFill/>
          <a:ln/>
        </p:spPr>
        <p:txBody>
          <a:bodyPr wrap="square" rtlCol="0" anchor="ctr"/>
          <a:lstStyle/>
          <a:p>
            <a:pPr indent="0" marL="0">
              <a:buNone/>
            </a:pPr>
            <a:r>
              <a:rPr lang="en-US" sz="1000" dirty="0">
                <a:solidFill>
                  <a:srgbClr val="CBD5E1"/>
                </a:solidFill>
              </a:rPr>
              <a:t>Hidden data is rarely encrypted before steganographic embedding — plaintext secrets are vulnerable if stego images are intercepted.</a:t>
            </a:r>
            <a:endParaRPr lang="en-US" sz="1000" dirty="0"/>
          </a:p>
        </p:txBody>
      </p:sp>
      <p:sp>
        <p:nvSpPr>
          <p:cNvPr id="13" name="Shape 10"/>
          <p:cNvSpPr/>
          <p:nvPr/>
        </p:nvSpPr>
        <p:spPr>
          <a:xfrm>
            <a:off x="365760" y="2057400"/>
            <a:ext cx="5120640" cy="1097280"/>
          </a:xfrm>
          <a:prstGeom prst="roundRect">
            <a:avLst>
              <a:gd name="adj" fmla="val 8333"/>
            </a:avLst>
          </a:prstGeom>
          <a:solidFill>
            <a:srgbClr val="0F1E35"/>
          </a:solidFill>
          <a:ln w="25400">
            <a:solidFill>
              <a:srgbClr val="FF6B35"/>
            </a:solidFill>
            <a:prstDash val="solid"/>
          </a:ln>
          <a:effectLst>
            <a:outerShdw sx="100000" sy="100000" kx="0" ky="0" algn="bl" rotWithShape="0" blurRad="101600" dist="38100" dir="8100000">
              <a:srgbClr val="000000">
                <a:alpha val="30000"/>
              </a:srgbClr>
            </a:outerShdw>
          </a:effectLst>
        </p:spPr>
      </p:sp>
      <p:sp>
        <p:nvSpPr>
          <p:cNvPr id="14" name="Shape 11"/>
          <p:cNvSpPr/>
          <p:nvPr/>
        </p:nvSpPr>
        <p:spPr>
          <a:xfrm>
            <a:off x="365760" y="2057400"/>
            <a:ext cx="201168" cy="1097280"/>
          </a:xfrm>
          <a:prstGeom prst="rect">
            <a:avLst/>
          </a:prstGeom>
          <a:solidFill>
            <a:srgbClr val="FF6B35"/>
          </a:solidFill>
          <a:ln w="12700">
            <a:solidFill>
              <a:srgbClr val="FF6B35"/>
            </a:solidFill>
            <a:prstDash val="solid"/>
          </a:ln>
        </p:spPr>
      </p:sp>
      <p:pic>
        <p:nvPicPr>
          <p:cNvPr id="15" name="Image 1" descr="preencoded.png">    </p:cNvPr>
          <p:cNvPicPr>
            <a:picLocks noChangeAspect="1"/>
          </p:cNvPicPr>
          <p:nvPr/>
        </p:nvPicPr>
        <p:blipFill>
          <a:blip r:embed="rId2"/>
          <a:stretch>
            <a:fillRect/>
          </a:stretch>
        </p:blipFill>
        <p:spPr>
          <a:xfrm>
            <a:off x="640080" y="2377440"/>
            <a:ext cx="438912" cy="438912"/>
          </a:xfrm>
          <a:prstGeom prst="rect">
            <a:avLst/>
          </a:prstGeom>
        </p:spPr>
      </p:pic>
      <p:sp>
        <p:nvSpPr>
          <p:cNvPr id="16" name="Text 12"/>
          <p:cNvSpPr/>
          <p:nvPr/>
        </p:nvSpPr>
        <p:spPr>
          <a:xfrm>
            <a:off x="1188720" y="2148840"/>
            <a:ext cx="4206240" cy="347472"/>
          </a:xfrm>
          <a:prstGeom prst="rect">
            <a:avLst/>
          </a:prstGeom>
          <a:noFill/>
          <a:ln/>
        </p:spPr>
        <p:txBody>
          <a:bodyPr wrap="square" rtlCol="0" anchor="ctr"/>
          <a:lstStyle/>
          <a:p>
            <a:pPr indent="0" marL="0">
              <a:buNone/>
            </a:pPr>
            <a:r>
              <a:rPr lang="en-US" sz="1400" b="1" dirty="0">
                <a:solidFill>
                  <a:srgbClr val="FF6B35"/>
                </a:solidFill>
              </a:rPr>
              <a:t>Detection Gap</a:t>
            </a:r>
            <a:endParaRPr lang="en-US" sz="1400" dirty="0"/>
          </a:p>
        </p:txBody>
      </p:sp>
      <p:sp>
        <p:nvSpPr>
          <p:cNvPr id="17" name="Text 13"/>
          <p:cNvSpPr/>
          <p:nvPr/>
        </p:nvSpPr>
        <p:spPr>
          <a:xfrm>
            <a:off x="1188720" y="2496312"/>
            <a:ext cx="4206240" cy="585216"/>
          </a:xfrm>
          <a:prstGeom prst="rect">
            <a:avLst/>
          </a:prstGeom>
          <a:noFill/>
          <a:ln/>
        </p:spPr>
        <p:txBody>
          <a:bodyPr wrap="square" rtlCol="0" anchor="ctr"/>
          <a:lstStyle/>
          <a:p>
            <a:pPr indent="0" marL="0">
              <a:buNone/>
            </a:pPr>
            <a:r>
              <a:rPr lang="en-US" sz="1000" dirty="0">
                <a:solidFill>
                  <a:srgbClr val="CBD5E1"/>
                </a:solidFill>
              </a:rPr>
              <a:t>No reliable forensic tools exist to identify modern adaptive stego content in real operational pipelines.</a:t>
            </a:r>
            <a:endParaRPr lang="en-US" sz="1000" dirty="0"/>
          </a:p>
        </p:txBody>
      </p:sp>
      <p:sp>
        <p:nvSpPr>
          <p:cNvPr id="18" name="Shape 14"/>
          <p:cNvSpPr/>
          <p:nvPr/>
        </p:nvSpPr>
        <p:spPr>
          <a:xfrm>
            <a:off x="365760" y="3291840"/>
            <a:ext cx="5120640" cy="1097280"/>
          </a:xfrm>
          <a:prstGeom prst="roundRect">
            <a:avLst>
              <a:gd name="adj" fmla="val 8333"/>
            </a:avLst>
          </a:prstGeom>
          <a:solidFill>
            <a:srgbClr val="0F1E35"/>
          </a:solidFill>
          <a:ln w="25400">
            <a:solidFill>
              <a:srgbClr val="7B2FFF"/>
            </a:solidFill>
            <a:prstDash val="solid"/>
          </a:ln>
          <a:effectLst>
            <a:outerShdw sx="100000" sy="100000" kx="0" ky="0" algn="bl" rotWithShape="0" blurRad="101600" dist="38100" dir="8100000">
              <a:srgbClr val="000000">
                <a:alpha val="30000"/>
              </a:srgbClr>
            </a:outerShdw>
          </a:effectLst>
        </p:spPr>
      </p:sp>
      <p:sp>
        <p:nvSpPr>
          <p:cNvPr id="19" name="Shape 15"/>
          <p:cNvSpPr/>
          <p:nvPr/>
        </p:nvSpPr>
        <p:spPr>
          <a:xfrm>
            <a:off x="365760" y="3291840"/>
            <a:ext cx="201168" cy="1097280"/>
          </a:xfrm>
          <a:prstGeom prst="rect">
            <a:avLst/>
          </a:prstGeom>
          <a:solidFill>
            <a:srgbClr val="7B2FFF"/>
          </a:solidFill>
          <a:ln w="12700">
            <a:solidFill>
              <a:srgbClr val="7B2FFF"/>
            </a:solidFill>
            <a:prstDash val="solid"/>
          </a:ln>
        </p:spPr>
      </p:sp>
      <p:pic>
        <p:nvPicPr>
          <p:cNvPr id="20" name="Image 2" descr="preencoded.png">    </p:cNvPr>
          <p:cNvPicPr>
            <a:picLocks noChangeAspect="1"/>
          </p:cNvPicPr>
          <p:nvPr/>
        </p:nvPicPr>
        <p:blipFill>
          <a:blip r:embed="rId3"/>
          <a:stretch>
            <a:fillRect/>
          </a:stretch>
        </p:blipFill>
        <p:spPr>
          <a:xfrm>
            <a:off x="640080" y="3611880"/>
            <a:ext cx="438912" cy="438912"/>
          </a:xfrm>
          <a:prstGeom prst="rect">
            <a:avLst/>
          </a:prstGeom>
        </p:spPr>
      </p:pic>
      <p:sp>
        <p:nvSpPr>
          <p:cNvPr id="21" name="Text 16"/>
          <p:cNvSpPr/>
          <p:nvPr/>
        </p:nvSpPr>
        <p:spPr>
          <a:xfrm>
            <a:off x="1188720" y="3383280"/>
            <a:ext cx="4206240" cy="347472"/>
          </a:xfrm>
          <a:prstGeom prst="rect">
            <a:avLst/>
          </a:prstGeom>
          <a:noFill/>
          <a:ln/>
        </p:spPr>
        <p:txBody>
          <a:bodyPr wrap="square" rtlCol="0" anchor="ctr"/>
          <a:lstStyle/>
          <a:p>
            <a:pPr indent="0" marL="0">
              <a:buNone/>
            </a:pPr>
            <a:r>
              <a:rPr lang="en-US" sz="1400" b="1" dirty="0">
                <a:solidFill>
                  <a:srgbClr val="7B2FFF"/>
                </a:solidFill>
              </a:rPr>
              <a:t>Robustness Gap</a:t>
            </a:r>
            <a:endParaRPr lang="en-US" sz="1400" dirty="0"/>
          </a:p>
        </p:txBody>
      </p:sp>
      <p:sp>
        <p:nvSpPr>
          <p:cNvPr id="22" name="Text 17"/>
          <p:cNvSpPr/>
          <p:nvPr/>
        </p:nvSpPr>
        <p:spPr>
          <a:xfrm>
            <a:off x="1188720" y="3730752"/>
            <a:ext cx="4206240" cy="585216"/>
          </a:xfrm>
          <a:prstGeom prst="rect">
            <a:avLst/>
          </a:prstGeom>
          <a:noFill/>
          <a:ln/>
        </p:spPr>
        <p:txBody>
          <a:bodyPr wrap="square" rtlCol="0" anchor="ctr"/>
          <a:lstStyle/>
          <a:p>
            <a:pPr indent="0" marL="0">
              <a:buNone/>
            </a:pPr>
            <a:r>
              <a:rPr lang="en-US" sz="1000" dirty="0">
                <a:solidFill>
                  <a:srgbClr val="CBD5E1"/>
                </a:solidFill>
              </a:rPr>
              <a:t>Simple steganographic methods fail under JPEG compression, resizing, or noise — real-world channels are hostile.</a:t>
            </a:r>
            <a:endParaRPr lang="en-US" sz="1000" dirty="0"/>
          </a:p>
        </p:txBody>
      </p:sp>
      <p:sp>
        <p:nvSpPr>
          <p:cNvPr id="23" name="Shape 18"/>
          <p:cNvSpPr/>
          <p:nvPr/>
        </p:nvSpPr>
        <p:spPr>
          <a:xfrm>
            <a:off x="5760720" y="804672"/>
            <a:ext cx="3108960" cy="3611880"/>
          </a:xfrm>
          <a:prstGeom prst="roundRect">
            <a:avLst>
              <a:gd name="adj" fmla="val 4118"/>
            </a:avLst>
          </a:prstGeom>
          <a:solidFill>
            <a:srgbClr val="091728"/>
          </a:solidFill>
          <a:ln w="25400">
            <a:solidFill>
              <a:srgbClr val="00E5FF"/>
            </a:solidFill>
            <a:prstDash val="solid"/>
          </a:ln>
          <a:effectLst>
            <a:outerShdw sx="100000" sy="100000" kx="0" ky="0" algn="bl" rotWithShape="0" blurRad="101600" dist="38100" dir="8100000">
              <a:srgbClr val="000000">
                <a:alpha val="30000"/>
              </a:srgbClr>
            </a:outerShdw>
          </a:effectLst>
        </p:spPr>
      </p:sp>
      <p:pic>
        <p:nvPicPr>
          <p:cNvPr id="24" name="Image 3" descr="preencoded.png">    </p:cNvPr>
          <p:cNvPicPr>
            <a:picLocks noChangeAspect="1"/>
          </p:cNvPicPr>
          <p:nvPr/>
        </p:nvPicPr>
        <p:blipFill>
          <a:blip r:embed="rId4"/>
          <a:stretch>
            <a:fillRect/>
          </a:stretch>
        </p:blipFill>
        <p:spPr>
          <a:xfrm>
            <a:off x="6858000" y="960120"/>
            <a:ext cx="914400" cy="914400"/>
          </a:xfrm>
          <a:prstGeom prst="rect">
            <a:avLst/>
          </a:prstGeom>
        </p:spPr>
      </p:pic>
      <p:sp>
        <p:nvSpPr>
          <p:cNvPr id="25" name="Text 19"/>
          <p:cNvSpPr/>
          <p:nvPr/>
        </p:nvSpPr>
        <p:spPr>
          <a:xfrm>
            <a:off x="5852160" y="1920240"/>
            <a:ext cx="2926080" cy="640080"/>
          </a:xfrm>
          <a:prstGeom prst="rect">
            <a:avLst/>
          </a:prstGeom>
          <a:noFill/>
          <a:ln/>
        </p:spPr>
        <p:txBody>
          <a:bodyPr wrap="square" rtlCol="0" anchor="ctr"/>
          <a:lstStyle/>
          <a:p>
            <a:pPr algn="ctr" indent="0" marL="0">
              <a:buNone/>
            </a:pPr>
            <a:r>
              <a:rPr lang="en-US" sz="1300" b="1" dirty="0">
                <a:solidFill>
                  <a:srgbClr val="00E5FF"/>
                </a:solidFill>
              </a:rPr>
              <a:t>StegoShield</a:t>
            </a:r>
            <a:endParaRPr lang="en-US" sz="1300" dirty="0"/>
          </a:p>
          <a:p>
            <a:pPr algn="ctr" indent="0" marL="0">
              <a:buNone/>
            </a:pPr>
            <a:r>
              <a:rPr lang="en-US" sz="1300" b="1" dirty="0">
                <a:solidFill>
                  <a:srgbClr val="00E5FF"/>
                </a:solidFill>
              </a:rPr>
              <a:t>Answers All Three</a:t>
            </a:r>
            <a:endParaRPr lang="en-US" sz="1300" dirty="0"/>
          </a:p>
        </p:txBody>
      </p:sp>
      <p:pic>
        <p:nvPicPr>
          <p:cNvPr id="26" name="Image 4" descr="preencoded.png">    </p:cNvPr>
          <p:cNvPicPr>
            <a:picLocks noChangeAspect="1"/>
          </p:cNvPicPr>
          <p:nvPr/>
        </p:nvPicPr>
        <p:blipFill>
          <a:blip r:embed="rId5"/>
          <a:stretch>
            <a:fillRect/>
          </a:stretch>
        </p:blipFill>
        <p:spPr>
          <a:xfrm>
            <a:off x="5943600" y="2670048"/>
            <a:ext cx="256032" cy="256032"/>
          </a:xfrm>
          <a:prstGeom prst="rect">
            <a:avLst/>
          </a:prstGeom>
        </p:spPr>
      </p:pic>
      <p:sp>
        <p:nvSpPr>
          <p:cNvPr id="27" name="Text 20"/>
          <p:cNvSpPr/>
          <p:nvPr/>
        </p:nvSpPr>
        <p:spPr>
          <a:xfrm>
            <a:off x="6291072" y="2651760"/>
            <a:ext cx="2468880" cy="292608"/>
          </a:xfrm>
          <a:prstGeom prst="rect">
            <a:avLst/>
          </a:prstGeom>
          <a:noFill/>
          <a:ln/>
        </p:spPr>
        <p:txBody>
          <a:bodyPr wrap="square" rtlCol="0" anchor="ctr"/>
          <a:lstStyle/>
          <a:p>
            <a:pPr indent="0" marL="0">
              <a:buNone/>
            </a:pPr>
            <a:r>
              <a:rPr lang="en-US" sz="1000" dirty="0">
                <a:solidFill>
                  <a:srgbClr val="CBD5E1"/>
                </a:solidFill>
              </a:rPr>
              <a:t>AES-256-CBC closes Security Gap</a:t>
            </a:r>
            <a:endParaRPr lang="en-US" sz="1000" dirty="0"/>
          </a:p>
        </p:txBody>
      </p:sp>
      <p:pic>
        <p:nvPicPr>
          <p:cNvPr id="28" name="Image 5" descr="preencoded.png">    </p:cNvPr>
          <p:cNvPicPr>
            <a:picLocks noChangeAspect="1"/>
          </p:cNvPicPr>
          <p:nvPr/>
        </p:nvPicPr>
        <p:blipFill>
          <a:blip r:embed="rId6"/>
          <a:stretch>
            <a:fillRect/>
          </a:stretch>
        </p:blipFill>
        <p:spPr>
          <a:xfrm>
            <a:off x="5943600" y="3172968"/>
            <a:ext cx="256032" cy="256032"/>
          </a:xfrm>
          <a:prstGeom prst="rect">
            <a:avLst/>
          </a:prstGeom>
        </p:spPr>
      </p:pic>
      <p:sp>
        <p:nvSpPr>
          <p:cNvPr id="29" name="Text 21"/>
          <p:cNvSpPr/>
          <p:nvPr/>
        </p:nvSpPr>
        <p:spPr>
          <a:xfrm>
            <a:off x="6291072" y="3154680"/>
            <a:ext cx="2468880" cy="292608"/>
          </a:xfrm>
          <a:prstGeom prst="rect">
            <a:avLst/>
          </a:prstGeom>
          <a:noFill/>
          <a:ln/>
        </p:spPr>
        <p:txBody>
          <a:bodyPr wrap="square" rtlCol="0" anchor="ctr"/>
          <a:lstStyle/>
          <a:p>
            <a:pPr indent="0" marL="0">
              <a:buNone/>
            </a:pPr>
            <a:r>
              <a:rPr lang="en-US" sz="1000" dirty="0">
                <a:solidFill>
                  <a:srgbClr val="CBD5E1"/>
                </a:solidFill>
              </a:rPr>
              <a:t>CNN/ONNX closes Detection Gap</a:t>
            </a:r>
            <a:endParaRPr lang="en-US" sz="1000" dirty="0"/>
          </a:p>
        </p:txBody>
      </p:sp>
      <p:pic>
        <p:nvPicPr>
          <p:cNvPr id="30" name="Image 6" descr="preencoded.png">    </p:cNvPr>
          <p:cNvPicPr>
            <a:picLocks noChangeAspect="1"/>
          </p:cNvPicPr>
          <p:nvPr/>
        </p:nvPicPr>
        <p:blipFill>
          <a:blip r:embed="rId7"/>
          <a:stretch>
            <a:fillRect/>
          </a:stretch>
        </p:blipFill>
        <p:spPr>
          <a:xfrm>
            <a:off x="5943600" y="3675888"/>
            <a:ext cx="256032" cy="256032"/>
          </a:xfrm>
          <a:prstGeom prst="rect">
            <a:avLst/>
          </a:prstGeom>
        </p:spPr>
      </p:pic>
      <p:sp>
        <p:nvSpPr>
          <p:cNvPr id="31" name="Text 22"/>
          <p:cNvSpPr/>
          <p:nvPr/>
        </p:nvSpPr>
        <p:spPr>
          <a:xfrm>
            <a:off x="6291072" y="3657600"/>
            <a:ext cx="2468880" cy="292608"/>
          </a:xfrm>
          <a:prstGeom prst="rect">
            <a:avLst/>
          </a:prstGeom>
          <a:noFill/>
          <a:ln/>
        </p:spPr>
        <p:txBody>
          <a:bodyPr wrap="square" rtlCol="0" anchor="ctr"/>
          <a:lstStyle/>
          <a:p>
            <a:pPr indent="0" marL="0">
              <a:buNone/>
            </a:pPr>
            <a:r>
              <a:rPr lang="en-US" sz="1000" dirty="0">
                <a:solidFill>
                  <a:srgbClr val="CBD5E1"/>
                </a:solidFill>
              </a:rPr>
              <a:t>JUNIWARD closes Robustness Gap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w="12700">
            <a:solidFill>
              <a:srgbClr val="0B1220"/>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457200" y="256032"/>
            <a:ext cx="1463040" cy="256032"/>
          </a:xfrm>
          <a:prstGeom prst="rect">
            <a:avLst/>
          </a:prstGeom>
          <a:solidFill>
            <a:srgbClr val="00E5FF"/>
          </a:solidFill>
          <a:ln w="12700">
            <a:solidFill>
              <a:srgbClr val="00E5FF"/>
            </a:solidFill>
            <a:prstDash val="solid"/>
          </a:ln>
        </p:spPr>
      </p:sp>
      <p:sp>
        <p:nvSpPr>
          <p:cNvPr id="5" name="Text 3"/>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OBJECTIVES</a:t>
            </a:r>
            <a:endParaRPr lang="en-US" sz="900" dirty="0"/>
          </a:p>
        </p:txBody>
      </p:sp>
      <p:sp>
        <p:nvSpPr>
          <p:cNvPr id="6" name="Text 4"/>
          <p:cNvSpPr/>
          <p:nvPr/>
        </p:nvSpPr>
        <p:spPr>
          <a:xfrm>
            <a:off x="2103120" y="182880"/>
            <a:ext cx="6400800" cy="438912"/>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Project Objectives</a:t>
            </a:r>
            <a:endParaRPr lang="en-US" sz="2800" dirty="0"/>
          </a:p>
        </p:txBody>
      </p:sp>
      <p:sp>
        <p:nvSpPr>
          <p:cNvPr id="7" name="Shape 5"/>
          <p:cNvSpPr/>
          <p:nvPr/>
        </p:nvSpPr>
        <p:spPr>
          <a:xfrm>
            <a:off x="320040" y="804672"/>
            <a:ext cx="4114800" cy="1207008"/>
          </a:xfrm>
          <a:prstGeom prst="roundRect">
            <a:avLst>
              <a:gd name="adj" fmla="val 7576"/>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8" name="Shape 6"/>
          <p:cNvSpPr/>
          <p:nvPr/>
        </p:nvSpPr>
        <p:spPr>
          <a:xfrm>
            <a:off x="320040" y="804672"/>
            <a:ext cx="502920" cy="1207008"/>
          </a:xfrm>
          <a:prstGeom prst="rect">
            <a:avLst/>
          </a:prstGeom>
          <a:solidFill>
            <a:srgbClr val="00E5FF">
              <a:alpha val="85000"/>
            </a:srgbClr>
          </a:solidFill>
          <a:ln w="12700">
            <a:solidFill>
              <a:srgbClr val="00E5FF">
                <a:alpha val="85000"/>
              </a:srgbClr>
            </a:solidFill>
            <a:prstDash val="solid"/>
          </a:ln>
        </p:spPr>
      </p:sp>
      <p:sp>
        <p:nvSpPr>
          <p:cNvPr id="9" name="Text 7"/>
          <p:cNvSpPr/>
          <p:nvPr/>
        </p:nvSpPr>
        <p:spPr>
          <a:xfrm>
            <a:off x="320040" y="1188720"/>
            <a:ext cx="502920" cy="365760"/>
          </a:xfrm>
          <a:prstGeom prst="rect">
            <a:avLst/>
          </a:prstGeom>
          <a:noFill/>
          <a:ln/>
        </p:spPr>
        <p:txBody>
          <a:bodyPr wrap="square" rtlCol="0" anchor="ctr"/>
          <a:lstStyle/>
          <a:p>
            <a:pPr algn="ctr" indent="0" marL="0">
              <a:buNone/>
            </a:pPr>
            <a:r>
              <a:rPr lang="en-US" sz="1200" b="1" dirty="0">
                <a:solidFill>
                  <a:srgbClr val="07090F"/>
                </a:solidFill>
              </a:rPr>
              <a:t>O1</a:t>
            </a:r>
            <a:endParaRPr lang="en-US" sz="1200" dirty="0"/>
          </a:p>
        </p:txBody>
      </p:sp>
      <p:sp>
        <p:nvSpPr>
          <p:cNvPr id="10" name="Shape 8"/>
          <p:cNvSpPr/>
          <p:nvPr/>
        </p:nvSpPr>
        <p:spPr>
          <a:xfrm>
            <a:off x="3337560" y="877824"/>
            <a:ext cx="987552" cy="237744"/>
          </a:xfrm>
          <a:prstGeom prst="roundRect">
            <a:avLst>
              <a:gd name="adj" fmla="val 15385"/>
            </a:avLst>
          </a:prstGeom>
          <a:solidFill>
            <a:srgbClr val="FF3B5C"/>
          </a:solidFill>
          <a:ln w="12700">
            <a:solidFill>
              <a:srgbClr val="FFFFFF">
                <a:alpha val="20000"/>
              </a:srgbClr>
            </a:solidFill>
            <a:prstDash val="solid"/>
          </a:ln>
        </p:spPr>
      </p:sp>
      <p:sp>
        <p:nvSpPr>
          <p:cNvPr id="11" name="Text 9"/>
          <p:cNvSpPr/>
          <p:nvPr/>
        </p:nvSpPr>
        <p:spPr>
          <a:xfrm>
            <a:off x="3337560" y="877824"/>
            <a:ext cx="987552" cy="237744"/>
          </a:xfrm>
          <a:prstGeom prst="rect">
            <a:avLst/>
          </a:prstGeom>
          <a:noFill/>
          <a:ln/>
        </p:spPr>
        <p:txBody>
          <a:bodyPr wrap="square" rtlCol="0" anchor="ctr"/>
          <a:lstStyle/>
          <a:p>
            <a:pPr algn="ctr" indent="0" marL="0">
              <a:buNone/>
            </a:pPr>
            <a:r>
              <a:rPr lang="en-US" sz="750" b="1" dirty="0">
                <a:solidFill>
                  <a:srgbClr val="FFFFFF"/>
                </a:solidFill>
              </a:rPr>
              <a:t>CRITICAL</a:t>
            </a:r>
            <a:endParaRPr lang="en-US" sz="750" dirty="0"/>
          </a:p>
        </p:txBody>
      </p:sp>
      <p:sp>
        <p:nvSpPr>
          <p:cNvPr id="12" name="Text 10"/>
          <p:cNvSpPr/>
          <p:nvPr/>
        </p:nvSpPr>
        <p:spPr>
          <a:xfrm>
            <a:off x="914400" y="896112"/>
            <a:ext cx="3383280" cy="347472"/>
          </a:xfrm>
          <a:prstGeom prst="rect">
            <a:avLst/>
          </a:prstGeom>
          <a:noFill/>
          <a:ln/>
        </p:spPr>
        <p:txBody>
          <a:bodyPr wrap="square" rtlCol="0" anchor="ctr"/>
          <a:lstStyle/>
          <a:p>
            <a:pPr indent="0" marL="0">
              <a:buNone/>
            </a:pPr>
            <a:r>
              <a:rPr lang="en-US" sz="1150" b="1" dirty="0">
                <a:solidFill>
                  <a:srgbClr val="FFFFFF"/>
                </a:solidFill>
              </a:rPr>
              <a:t>AES-256 Encryption/Decryption</a:t>
            </a:r>
            <a:endParaRPr lang="en-US" sz="1150" dirty="0"/>
          </a:p>
        </p:txBody>
      </p:sp>
      <p:sp>
        <p:nvSpPr>
          <p:cNvPr id="13" name="Text 11"/>
          <p:cNvSpPr/>
          <p:nvPr/>
        </p:nvSpPr>
        <p:spPr>
          <a:xfrm>
            <a:off x="914400" y="1243584"/>
            <a:ext cx="3383280" cy="685800"/>
          </a:xfrm>
          <a:prstGeom prst="rect">
            <a:avLst/>
          </a:prstGeom>
          <a:noFill/>
          <a:ln/>
        </p:spPr>
        <p:txBody>
          <a:bodyPr wrap="square" rtlCol="0" anchor="ctr"/>
          <a:lstStyle/>
          <a:p>
            <a:pPr indent="0" marL="0">
              <a:buNone/>
            </a:pPr>
            <a:r>
              <a:rPr lang="en-US" sz="900" dirty="0">
                <a:solidFill>
                  <a:srgbClr val="CBD5E1"/>
                </a:solidFill>
              </a:rPr>
              <a:t>Encrypt messages before embedding; decrypt on extraction using PyCryptodome AES-CBC with PKCS7 padding.</a:t>
            </a:r>
            <a:endParaRPr lang="en-US" sz="900" dirty="0"/>
          </a:p>
        </p:txBody>
      </p:sp>
      <p:sp>
        <p:nvSpPr>
          <p:cNvPr id="14" name="Shape 12"/>
          <p:cNvSpPr/>
          <p:nvPr/>
        </p:nvSpPr>
        <p:spPr>
          <a:xfrm>
            <a:off x="4709160" y="804672"/>
            <a:ext cx="4114800" cy="1207008"/>
          </a:xfrm>
          <a:prstGeom prst="roundRect">
            <a:avLst>
              <a:gd name="adj" fmla="val 7576"/>
            </a:avLst>
          </a:prstGeom>
          <a:solidFill>
            <a:srgbClr val="0F1E35"/>
          </a:solidFill>
          <a:ln w="19050">
            <a:solidFill>
              <a:srgbClr val="FF6B35"/>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4709160" y="804672"/>
            <a:ext cx="502920" cy="1207008"/>
          </a:xfrm>
          <a:prstGeom prst="rect">
            <a:avLst/>
          </a:prstGeom>
          <a:solidFill>
            <a:srgbClr val="FF6B35">
              <a:alpha val="85000"/>
            </a:srgbClr>
          </a:solidFill>
          <a:ln w="12700">
            <a:solidFill>
              <a:srgbClr val="FF6B35">
                <a:alpha val="85000"/>
              </a:srgbClr>
            </a:solidFill>
            <a:prstDash val="solid"/>
          </a:ln>
        </p:spPr>
      </p:sp>
      <p:sp>
        <p:nvSpPr>
          <p:cNvPr id="16" name="Text 14"/>
          <p:cNvSpPr/>
          <p:nvPr/>
        </p:nvSpPr>
        <p:spPr>
          <a:xfrm>
            <a:off x="4709160" y="1188720"/>
            <a:ext cx="502920" cy="365760"/>
          </a:xfrm>
          <a:prstGeom prst="rect">
            <a:avLst/>
          </a:prstGeom>
          <a:noFill/>
          <a:ln/>
        </p:spPr>
        <p:txBody>
          <a:bodyPr wrap="square" rtlCol="0" anchor="ctr"/>
          <a:lstStyle/>
          <a:p>
            <a:pPr algn="ctr" indent="0" marL="0">
              <a:buNone/>
            </a:pPr>
            <a:r>
              <a:rPr lang="en-US" sz="1200" b="1" dirty="0">
                <a:solidFill>
                  <a:srgbClr val="07090F"/>
                </a:solidFill>
              </a:rPr>
              <a:t>O2</a:t>
            </a:r>
            <a:endParaRPr lang="en-US" sz="1200" dirty="0"/>
          </a:p>
        </p:txBody>
      </p:sp>
      <p:sp>
        <p:nvSpPr>
          <p:cNvPr id="17" name="Shape 15"/>
          <p:cNvSpPr/>
          <p:nvPr/>
        </p:nvSpPr>
        <p:spPr>
          <a:xfrm>
            <a:off x="7726680" y="877824"/>
            <a:ext cx="987552" cy="237744"/>
          </a:xfrm>
          <a:prstGeom prst="roundRect">
            <a:avLst>
              <a:gd name="adj" fmla="val 15385"/>
            </a:avLst>
          </a:prstGeom>
          <a:solidFill>
            <a:srgbClr val="FF3B5C"/>
          </a:solidFill>
          <a:ln w="12700">
            <a:solidFill>
              <a:srgbClr val="FFFFFF">
                <a:alpha val="20000"/>
              </a:srgbClr>
            </a:solidFill>
            <a:prstDash val="solid"/>
          </a:ln>
        </p:spPr>
      </p:sp>
      <p:sp>
        <p:nvSpPr>
          <p:cNvPr id="18" name="Text 16"/>
          <p:cNvSpPr/>
          <p:nvPr/>
        </p:nvSpPr>
        <p:spPr>
          <a:xfrm>
            <a:off x="7726680" y="877824"/>
            <a:ext cx="987552" cy="237744"/>
          </a:xfrm>
          <a:prstGeom prst="rect">
            <a:avLst/>
          </a:prstGeom>
          <a:noFill/>
          <a:ln/>
        </p:spPr>
        <p:txBody>
          <a:bodyPr wrap="square" rtlCol="0" anchor="ctr"/>
          <a:lstStyle/>
          <a:p>
            <a:pPr algn="ctr" indent="0" marL="0">
              <a:buNone/>
            </a:pPr>
            <a:r>
              <a:rPr lang="en-US" sz="750" b="1" dirty="0">
                <a:solidFill>
                  <a:srgbClr val="FFFFFF"/>
                </a:solidFill>
              </a:rPr>
              <a:t>CRITICAL</a:t>
            </a:r>
            <a:endParaRPr lang="en-US" sz="750" dirty="0"/>
          </a:p>
        </p:txBody>
      </p:sp>
      <p:sp>
        <p:nvSpPr>
          <p:cNvPr id="19" name="Text 17"/>
          <p:cNvSpPr/>
          <p:nvPr/>
        </p:nvSpPr>
        <p:spPr>
          <a:xfrm>
            <a:off x="5303520" y="896112"/>
            <a:ext cx="3383280" cy="347472"/>
          </a:xfrm>
          <a:prstGeom prst="rect">
            <a:avLst/>
          </a:prstGeom>
          <a:noFill/>
          <a:ln/>
        </p:spPr>
        <p:txBody>
          <a:bodyPr wrap="square" rtlCol="0" anchor="ctr"/>
          <a:lstStyle/>
          <a:p>
            <a:pPr indent="0" marL="0">
              <a:buNone/>
            </a:pPr>
            <a:r>
              <a:rPr lang="en-US" sz="1150" b="1" dirty="0">
                <a:solidFill>
                  <a:srgbClr val="FFFFFF"/>
                </a:solidFill>
              </a:rPr>
              <a:t>JUNIWARD Embed / Extract</a:t>
            </a:r>
            <a:endParaRPr lang="en-US" sz="1150" dirty="0"/>
          </a:p>
        </p:txBody>
      </p:sp>
      <p:sp>
        <p:nvSpPr>
          <p:cNvPr id="20" name="Text 18"/>
          <p:cNvSpPr/>
          <p:nvPr/>
        </p:nvSpPr>
        <p:spPr>
          <a:xfrm>
            <a:off x="5303520" y="1243584"/>
            <a:ext cx="3383280" cy="685800"/>
          </a:xfrm>
          <a:prstGeom prst="rect">
            <a:avLst/>
          </a:prstGeom>
          <a:noFill/>
          <a:ln/>
        </p:spPr>
        <p:txBody>
          <a:bodyPr wrap="square" rtlCol="0" anchor="ctr"/>
          <a:lstStyle/>
          <a:p>
            <a:pPr indent="0" marL="0">
              <a:buNone/>
            </a:pPr>
            <a:r>
              <a:rPr lang="en-US" sz="900" dirty="0">
                <a:solidFill>
                  <a:srgbClr val="CBD5E1"/>
                </a:solidFill>
              </a:rPr>
              <a:t>Adaptive DWT+STC steganography; embed encrypted bytes; extract and verify integrity on decode.</a:t>
            </a:r>
            <a:endParaRPr lang="en-US" sz="900" dirty="0"/>
          </a:p>
        </p:txBody>
      </p:sp>
      <p:sp>
        <p:nvSpPr>
          <p:cNvPr id="21" name="Shape 19"/>
          <p:cNvSpPr/>
          <p:nvPr/>
        </p:nvSpPr>
        <p:spPr>
          <a:xfrm>
            <a:off x="320040" y="2176272"/>
            <a:ext cx="4114800" cy="1207008"/>
          </a:xfrm>
          <a:prstGeom prst="roundRect">
            <a:avLst>
              <a:gd name="adj" fmla="val 7576"/>
            </a:avLst>
          </a:prstGeom>
          <a:solidFill>
            <a:srgbClr val="0F1E35"/>
          </a:solidFill>
          <a:ln w="19050">
            <a:solidFill>
              <a:srgbClr val="00D4A1"/>
            </a:solidFill>
            <a:prstDash val="solid"/>
          </a:ln>
          <a:effectLst>
            <a:outerShdw sx="100000" sy="100000" kx="0" ky="0" algn="bl" rotWithShape="0" blurRad="101600" dist="38100" dir="8100000">
              <a:srgbClr val="000000">
                <a:alpha val="30000"/>
              </a:srgbClr>
            </a:outerShdw>
          </a:effectLst>
        </p:spPr>
      </p:sp>
      <p:sp>
        <p:nvSpPr>
          <p:cNvPr id="22" name="Shape 20"/>
          <p:cNvSpPr/>
          <p:nvPr/>
        </p:nvSpPr>
        <p:spPr>
          <a:xfrm>
            <a:off x="320040" y="2176272"/>
            <a:ext cx="502920" cy="1207008"/>
          </a:xfrm>
          <a:prstGeom prst="rect">
            <a:avLst/>
          </a:prstGeom>
          <a:solidFill>
            <a:srgbClr val="00D4A1">
              <a:alpha val="85000"/>
            </a:srgbClr>
          </a:solidFill>
          <a:ln w="12700">
            <a:solidFill>
              <a:srgbClr val="00D4A1">
                <a:alpha val="85000"/>
              </a:srgbClr>
            </a:solidFill>
            <a:prstDash val="solid"/>
          </a:ln>
        </p:spPr>
      </p:sp>
      <p:sp>
        <p:nvSpPr>
          <p:cNvPr id="23" name="Text 21"/>
          <p:cNvSpPr/>
          <p:nvPr/>
        </p:nvSpPr>
        <p:spPr>
          <a:xfrm>
            <a:off x="320040" y="2560320"/>
            <a:ext cx="502920" cy="365760"/>
          </a:xfrm>
          <a:prstGeom prst="rect">
            <a:avLst/>
          </a:prstGeom>
          <a:noFill/>
          <a:ln/>
        </p:spPr>
        <p:txBody>
          <a:bodyPr wrap="square" rtlCol="0" anchor="ctr"/>
          <a:lstStyle/>
          <a:p>
            <a:pPr algn="ctr" indent="0" marL="0">
              <a:buNone/>
            </a:pPr>
            <a:r>
              <a:rPr lang="en-US" sz="1200" b="1" dirty="0">
                <a:solidFill>
                  <a:srgbClr val="07090F"/>
                </a:solidFill>
              </a:rPr>
              <a:t>O3</a:t>
            </a:r>
            <a:endParaRPr lang="en-US" sz="1200" dirty="0"/>
          </a:p>
        </p:txBody>
      </p:sp>
      <p:sp>
        <p:nvSpPr>
          <p:cNvPr id="24" name="Shape 22"/>
          <p:cNvSpPr/>
          <p:nvPr/>
        </p:nvSpPr>
        <p:spPr>
          <a:xfrm>
            <a:off x="3337560" y="2249424"/>
            <a:ext cx="987552" cy="237744"/>
          </a:xfrm>
          <a:prstGeom prst="roundRect">
            <a:avLst>
              <a:gd name="adj" fmla="val 15385"/>
            </a:avLst>
          </a:prstGeom>
          <a:solidFill>
            <a:srgbClr val="FF6B35"/>
          </a:solidFill>
          <a:ln w="12700">
            <a:solidFill>
              <a:srgbClr val="FFFFFF">
                <a:alpha val="20000"/>
              </a:srgbClr>
            </a:solidFill>
            <a:prstDash val="solid"/>
          </a:ln>
        </p:spPr>
      </p:sp>
      <p:sp>
        <p:nvSpPr>
          <p:cNvPr id="25" name="Text 23"/>
          <p:cNvSpPr/>
          <p:nvPr/>
        </p:nvSpPr>
        <p:spPr>
          <a:xfrm>
            <a:off x="3337560" y="2249424"/>
            <a:ext cx="987552" cy="237744"/>
          </a:xfrm>
          <a:prstGeom prst="rect">
            <a:avLst/>
          </a:prstGeom>
          <a:noFill/>
          <a:ln/>
        </p:spPr>
        <p:txBody>
          <a:bodyPr wrap="square" rtlCol="0" anchor="ctr"/>
          <a:lstStyle/>
          <a:p>
            <a:pPr algn="ctr" indent="0" marL="0">
              <a:buNone/>
            </a:pPr>
            <a:r>
              <a:rPr lang="en-US" sz="750" b="1" dirty="0">
                <a:solidFill>
                  <a:srgbClr val="FFFFFF"/>
                </a:solidFill>
              </a:rPr>
              <a:t>HIGH</a:t>
            </a:r>
            <a:endParaRPr lang="en-US" sz="750" dirty="0"/>
          </a:p>
        </p:txBody>
      </p:sp>
      <p:sp>
        <p:nvSpPr>
          <p:cNvPr id="26" name="Text 24"/>
          <p:cNvSpPr/>
          <p:nvPr/>
        </p:nvSpPr>
        <p:spPr>
          <a:xfrm>
            <a:off x="914400" y="2267712"/>
            <a:ext cx="3383280" cy="347472"/>
          </a:xfrm>
          <a:prstGeom prst="rect">
            <a:avLst/>
          </a:prstGeom>
          <a:noFill/>
          <a:ln/>
        </p:spPr>
        <p:txBody>
          <a:bodyPr wrap="square" rtlCol="0" anchor="ctr"/>
          <a:lstStyle/>
          <a:p>
            <a:pPr indent="0" marL="0">
              <a:buNone/>
            </a:pPr>
            <a:r>
              <a:rPr lang="en-US" sz="1150" b="1" dirty="0">
                <a:solidFill>
                  <a:srgbClr val="FFFFFF"/>
                </a:solidFill>
              </a:rPr>
              <a:t>CNN Steganalysis Detection</a:t>
            </a:r>
            <a:endParaRPr lang="en-US" sz="1150" dirty="0"/>
          </a:p>
        </p:txBody>
      </p:sp>
      <p:sp>
        <p:nvSpPr>
          <p:cNvPr id="27" name="Text 25"/>
          <p:cNvSpPr/>
          <p:nvPr/>
        </p:nvSpPr>
        <p:spPr>
          <a:xfrm>
            <a:off x="914400" y="2615184"/>
            <a:ext cx="3383280" cy="685800"/>
          </a:xfrm>
          <a:prstGeom prst="rect">
            <a:avLst/>
          </a:prstGeom>
          <a:noFill/>
          <a:ln/>
        </p:spPr>
        <p:txBody>
          <a:bodyPr wrap="square" rtlCol="0" anchor="ctr"/>
          <a:lstStyle/>
          <a:p>
            <a:pPr indent="0" marL="0">
              <a:buNone/>
            </a:pPr>
            <a:r>
              <a:rPr lang="en-US" sz="900" dirty="0">
                <a:solidFill>
                  <a:srgbClr val="CBD5E1"/>
                </a:solidFill>
              </a:rPr>
              <a:t>Train PyTorch CNN on ALASKA2 dataset; binary CLEAN/STEGO classification — no embedding, no decryption.</a:t>
            </a:r>
            <a:endParaRPr lang="en-US" sz="900" dirty="0"/>
          </a:p>
        </p:txBody>
      </p:sp>
      <p:sp>
        <p:nvSpPr>
          <p:cNvPr id="28" name="Shape 26"/>
          <p:cNvSpPr/>
          <p:nvPr/>
        </p:nvSpPr>
        <p:spPr>
          <a:xfrm>
            <a:off x="4709160" y="2176272"/>
            <a:ext cx="4114800" cy="1207008"/>
          </a:xfrm>
          <a:prstGeom prst="roundRect">
            <a:avLst>
              <a:gd name="adj" fmla="val 7576"/>
            </a:avLst>
          </a:prstGeom>
          <a:solidFill>
            <a:srgbClr val="0F1E35"/>
          </a:solidFill>
          <a:ln w="19050">
            <a:solidFill>
              <a:srgbClr val="1A8CFF"/>
            </a:solidFill>
            <a:prstDash val="solid"/>
          </a:ln>
          <a:effectLst>
            <a:outerShdw sx="100000" sy="100000" kx="0" ky="0" algn="bl" rotWithShape="0" blurRad="101600" dist="38100" dir="8100000">
              <a:srgbClr val="000000">
                <a:alpha val="30000"/>
              </a:srgbClr>
            </a:outerShdw>
          </a:effectLst>
        </p:spPr>
      </p:sp>
      <p:sp>
        <p:nvSpPr>
          <p:cNvPr id="29" name="Shape 27"/>
          <p:cNvSpPr/>
          <p:nvPr/>
        </p:nvSpPr>
        <p:spPr>
          <a:xfrm>
            <a:off x="4709160" y="2176272"/>
            <a:ext cx="502920" cy="1207008"/>
          </a:xfrm>
          <a:prstGeom prst="rect">
            <a:avLst/>
          </a:prstGeom>
          <a:solidFill>
            <a:srgbClr val="1A8CFF">
              <a:alpha val="85000"/>
            </a:srgbClr>
          </a:solidFill>
          <a:ln w="12700">
            <a:solidFill>
              <a:srgbClr val="1A8CFF">
                <a:alpha val="85000"/>
              </a:srgbClr>
            </a:solidFill>
            <a:prstDash val="solid"/>
          </a:ln>
        </p:spPr>
      </p:sp>
      <p:sp>
        <p:nvSpPr>
          <p:cNvPr id="30" name="Text 28"/>
          <p:cNvSpPr/>
          <p:nvPr/>
        </p:nvSpPr>
        <p:spPr>
          <a:xfrm>
            <a:off x="4709160" y="2560320"/>
            <a:ext cx="502920" cy="365760"/>
          </a:xfrm>
          <a:prstGeom prst="rect">
            <a:avLst/>
          </a:prstGeom>
          <a:noFill/>
          <a:ln/>
        </p:spPr>
        <p:txBody>
          <a:bodyPr wrap="square" rtlCol="0" anchor="ctr"/>
          <a:lstStyle/>
          <a:p>
            <a:pPr algn="ctr" indent="0" marL="0">
              <a:buNone/>
            </a:pPr>
            <a:r>
              <a:rPr lang="en-US" sz="1200" b="1" dirty="0">
                <a:solidFill>
                  <a:srgbClr val="07090F"/>
                </a:solidFill>
              </a:rPr>
              <a:t>O4</a:t>
            </a:r>
            <a:endParaRPr lang="en-US" sz="1200" dirty="0"/>
          </a:p>
        </p:txBody>
      </p:sp>
      <p:sp>
        <p:nvSpPr>
          <p:cNvPr id="31" name="Shape 29"/>
          <p:cNvSpPr/>
          <p:nvPr/>
        </p:nvSpPr>
        <p:spPr>
          <a:xfrm>
            <a:off x="7726680" y="2249424"/>
            <a:ext cx="987552" cy="237744"/>
          </a:xfrm>
          <a:prstGeom prst="roundRect">
            <a:avLst>
              <a:gd name="adj" fmla="val 15385"/>
            </a:avLst>
          </a:prstGeom>
          <a:solidFill>
            <a:srgbClr val="FF6B35"/>
          </a:solidFill>
          <a:ln w="12700">
            <a:solidFill>
              <a:srgbClr val="FFFFFF">
                <a:alpha val="20000"/>
              </a:srgbClr>
            </a:solidFill>
            <a:prstDash val="solid"/>
          </a:ln>
        </p:spPr>
      </p:sp>
      <p:sp>
        <p:nvSpPr>
          <p:cNvPr id="32" name="Text 30"/>
          <p:cNvSpPr/>
          <p:nvPr/>
        </p:nvSpPr>
        <p:spPr>
          <a:xfrm>
            <a:off x="7726680" y="2249424"/>
            <a:ext cx="987552" cy="237744"/>
          </a:xfrm>
          <a:prstGeom prst="rect">
            <a:avLst/>
          </a:prstGeom>
          <a:noFill/>
          <a:ln/>
        </p:spPr>
        <p:txBody>
          <a:bodyPr wrap="square" rtlCol="0" anchor="ctr"/>
          <a:lstStyle/>
          <a:p>
            <a:pPr algn="ctr" indent="0" marL="0">
              <a:buNone/>
            </a:pPr>
            <a:r>
              <a:rPr lang="en-US" sz="750" b="1" dirty="0">
                <a:solidFill>
                  <a:srgbClr val="FFFFFF"/>
                </a:solidFill>
              </a:rPr>
              <a:t>HIGH</a:t>
            </a:r>
            <a:endParaRPr lang="en-US" sz="750" dirty="0"/>
          </a:p>
        </p:txBody>
      </p:sp>
      <p:sp>
        <p:nvSpPr>
          <p:cNvPr id="33" name="Text 31"/>
          <p:cNvSpPr/>
          <p:nvPr/>
        </p:nvSpPr>
        <p:spPr>
          <a:xfrm>
            <a:off x="5303520" y="2267712"/>
            <a:ext cx="3383280" cy="347472"/>
          </a:xfrm>
          <a:prstGeom prst="rect">
            <a:avLst/>
          </a:prstGeom>
          <a:noFill/>
          <a:ln/>
        </p:spPr>
        <p:txBody>
          <a:bodyPr wrap="square" rtlCol="0" anchor="ctr"/>
          <a:lstStyle/>
          <a:p>
            <a:pPr indent="0" marL="0">
              <a:buNone/>
            </a:pPr>
            <a:r>
              <a:rPr lang="en-US" sz="1150" b="1" dirty="0">
                <a:solidFill>
                  <a:srgbClr val="FFFFFF"/>
                </a:solidFill>
              </a:rPr>
              <a:t>REST API Orchestration</a:t>
            </a:r>
            <a:endParaRPr lang="en-US" sz="1150" dirty="0"/>
          </a:p>
        </p:txBody>
      </p:sp>
      <p:sp>
        <p:nvSpPr>
          <p:cNvPr id="34" name="Text 32"/>
          <p:cNvSpPr/>
          <p:nvPr/>
        </p:nvSpPr>
        <p:spPr>
          <a:xfrm>
            <a:off x="5303520" y="2615184"/>
            <a:ext cx="3383280" cy="685800"/>
          </a:xfrm>
          <a:prstGeom prst="rect">
            <a:avLst/>
          </a:prstGeom>
          <a:noFill/>
          <a:ln/>
        </p:spPr>
        <p:txBody>
          <a:bodyPr wrap="square" rtlCol="0" anchor="ctr"/>
          <a:lstStyle/>
          <a:p>
            <a:pPr indent="0" marL="0">
              <a:buNone/>
            </a:pPr>
            <a:r>
              <a:rPr lang="en-US" sz="900" dirty="0">
                <a:solidFill>
                  <a:srgbClr val="CBD5E1"/>
                </a:solidFill>
              </a:rPr>
              <a:t>FastAPI backend on port 8000 — /encode, /decode, /detect, /attack endpoints with full error handling.</a:t>
            </a:r>
            <a:endParaRPr lang="en-US" sz="900" dirty="0"/>
          </a:p>
        </p:txBody>
      </p:sp>
      <p:sp>
        <p:nvSpPr>
          <p:cNvPr id="35" name="Shape 33"/>
          <p:cNvSpPr/>
          <p:nvPr/>
        </p:nvSpPr>
        <p:spPr>
          <a:xfrm>
            <a:off x="320040" y="3547872"/>
            <a:ext cx="4114800" cy="1207008"/>
          </a:xfrm>
          <a:prstGeom prst="roundRect">
            <a:avLst>
              <a:gd name="adj" fmla="val 7576"/>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sp>
        <p:nvSpPr>
          <p:cNvPr id="36" name="Shape 34"/>
          <p:cNvSpPr/>
          <p:nvPr/>
        </p:nvSpPr>
        <p:spPr>
          <a:xfrm>
            <a:off x="320040" y="3547872"/>
            <a:ext cx="502920" cy="1207008"/>
          </a:xfrm>
          <a:prstGeom prst="rect">
            <a:avLst/>
          </a:prstGeom>
          <a:solidFill>
            <a:srgbClr val="7B2FFF">
              <a:alpha val="85000"/>
            </a:srgbClr>
          </a:solidFill>
          <a:ln w="12700">
            <a:solidFill>
              <a:srgbClr val="7B2FFF">
                <a:alpha val="85000"/>
              </a:srgbClr>
            </a:solidFill>
            <a:prstDash val="solid"/>
          </a:ln>
        </p:spPr>
      </p:sp>
      <p:sp>
        <p:nvSpPr>
          <p:cNvPr id="37" name="Text 35"/>
          <p:cNvSpPr/>
          <p:nvPr/>
        </p:nvSpPr>
        <p:spPr>
          <a:xfrm>
            <a:off x="320040" y="3931920"/>
            <a:ext cx="502920" cy="365760"/>
          </a:xfrm>
          <a:prstGeom prst="rect">
            <a:avLst/>
          </a:prstGeom>
          <a:noFill/>
          <a:ln/>
        </p:spPr>
        <p:txBody>
          <a:bodyPr wrap="square" rtlCol="0" anchor="ctr"/>
          <a:lstStyle/>
          <a:p>
            <a:pPr algn="ctr" indent="0" marL="0">
              <a:buNone/>
            </a:pPr>
            <a:r>
              <a:rPr lang="en-US" sz="1200" b="1" dirty="0">
                <a:solidFill>
                  <a:srgbClr val="07090F"/>
                </a:solidFill>
              </a:rPr>
              <a:t>O5</a:t>
            </a:r>
            <a:endParaRPr lang="en-US" sz="1200" dirty="0"/>
          </a:p>
        </p:txBody>
      </p:sp>
      <p:sp>
        <p:nvSpPr>
          <p:cNvPr id="38" name="Shape 36"/>
          <p:cNvSpPr/>
          <p:nvPr/>
        </p:nvSpPr>
        <p:spPr>
          <a:xfrm>
            <a:off x="3337560" y="3621024"/>
            <a:ext cx="987552" cy="237744"/>
          </a:xfrm>
          <a:prstGeom prst="roundRect">
            <a:avLst>
              <a:gd name="adj" fmla="val 15385"/>
            </a:avLst>
          </a:prstGeom>
          <a:solidFill>
            <a:srgbClr val="FF6B35"/>
          </a:solidFill>
          <a:ln w="12700">
            <a:solidFill>
              <a:srgbClr val="FFFFFF">
                <a:alpha val="20000"/>
              </a:srgbClr>
            </a:solidFill>
            <a:prstDash val="solid"/>
          </a:ln>
        </p:spPr>
      </p:sp>
      <p:sp>
        <p:nvSpPr>
          <p:cNvPr id="39" name="Text 37"/>
          <p:cNvSpPr/>
          <p:nvPr/>
        </p:nvSpPr>
        <p:spPr>
          <a:xfrm>
            <a:off x="3337560" y="3621024"/>
            <a:ext cx="987552" cy="237744"/>
          </a:xfrm>
          <a:prstGeom prst="rect">
            <a:avLst/>
          </a:prstGeom>
          <a:noFill/>
          <a:ln/>
        </p:spPr>
        <p:txBody>
          <a:bodyPr wrap="square" rtlCol="0" anchor="ctr"/>
          <a:lstStyle/>
          <a:p>
            <a:pPr algn="ctr" indent="0" marL="0">
              <a:buNone/>
            </a:pPr>
            <a:r>
              <a:rPr lang="en-US" sz="750" b="1" dirty="0">
                <a:solidFill>
                  <a:srgbClr val="FFFFFF"/>
                </a:solidFill>
              </a:rPr>
              <a:t>HIGH</a:t>
            </a:r>
            <a:endParaRPr lang="en-US" sz="750" dirty="0"/>
          </a:p>
        </p:txBody>
      </p:sp>
      <p:sp>
        <p:nvSpPr>
          <p:cNvPr id="40" name="Text 38"/>
          <p:cNvSpPr/>
          <p:nvPr/>
        </p:nvSpPr>
        <p:spPr>
          <a:xfrm>
            <a:off x="914400" y="3639312"/>
            <a:ext cx="3383280" cy="347472"/>
          </a:xfrm>
          <a:prstGeom prst="rect">
            <a:avLst/>
          </a:prstGeom>
          <a:noFill/>
          <a:ln/>
        </p:spPr>
        <p:txBody>
          <a:bodyPr wrap="square" rtlCol="0" anchor="ctr"/>
          <a:lstStyle/>
          <a:p>
            <a:pPr indent="0" marL="0">
              <a:buNone/>
            </a:pPr>
            <a:r>
              <a:rPr lang="en-US" sz="1150" b="1" dirty="0">
                <a:solidFill>
                  <a:srgbClr val="FFFFFF"/>
                </a:solidFill>
              </a:rPr>
              <a:t>React UI Interface</a:t>
            </a:r>
            <a:endParaRPr lang="en-US" sz="1150" dirty="0"/>
          </a:p>
        </p:txBody>
      </p:sp>
      <p:sp>
        <p:nvSpPr>
          <p:cNvPr id="41" name="Text 39"/>
          <p:cNvSpPr/>
          <p:nvPr/>
        </p:nvSpPr>
        <p:spPr>
          <a:xfrm>
            <a:off x="914400" y="3986784"/>
            <a:ext cx="3383280" cy="685800"/>
          </a:xfrm>
          <a:prstGeom prst="rect">
            <a:avLst/>
          </a:prstGeom>
          <a:noFill/>
          <a:ln/>
        </p:spPr>
        <p:txBody>
          <a:bodyPr wrap="square" rtlCol="0" anchor="ctr"/>
          <a:lstStyle/>
          <a:p>
            <a:pPr indent="0" marL="0">
              <a:buNone/>
            </a:pPr>
            <a:r>
              <a:rPr lang="en-US" sz="900" dirty="0">
                <a:solidFill>
                  <a:srgbClr val="CBD5E1"/>
                </a:solidFill>
              </a:rPr>
              <a:t>React 18 frontend on port 3000 — Encode, Decode, Detect, Attack pages with Axios API communication.</a:t>
            </a:r>
            <a:endParaRPr lang="en-US" sz="900" dirty="0"/>
          </a:p>
        </p:txBody>
      </p:sp>
      <p:sp>
        <p:nvSpPr>
          <p:cNvPr id="42" name="Shape 40"/>
          <p:cNvSpPr/>
          <p:nvPr/>
        </p:nvSpPr>
        <p:spPr>
          <a:xfrm>
            <a:off x="4709160" y="3547872"/>
            <a:ext cx="4114800" cy="1207008"/>
          </a:xfrm>
          <a:prstGeom prst="roundRect">
            <a:avLst>
              <a:gd name="adj" fmla="val 7576"/>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43" name="Shape 41"/>
          <p:cNvSpPr/>
          <p:nvPr/>
        </p:nvSpPr>
        <p:spPr>
          <a:xfrm>
            <a:off x="4709160" y="3547872"/>
            <a:ext cx="502920" cy="1207008"/>
          </a:xfrm>
          <a:prstGeom prst="rect">
            <a:avLst/>
          </a:prstGeom>
          <a:solidFill>
            <a:srgbClr val="00E5FF">
              <a:alpha val="85000"/>
            </a:srgbClr>
          </a:solidFill>
          <a:ln w="12700">
            <a:solidFill>
              <a:srgbClr val="00E5FF">
                <a:alpha val="85000"/>
              </a:srgbClr>
            </a:solidFill>
            <a:prstDash val="solid"/>
          </a:ln>
        </p:spPr>
      </p:sp>
      <p:sp>
        <p:nvSpPr>
          <p:cNvPr id="44" name="Text 42"/>
          <p:cNvSpPr/>
          <p:nvPr/>
        </p:nvSpPr>
        <p:spPr>
          <a:xfrm>
            <a:off x="4709160" y="3931920"/>
            <a:ext cx="502920" cy="365760"/>
          </a:xfrm>
          <a:prstGeom prst="rect">
            <a:avLst/>
          </a:prstGeom>
          <a:noFill/>
          <a:ln/>
        </p:spPr>
        <p:txBody>
          <a:bodyPr wrap="square" rtlCol="0" anchor="ctr"/>
          <a:lstStyle/>
          <a:p>
            <a:pPr algn="ctr" indent="0" marL="0">
              <a:buNone/>
            </a:pPr>
            <a:r>
              <a:rPr lang="en-US" sz="1200" b="1" dirty="0">
                <a:solidFill>
                  <a:srgbClr val="07090F"/>
                </a:solidFill>
              </a:rPr>
              <a:t>O6</a:t>
            </a:r>
            <a:endParaRPr lang="en-US" sz="1200" dirty="0"/>
          </a:p>
        </p:txBody>
      </p:sp>
      <p:sp>
        <p:nvSpPr>
          <p:cNvPr id="45" name="Shape 43"/>
          <p:cNvSpPr/>
          <p:nvPr/>
        </p:nvSpPr>
        <p:spPr>
          <a:xfrm>
            <a:off x="7726680" y="3621024"/>
            <a:ext cx="987552" cy="237744"/>
          </a:xfrm>
          <a:prstGeom prst="roundRect">
            <a:avLst>
              <a:gd name="adj" fmla="val 15385"/>
            </a:avLst>
          </a:prstGeom>
          <a:solidFill>
            <a:srgbClr val="64748B"/>
          </a:solidFill>
          <a:ln w="12700">
            <a:solidFill>
              <a:srgbClr val="FFFFFF">
                <a:alpha val="20000"/>
              </a:srgbClr>
            </a:solidFill>
            <a:prstDash val="solid"/>
          </a:ln>
        </p:spPr>
      </p:sp>
      <p:sp>
        <p:nvSpPr>
          <p:cNvPr id="46" name="Text 44"/>
          <p:cNvSpPr/>
          <p:nvPr/>
        </p:nvSpPr>
        <p:spPr>
          <a:xfrm>
            <a:off x="7726680" y="3621024"/>
            <a:ext cx="987552" cy="237744"/>
          </a:xfrm>
          <a:prstGeom prst="rect">
            <a:avLst/>
          </a:prstGeom>
          <a:noFill/>
          <a:ln/>
        </p:spPr>
        <p:txBody>
          <a:bodyPr wrap="square" rtlCol="0" anchor="ctr"/>
          <a:lstStyle/>
          <a:p>
            <a:pPr algn="ctr" indent="0" marL="0">
              <a:buNone/>
            </a:pPr>
            <a:r>
              <a:rPr lang="en-US" sz="750" b="1" dirty="0">
                <a:solidFill>
                  <a:srgbClr val="FFFFFF"/>
                </a:solidFill>
              </a:rPr>
              <a:t>MEDIUM</a:t>
            </a:r>
            <a:endParaRPr lang="en-US" sz="750" dirty="0"/>
          </a:p>
        </p:txBody>
      </p:sp>
      <p:sp>
        <p:nvSpPr>
          <p:cNvPr id="47" name="Text 45"/>
          <p:cNvSpPr/>
          <p:nvPr/>
        </p:nvSpPr>
        <p:spPr>
          <a:xfrm>
            <a:off x="5303520" y="3639312"/>
            <a:ext cx="3383280" cy="347472"/>
          </a:xfrm>
          <a:prstGeom prst="rect">
            <a:avLst/>
          </a:prstGeom>
          <a:noFill/>
          <a:ln/>
        </p:spPr>
        <p:txBody>
          <a:bodyPr wrap="square" rtlCol="0" anchor="ctr"/>
          <a:lstStyle/>
          <a:p>
            <a:pPr indent="0" marL="0">
              <a:buNone/>
            </a:pPr>
            <a:r>
              <a:rPr lang="en-US" sz="1150" b="1" dirty="0">
                <a:solidFill>
                  <a:srgbClr val="FFFFFF"/>
                </a:solidFill>
              </a:rPr>
              <a:t>ONNX Production Inference</a:t>
            </a:r>
            <a:endParaRPr lang="en-US" sz="1150" dirty="0"/>
          </a:p>
        </p:txBody>
      </p:sp>
      <p:sp>
        <p:nvSpPr>
          <p:cNvPr id="48" name="Text 46"/>
          <p:cNvSpPr/>
          <p:nvPr/>
        </p:nvSpPr>
        <p:spPr>
          <a:xfrm>
            <a:off x="5303520" y="3986784"/>
            <a:ext cx="3383280" cy="685800"/>
          </a:xfrm>
          <a:prstGeom prst="rect">
            <a:avLst/>
          </a:prstGeom>
          <a:noFill/>
          <a:ln/>
        </p:spPr>
        <p:txBody>
          <a:bodyPr wrap="square" rtlCol="0" anchor="ctr"/>
          <a:lstStyle/>
          <a:p>
            <a:pPr indent="0" marL="0">
              <a:buNone/>
            </a:pPr>
            <a:r>
              <a:rPr lang="en-US" sz="900" dirty="0">
                <a:solidFill>
                  <a:srgbClr val="CBD5E1"/>
                </a:solidFill>
              </a:rPr>
              <a:t>Export trained CNN to ONNX format for CPU-only inference &lt; 50 ms. Optuna hyperparameter tuning included.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090F"/>
          </a:solidFill>
          <a:ln w="12700">
            <a:solidFill>
              <a:srgbClr val="07090F"/>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0" y="0"/>
            <a:ext cx="9144000" cy="5143500"/>
          </a:xfrm>
          <a:prstGeom prst="rect">
            <a:avLst/>
          </a:prstGeom>
          <a:solidFill>
            <a:srgbClr val="081428">
              <a:alpha val="40000"/>
            </a:srgbClr>
          </a:solidFill>
          <a:ln w="12700">
            <a:solidFill>
              <a:srgbClr val="081428">
                <a:alpha val="40000"/>
              </a:srgbClr>
            </a:solidFill>
            <a:prstDash val="solid"/>
          </a:ln>
        </p:spPr>
      </p:sp>
      <p:sp>
        <p:nvSpPr>
          <p:cNvPr id="5" name="Shape 3"/>
          <p:cNvSpPr/>
          <p:nvPr/>
        </p:nvSpPr>
        <p:spPr>
          <a:xfrm>
            <a:off x="457200" y="256032"/>
            <a:ext cx="1463040" cy="256032"/>
          </a:xfrm>
          <a:prstGeom prst="rect">
            <a:avLst/>
          </a:prstGeom>
          <a:solidFill>
            <a:srgbClr val="00E5FF"/>
          </a:solidFill>
          <a:ln w="12700">
            <a:solidFill>
              <a:srgbClr val="00E5FF"/>
            </a:solidFill>
            <a:prstDash val="solid"/>
          </a:ln>
        </p:spPr>
      </p:sp>
      <p:sp>
        <p:nvSpPr>
          <p:cNvPr id="6" name="Text 4"/>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SECURITY</a:t>
            </a:r>
            <a:endParaRPr lang="en-US" sz="900" dirty="0"/>
          </a:p>
        </p:txBody>
      </p:sp>
      <p:sp>
        <p:nvSpPr>
          <p:cNvPr id="7" name="Text 5"/>
          <p:cNvSpPr/>
          <p:nvPr/>
        </p:nvSpPr>
        <p:spPr>
          <a:xfrm>
            <a:off x="2103120" y="182880"/>
            <a:ext cx="6583680" cy="43891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Threat Model &amp; Security Goals</a:t>
            </a:r>
            <a:endParaRPr lang="en-US" sz="2600" dirty="0"/>
          </a:p>
        </p:txBody>
      </p:sp>
      <p:sp>
        <p:nvSpPr>
          <p:cNvPr id="8" name="Shape 6"/>
          <p:cNvSpPr/>
          <p:nvPr/>
        </p:nvSpPr>
        <p:spPr>
          <a:xfrm>
            <a:off x="274320" y="777240"/>
            <a:ext cx="3931920" cy="3611880"/>
          </a:xfrm>
          <a:prstGeom prst="roundRect">
            <a:avLst>
              <a:gd name="adj" fmla="val 3038"/>
            </a:avLst>
          </a:prstGeom>
          <a:solidFill>
            <a:srgbClr val="0F1E35"/>
          </a:solidFill>
          <a:ln w="19050">
            <a:solidFill>
              <a:srgbClr val="FF3B5C"/>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274320" y="777240"/>
            <a:ext cx="3931920" cy="347472"/>
          </a:xfrm>
          <a:prstGeom prst="rect">
            <a:avLst/>
          </a:prstGeom>
          <a:solidFill>
            <a:srgbClr val="FF3B5C">
              <a:alpha val="80000"/>
            </a:srgbClr>
          </a:solidFill>
          <a:ln w="12700">
            <a:solidFill>
              <a:srgbClr val="FF3B5C">
                <a:alpha val="80000"/>
              </a:srgbClr>
            </a:solidFill>
            <a:prstDash val="solid"/>
          </a:ln>
        </p:spPr>
      </p:sp>
      <p:pic>
        <p:nvPicPr>
          <p:cNvPr id="10" name="Image 0" descr="preencoded.png">    </p:cNvPr>
          <p:cNvPicPr>
            <a:picLocks noChangeAspect="1"/>
          </p:cNvPicPr>
          <p:nvPr/>
        </p:nvPicPr>
        <p:blipFill>
          <a:blip r:embed="rId1"/>
          <a:stretch>
            <a:fillRect/>
          </a:stretch>
        </p:blipFill>
        <p:spPr>
          <a:xfrm>
            <a:off x="457200" y="813816"/>
            <a:ext cx="274320" cy="274320"/>
          </a:xfrm>
          <a:prstGeom prst="rect">
            <a:avLst/>
          </a:prstGeom>
        </p:spPr>
      </p:pic>
      <p:sp>
        <p:nvSpPr>
          <p:cNvPr id="11" name="Text 8"/>
          <p:cNvSpPr/>
          <p:nvPr/>
        </p:nvSpPr>
        <p:spPr>
          <a:xfrm>
            <a:off x="804672" y="795528"/>
            <a:ext cx="3291840" cy="310896"/>
          </a:xfrm>
          <a:prstGeom prst="rect">
            <a:avLst/>
          </a:prstGeom>
          <a:noFill/>
          <a:ln/>
        </p:spPr>
        <p:txBody>
          <a:bodyPr wrap="square" rtlCol="0" anchor="ctr"/>
          <a:lstStyle/>
          <a:p>
            <a:pPr indent="0" marL="0">
              <a:buNone/>
            </a:pPr>
            <a:r>
              <a:rPr lang="en-US" sz="1200" b="1" dirty="0">
                <a:solidFill>
                  <a:srgbClr val="FF3B5C"/>
                </a:solidFill>
              </a:rPr>
              <a:t>Adversary Capabilities</a:t>
            </a:r>
            <a:endParaRPr lang="en-US" sz="1200" dirty="0"/>
          </a:p>
        </p:txBody>
      </p:sp>
      <p:pic>
        <p:nvPicPr>
          <p:cNvPr id="12" name="Image 1" descr="preencoded.png">    </p:cNvPr>
          <p:cNvPicPr>
            <a:picLocks noChangeAspect="1"/>
          </p:cNvPicPr>
          <p:nvPr/>
        </p:nvPicPr>
        <p:blipFill>
          <a:blip r:embed="rId2"/>
          <a:stretch>
            <a:fillRect/>
          </a:stretch>
        </p:blipFill>
        <p:spPr>
          <a:xfrm>
            <a:off x="457200" y="1243584"/>
            <a:ext cx="201168" cy="201168"/>
          </a:xfrm>
          <a:prstGeom prst="rect">
            <a:avLst/>
          </a:prstGeom>
        </p:spPr>
      </p:pic>
      <p:sp>
        <p:nvSpPr>
          <p:cNvPr id="13" name="Text 9"/>
          <p:cNvSpPr/>
          <p:nvPr/>
        </p:nvSpPr>
        <p:spPr>
          <a:xfrm>
            <a:off x="731520" y="1207008"/>
            <a:ext cx="3383280" cy="292608"/>
          </a:xfrm>
          <a:prstGeom prst="rect">
            <a:avLst/>
          </a:prstGeom>
          <a:noFill/>
          <a:ln/>
        </p:spPr>
        <p:txBody>
          <a:bodyPr wrap="square" rtlCol="0" anchor="ctr"/>
          <a:lstStyle/>
          <a:p>
            <a:pPr indent="0" marL="0">
              <a:buNone/>
            </a:pPr>
            <a:r>
              <a:rPr lang="en-US" sz="950" dirty="0">
                <a:solidFill>
                  <a:srgbClr val="CBD5E1"/>
                </a:solidFill>
              </a:rPr>
              <a:t>Network monitoring — intercepts stego images in transit</a:t>
            </a:r>
            <a:endParaRPr lang="en-US" sz="950" dirty="0"/>
          </a:p>
        </p:txBody>
      </p:sp>
      <p:sp>
        <p:nvSpPr>
          <p:cNvPr id="14" name="Shape 10"/>
          <p:cNvSpPr/>
          <p:nvPr/>
        </p:nvSpPr>
        <p:spPr>
          <a:xfrm>
            <a:off x="457200" y="1490472"/>
            <a:ext cx="3566160" cy="0"/>
          </a:xfrm>
          <a:prstGeom prst="line">
            <a:avLst/>
          </a:prstGeom>
          <a:noFill/>
          <a:ln w="6350">
            <a:solidFill>
              <a:srgbClr val="64748B">
                <a:alpha val="40000"/>
              </a:srgbClr>
            </a:solidFill>
            <a:prstDash val="solid"/>
          </a:ln>
        </p:spPr>
      </p:sp>
      <p:pic>
        <p:nvPicPr>
          <p:cNvPr id="15" name="Image 2" descr="preencoded.png">    </p:cNvPr>
          <p:cNvPicPr>
            <a:picLocks noChangeAspect="1"/>
          </p:cNvPicPr>
          <p:nvPr/>
        </p:nvPicPr>
        <p:blipFill>
          <a:blip r:embed="rId3"/>
          <a:stretch>
            <a:fillRect/>
          </a:stretch>
        </p:blipFill>
        <p:spPr>
          <a:xfrm>
            <a:off x="457200" y="1810512"/>
            <a:ext cx="201168" cy="201168"/>
          </a:xfrm>
          <a:prstGeom prst="rect">
            <a:avLst/>
          </a:prstGeom>
        </p:spPr>
      </p:pic>
      <p:sp>
        <p:nvSpPr>
          <p:cNvPr id="16" name="Text 11"/>
          <p:cNvSpPr/>
          <p:nvPr/>
        </p:nvSpPr>
        <p:spPr>
          <a:xfrm>
            <a:off x="731520" y="1773936"/>
            <a:ext cx="3383280" cy="292608"/>
          </a:xfrm>
          <a:prstGeom prst="rect">
            <a:avLst/>
          </a:prstGeom>
          <a:noFill/>
          <a:ln/>
        </p:spPr>
        <p:txBody>
          <a:bodyPr wrap="square" rtlCol="0" anchor="ctr"/>
          <a:lstStyle/>
          <a:p>
            <a:pPr indent="0" marL="0">
              <a:buNone/>
            </a:pPr>
            <a:r>
              <a:rPr lang="en-US" sz="950" dirty="0">
                <a:solidFill>
                  <a:srgbClr val="CBD5E1"/>
                </a:solidFill>
              </a:rPr>
              <a:t>JPEG compression (quality 50–90) to destroy payload</a:t>
            </a:r>
            <a:endParaRPr lang="en-US" sz="950" dirty="0"/>
          </a:p>
        </p:txBody>
      </p:sp>
      <p:sp>
        <p:nvSpPr>
          <p:cNvPr id="17" name="Shape 12"/>
          <p:cNvSpPr/>
          <p:nvPr/>
        </p:nvSpPr>
        <p:spPr>
          <a:xfrm>
            <a:off x="457200" y="2057400"/>
            <a:ext cx="3566160" cy="0"/>
          </a:xfrm>
          <a:prstGeom prst="line">
            <a:avLst/>
          </a:prstGeom>
          <a:noFill/>
          <a:ln w="6350">
            <a:solidFill>
              <a:srgbClr val="64748B">
                <a:alpha val="40000"/>
              </a:srgbClr>
            </a:solidFill>
            <a:prstDash val="solid"/>
          </a:ln>
        </p:spPr>
      </p:sp>
      <p:pic>
        <p:nvPicPr>
          <p:cNvPr id="18" name="Image 3" descr="preencoded.png">    </p:cNvPr>
          <p:cNvPicPr>
            <a:picLocks noChangeAspect="1"/>
          </p:cNvPicPr>
          <p:nvPr/>
        </p:nvPicPr>
        <p:blipFill>
          <a:blip r:embed="rId4"/>
          <a:stretch>
            <a:fillRect/>
          </a:stretch>
        </p:blipFill>
        <p:spPr>
          <a:xfrm>
            <a:off x="457200" y="2377440"/>
            <a:ext cx="201168" cy="201168"/>
          </a:xfrm>
          <a:prstGeom prst="rect">
            <a:avLst/>
          </a:prstGeom>
        </p:spPr>
      </p:pic>
      <p:sp>
        <p:nvSpPr>
          <p:cNvPr id="19" name="Text 13"/>
          <p:cNvSpPr/>
          <p:nvPr/>
        </p:nvSpPr>
        <p:spPr>
          <a:xfrm>
            <a:off x="731520" y="2340864"/>
            <a:ext cx="3383280" cy="292608"/>
          </a:xfrm>
          <a:prstGeom prst="rect">
            <a:avLst/>
          </a:prstGeom>
          <a:noFill/>
          <a:ln/>
        </p:spPr>
        <p:txBody>
          <a:bodyPr wrap="square" rtlCol="0" anchor="ctr"/>
          <a:lstStyle/>
          <a:p>
            <a:pPr indent="0" marL="0">
              <a:buNone/>
            </a:pPr>
            <a:r>
              <a:rPr lang="en-US" sz="950" dirty="0">
                <a:solidFill>
                  <a:srgbClr val="CBD5E1"/>
                </a:solidFill>
              </a:rPr>
              <a:t>Image resizing, cropping, and format conversion</a:t>
            </a:r>
            <a:endParaRPr lang="en-US" sz="950" dirty="0"/>
          </a:p>
        </p:txBody>
      </p:sp>
      <p:sp>
        <p:nvSpPr>
          <p:cNvPr id="20" name="Shape 14"/>
          <p:cNvSpPr/>
          <p:nvPr/>
        </p:nvSpPr>
        <p:spPr>
          <a:xfrm>
            <a:off x="457200" y="2624328"/>
            <a:ext cx="3566160" cy="0"/>
          </a:xfrm>
          <a:prstGeom prst="line">
            <a:avLst/>
          </a:prstGeom>
          <a:noFill/>
          <a:ln w="6350">
            <a:solidFill>
              <a:srgbClr val="64748B">
                <a:alpha val="40000"/>
              </a:srgbClr>
            </a:solidFill>
            <a:prstDash val="solid"/>
          </a:ln>
        </p:spPr>
      </p:sp>
      <p:pic>
        <p:nvPicPr>
          <p:cNvPr id="21" name="Image 4" descr="preencoded.png">    </p:cNvPr>
          <p:cNvPicPr>
            <a:picLocks noChangeAspect="1"/>
          </p:cNvPicPr>
          <p:nvPr/>
        </p:nvPicPr>
        <p:blipFill>
          <a:blip r:embed="rId5"/>
          <a:stretch>
            <a:fillRect/>
          </a:stretch>
        </p:blipFill>
        <p:spPr>
          <a:xfrm>
            <a:off x="457200" y="2944368"/>
            <a:ext cx="201168" cy="201168"/>
          </a:xfrm>
          <a:prstGeom prst="rect">
            <a:avLst/>
          </a:prstGeom>
        </p:spPr>
      </p:pic>
      <p:sp>
        <p:nvSpPr>
          <p:cNvPr id="22" name="Text 15"/>
          <p:cNvSpPr/>
          <p:nvPr/>
        </p:nvSpPr>
        <p:spPr>
          <a:xfrm>
            <a:off x="731520" y="2907792"/>
            <a:ext cx="3383280" cy="292608"/>
          </a:xfrm>
          <a:prstGeom prst="rect">
            <a:avLst/>
          </a:prstGeom>
          <a:noFill/>
          <a:ln/>
        </p:spPr>
        <p:txBody>
          <a:bodyPr wrap="square" rtlCol="0" anchor="ctr"/>
          <a:lstStyle/>
          <a:p>
            <a:pPr indent="0" marL="0">
              <a:buNone/>
            </a:pPr>
            <a:r>
              <a:rPr lang="en-US" sz="950" dirty="0">
                <a:solidFill>
                  <a:srgbClr val="CBD5E1"/>
                </a:solidFill>
              </a:rPr>
              <a:t>Gaussian noise and brightness/contrast adjustments</a:t>
            </a:r>
            <a:endParaRPr lang="en-US" sz="950" dirty="0"/>
          </a:p>
        </p:txBody>
      </p:sp>
      <p:sp>
        <p:nvSpPr>
          <p:cNvPr id="23" name="Shape 16"/>
          <p:cNvSpPr/>
          <p:nvPr/>
        </p:nvSpPr>
        <p:spPr>
          <a:xfrm>
            <a:off x="457200" y="3191256"/>
            <a:ext cx="3566160" cy="0"/>
          </a:xfrm>
          <a:prstGeom prst="line">
            <a:avLst/>
          </a:prstGeom>
          <a:noFill/>
          <a:ln w="6350">
            <a:solidFill>
              <a:srgbClr val="64748B">
                <a:alpha val="40000"/>
              </a:srgbClr>
            </a:solidFill>
            <a:prstDash val="solid"/>
          </a:ln>
        </p:spPr>
      </p:sp>
      <p:pic>
        <p:nvPicPr>
          <p:cNvPr id="24" name="Image 5" descr="preencoded.png">    </p:cNvPr>
          <p:cNvPicPr>
            <a:picLocks noChangeAspect="1"/>
          </p:cNvPicPr>
          <p:nvPr/>
        </p:nvPicPr>
        <p:blipFill>
          <a:blip r:embed="rId6"/>
          <a:stretch>
            <a:fillRect/>
          </a:stretch>
        </p:blipFill>
        <p:spPr>
          <a:xfrm>
            <a:off x="457200" y="3511296"/>
            <a:ext cx="201168" cy="201168"/>
          </a:xfrm>
          <a:prstGeom prst="rect">
            <a:avLst/>
          </a:prstGeom>
        </p:spPr>
      </p:pic>
      <p:sp>
        <p:nvSpPr>
          <p:cNvPr id="25" name="Text 17"/>
          <p:cNvSpPr/>
          <p:nvPr/>
        </p:nvSpPr>
        <p:spPr>
          <a:xfrm>
            <a:off x="731520" y="3474720"/>
            <a:ext cx="3383280" cy="292608"/>
          </a:xfrm>
          <a:prstGeom prst="rect">
            <a:avLst/>
          </a:prstGeom>
          <a:noFill/>
          <a:ln/>
        </p:spPr>
        <p:txBody>
          <a:bodyPr wrap="square" rtlCol="0" anchor="ctr"/>
          <a:lstStyle/>
          <a:p>
            <a:pPr indent="0" marL="0">
              <a:buNone/>
            </a:pPr>
            <a:r>
              <a:rPr lang="en-US" sz="950" dirty="0">
                <a:solidFill>
                  <a:srgbClr val="CBD5E1"/>
                </a:solidFill>
              </a:rPr>
              <a:t>Statistical steganalysis tools (χ² test, RS analysis)</a:t>
            </a:r>
            <a:endParaRPr lang="en-US" sz="950" dirty="0"/>
          </a:p>
        </p:txBody>
      </p:sp>
      <p:sp>
        <p:nvSpPr>
          <p:cNvPr id="26" name="Shape 18"/>
          <p:cNvSpPr/>
          <p:nvPr/>
        </p:nvSpPr>
        <p:spPr>
          <a:xfrm>
            <a:off x="4389120" y="777240"/>
            <a:ext cx="4480560" cy="3611880"/>
          </a:xfrm>
          <a:prstGeom prst="roundRect">
            <a:avLst>
              <a:gd name="adj" fmla="val 3038"/>
            </a:avLst>
          </a:prstGeom>
          <a:solidFill>
            <a:srgbClr val="0F1E35"/>
          </a:solidFill>
          <a:ln w="19050">
            <a:solidFill>
              <a:srgbClr val="00D4A1"/>
            </a:solidFill>
            <a:prstDash val="solid"/>
          </a:ln>
          <a:effectLst>
            <a:outerShdw sx="100000" sy="100000" kx="0" ky="0" algn="bl" rotWithShape="0" blurRad="101600" dist="38100" dir="8100000">
              <a:srgbClr val="000000">
                <a:alpha val="30000"/>
              </a:srgbClr>
            </a:outerShdw>
          </a:effectLst>
        </p:spPr>
      </p:sp>
      <p:sp>
        <p:nvSpPr>
          <p:cNvPr id="27" name="Shape 19"/>
          <p:cNvSpPr/>
          <p:nvPr/>
        </p:nvSpPr>
        <p:spPr>
          <a:xfrm>
            <a:off x="4389120" y="777240"/>
            <a:ext cx="4480560" cy="347472"/>
          </a:xfrm>
          <a:prstGeom prst="rect">
            <a:avLst/>
          </a:prstGeom>
          <a:solidFill>
            <a:srgbClr val="00D4A1">
              <a:alpha val="80000"/>
            </a:srgbClr>
          </a:solidFill>
          <a:ln w="12700">
            <a:solidFill>
              <a:srgbClr val="00D4A1">
                <a:alpha val="80000"/>
              </a:srgbClr>
            </a:solidFill>
            <a:prstDash val="solid"/>
          </a:ln>
        </p:spPr>
      </p:sp>
      <p:pic>
        <p:nvPicPr>
          <p:cNvPr id="28" name="Image 6" descr="preencoded.png">    </p:cNvPr>
          <p:cNvPicPr>
            <a:picLocks noChangeAspect="1"/>
          </p:cNvPicPr>
          <p:nvPr/>
        </p:nvPicPr>
        <p:blipFill>
          <a:blip r:embed="rId7"/>
          <a:stretch>
            <a:fillRect/>
          </a:stretch>
        </p:blipFill>
        <p:spPr>
          <a:xfrm>
            <a:off x="4572000" y="813816"/>
            <a:ext cx="274320" cy="274320"/>
          </a:xfrm>
          <a:prstGeom prst="rect">
            <a:avLst/>
          </a:prstGeom>
        </p:spPr>
      </p:pic>
      <p:sp>
        <p:nvSpPr>
          <p:cNvPr id="29" name="Text 20"/>
          <p:cNvSpPr/>
          <p:nvPr/>
        </p:nvSpPr>
        <p:spPr>
          <a:xfrm>
            <a:off x="4919472" y="795528"/>
            <a:ext cx="3840480" cy="310896"/>
          </a:xfrm>
          <a:prstGeom prst="rect">
            <a:avLst/>
          </a:prstGeom>
          <a:noFill/>
          <a:ln/>
        </p:spPr>
        <p:txBody>
          <a:bodyPr wrap="square" rtlCol="0" anchor="ctr"/>
          <a:lstStyle/>
          <a:p>
            <a:pPr indent="0" marL="0">
              <a:buNone/>
            </a:pPr>
            <a:r>
              <a:rPr lang="en-US" sz="1200" b="1" dirty="0">
                <a:solidFill>
                  <a:srgbClr val="00D4A1"/>
                </a:solidFill>
              </a:rPr>
              <a:t>System Defenses</a:t>
            </a:r>
            <a:endParaRPr lang="en-US" sz="1200" dirty="0"/>
          </a:p>
        </p:txBody>
      </p:sp>
      <p:sp>
        <p:nvSpPr>
          <p:cNvPr id="30" name="Shape 21"/>
          <p:cNvSpPr/>
          <p:nvPr/>
        </p:nvSpPr>
        <p:spPr>
          <a:xfrm>
            <a:off x="4526280" y="1234440"/>
            <a:ext cx="365760" cy="256032"/>
          </a:xfrm>
          <a:prstGeom prst="roundRect">
            <a:avLst>
              <a:gd name="adj" fmla="val 14286"/>
            </a:avLst>
          </a:prstGeom>
          <a:solidFill>
            <a:srgbClr val="00D4A1">
              <a:alpha val="80000"/>
            </a:srgbClr>
          </a:solidFill>
          <a:ln w="12700">
            <a:solidFill>
              <a:srgbClr val="00D4A1"/>
            </a:solidFill>
            <a:prstDash val="solid"/>
          </a:ln>
        </p:spPr>
      </p:sp>
      <p:sp>
        <p:nvSpPr>
          <p:cNvPr id="31" name="Text 22"/>
          <p:cNvSpPr/>
          <p:nvPr/>
        </p:nvSpPr>
        <p:spPr>
          <a:xfrm>
            <a:off x="4526280" y="1234440"/>
            <a:ext cx="365760" cy="256032"/>
          </a:xfrm>
          <a:prstGeom prst="rect">
            <a:avLst/>
          </a:prstGeom>
          <a:noFill/>
          <a:ln/>
        </p:spPr>
        <p:txBody>
          <a:bodyPr wrap="square" rtlCol="0" anchor="ctr"/>
          <a:lstStyle/>
          <a:p>
            <a:pPr algn="ctr" indent="0" marL="0">
              <a:buNone/>
            </a:pPr>
            <a:r>
              <a:rPr lang="en-US" sz="800" b="1" dirty="0">
                <a:solidFill>
                  <a:srgbClr val="00D4A1"/>
                </a:solidFill>
              </a:rPr>
              <a:t>G1</a:t>
            </a:r>
            <a:endParaRPr lang="en-US" sz="800" dirty="0"/>
          </a:p>
        </p:txBody>
      </p:sp>
      <p:sp>
        <p:nvSpPr>
          <p:cNvPr id="32" name="Text 23"/>
          <p:cNvSpPr/>
          <p:nvPr/>
        </p:nvSpPr>
        <p:spPr>
          <a:xfrm>
            <a:off x="4983480" y="1234440"/>
            <a:ext cx="1828800" cy="256032"/>
          </a:xfrm>
          <a:prstGeom prst="rect">
            <a:avLst/>
          </a:prstGeom>
          <a:noFill/>
          <a:ln/>
        </p:spPr>
        <p:txBody>
          <a:bodyPr wrap="square" rtlCol="0" anchor="ctr"/>
          <a:lstStyle/>
          <a:p>
            <a:pPr indent="0" marL="0">
              <a:buNone/>
            </a:pPr>
            <a:r>
              <a:rPr lang="en-US" sz="1000" b="1" dirty="0">
                <a:solidFill>
                  <a:srgbClr val="FFFFFF"/>
                </a:solidFill>
              </a:rPr>
              <a:t>Confidentiality</a:t>
            </a:r>
            <a:endParaRPr lang="en-US" sz="1000" dirty="0"/>
          </a:p>
        </p:txBody>
      </p:sp>
      <p:sp>
        <p:nvSpPr>
          <p:cNvPr id="33" name="Text 24"/>
          <p:cNvSpPr/>
          <p:nvPr/>
        </p:nvSpPr>
        <p:spPr>
          <a:xfrm>
            <a:off x="4983480" y="1472184"/>
            <a:ext cx="3749040" cy="237744"/>
          </a:xfrm>
          <a:prstGeom prst="rect">
            <a:avLst/>
          </a:prstGeom>
          <a:noFill/>
          <a:ln/>
        </p:spPr>
        <p:txBody>
          <a:bodyPr wrap="square" rtlCol="0" anchor="ctr"/>
          <a:lstStyle/>
          <a:p>
            <a:pPr indent="0" marL="0">
              <a:buNone/>
            </a:pPr>
            <a:r>
              <a:rPr lang="en-US" sz="850" dirty="0">
                <a:solidFill>
                  <a:srgbClr val="CBD5E1"/>
                </a:solidFill>
              </a:rPr>
              <a:t>AES-256-CBC encryption</a:t>
            </a:r>
            <a:endParaRPr lang="en-US" sz="850" dirty="0"/>
          </a:p>
        </p:txBody>
      </p:sp>
      <p:sp>
        <p:nvSpPr>
          <p:cNvPr id="34" name="Shape 25"/>
          <p:cNvSpPr/>
          <p:nvPr/>
        </p:nvSpPr>
        <p:spPr>
          <a:xfrm>
            <a:off x="4526280" y="1746504"/>
            <a:ext cx="4206240" cy="0"/>
          </a:xfrm>
          <a:prstGeom prst="line">
            <a:avLst/>
          </a:prstGeom>
          <a:noFill/>
          <a:ln w="6350">
            <a:solidFill>
              <a:srgbClr val="64748B">
                <a:alpha val="40000"/>
              </a:srgbClr>
            </a:solidFill>
            <a:prstDash val="solid"/>
          </a:ln>
        </p:spPr>
      </p:sp>
      <p:sp>
        <p:nvSpPr>
          <p:cNvPr id="35" name="Shape 26"/>
          <p:cNvSpPr/>
          <p:nvPr/>
        </p:nvSpPr>
        <p:spPr>
          <a:xfrm>
            <a:off x="4526280" y="1801368"/>
            <a:ext cx="365760" cy="256032"/>
          </a:xfrm>
          <a:prstGeom prst="roundRect">
            <a:avLst>
              <a:gd name="adj" fmla="val 14286"/>
            </a:avLst>
          </a:prstGeom>
          <a:solidFill>
            <a:srgbClr val="00D4A1">
              <a:alpha val="80000"/>
            </a:srgbClr>
          </a:solidFill>
          <a:ln w="12700">
            <a:solidFill>
              <a:srgbClr val="00D4A1"/>
            </a:solidFill>
            <a:prstDash val="solid"/>
          </a:ln>
        </p:spPr>
      </p:sp>
      <p:sp>
        <p:nvSpPr>
          <p:cNvPr id="36" name="Text 27"/>
          <p:cNvSpPr/>
          <p:nvPr/>
        </p:nvSpPr>
        <p:spPr>
          <a:xfrm>
            <a:off x="4526280" y="1801368"/>
            <a:ext cx="365760" cy="256032"/>
          </a:xfrm>
          <a:prstGeom prst="rect">
            <a:avLst/>
          </a:prstGeom>
          <a:noFill/>
          <a:ln/>
        </p:spPr>
        <p:txBody>
          <a:bodyPr wrap="square" rtlCol="0" anchor="ctr"/>
          <a:lstStyle/>
          <a:p>
            <a:pPr algn="ctr" indent="0" marL="0">
              <a:buNone/>
            </a:pPr>
            <a:r>
              <a:rPr lang="en-US" sz="800" b="1" dirty="0">
                <a:solidFill>
                  <a:srgbClr val="00D4A1"/>
                </a:solidFill>
              </a:rPr>
              <a:t>G2</a:t>
            </a:r>
            <a:endParaRPr lang="en-US" sz="800" dirty="0"/>
          </a:p>
        </p:txBody>
      </p:sp>
      <p:sp>
        <p:nvSpPr>
          <p:cNvPr id="37" name="Text 28"/>
          <p:cNvSpPr/>
          <p:nvPr/>
        </p:nvSpPr>
        <p:spPr>
          <a:xfrm>
            <a:off x="4983480" y="1801368"/>
            <a:ext cx="1828800" cy="256032"/>
          </a:xfrm>
          <a:prstGeom prst="rect">
            <a:avLst/>
          </a:prstGeom>
          <a:noFill/>
          <a:ln/>
        </p:spPr>
        <p:txBody>
          <a:bodyPr wrap="square" rtlCol="0" anchor="ctr"/>
          <a:lstStyle/>
          <a:p>
            <a:pPr indent="0" marL="0">
              <a:buNone/>
            </a:pPr>
            <a:r>
              <a:rPr lang="en-US" sz="1000" b="1" dirty="0">
                <a:solidFill>
                  <a:srgbClr val="FFFFFF"/>
                </a:solidFill>
              </a:rPr>
              <a:t>Statistical Stealth</a:t>
            </a:r>
            <a:endParaRPr lang="en-US" sz="1000" dirty="0"/>
          </a:p>
        </p:txBody>
      </p:sp>
      <p:sp>
        <p:nvSpPr>
          <p:cNvPr id="38" name="Text 29"/>
          <p:cNvSpPr/>
          <p:nvPr/>
        </p:nvSpPr>
        <p:spPr>
          <a:xfrm>
            <a:off x="4983480" y="2039112"/>
            <a:ext cx="3749040" cy="237744"/>
          </a:xfrm>
          <a:prstGeom prst="rect">
            <a:avLst/>
          </a:prstGeom>
          <a:noFill/>
          <a:ln/>
        </p:spPr>
        <p:txBody>
          <a:bodyPr wrap="square" rtlCol="0" anchor="ctr"/>
          <a:lstStyle/>
          <a:p>
            <a:pPr indent="0" marL="0">
              <a:buNone/>
            </a:pPr>
            <a:r>
              <a:rPr lang="en-US" sz="850" dirty="0">
                <a:solidFill>
                  <a:srgbClr val="CBD5E1"/>
                </a:solidFill>
              </a:rPr>
              <a:t>JUNIWARD adaptive cost embedding</a:t>
            </a:r>
            <a:endParaRPr lang="en-US" sz="850" dirty="0"/>
          </a:p>
        </p:txBody>
      </p:sp>
      <p:sp>
        <p:nvSpPr>
          <p:cNvPr id="39" name="Shape 30"/>
          <p:cNvSpPr/>
          <p:nvPr/>
        </p:nvSpPr>
        <p:spPr>
          <a:xfrm>
            <a:off x="4526280" y="2313432"/>
            <a:ext cx="4206240" cy="0"/>
          </a:xfrm>
          <a:prstGeom prst="line">
            <a:avLst/>
          </a:prstGeom>
          <a:noFill/>
          <a:ln w="6350">
            <a:solidFill>
              <a:srgbClr val="64748B">
                <a:alpha val="40000"/>
              </a:srgbClr>
            </a:solidFill>
            <a:prstDash val="solid"/>
          </a:ln>
        </p:spPr>
      </p:sp>
      <p:sp>
        <p:nvSpPr>
          <p:cNvPr id="40" name="Shape 31"/>
          <p:cNvSpPr/>
          <p:nvPr/>
        </p:nvSpPr>
        <p:spPr>
          <a:xfrm>
            <a:off x="4526280" y="2368296"/>
            <a:ext cx="365760" cy="256032"/>
          </a:xfrm>
          <a:prstGeom prst="roundRect">
            <a:avLst>
              <a:gd name="adj" fmla="val 14286"/>
            </a:avLst>
          </a:prstGeom>
          <a:solidFill>
            <a:srgbClr val="00D4A1">
              <a:alpha val="80000"/>
            </a:srgbClr>
          </a:solidFill>
          <a:ln w="12700">
            <a:solidFill>
              <a:srgbClr val="00D4A1"/>
            </a:solidFill>
            <a:prstDash val="solid"/>
          </a:ln>
        </p:spPr>
      </p:sp>
      <p:sp>
        <p:nvSpPr>
          <p:cNvPr id="41" name="Text 32"/>
          <p:cNvSpPr/>
          <p:nvPr/>
        </p:nvSpPr>
        <p:spPr>
          <a:xfrm>
            <a:off x="4526280" y="2368296"/>
            <a:ext cx="365760" cy="256032"/>
          </a:xfrm>
          <a:prstGeom prst="rect">
            <a:avLst/>
          </a:prstGeom>
          <a:noFill/>
          <a:ln/>
        </p:spPr>
        <p:txBody>
          <a:bodyPr wrap="square" rtlCol="0" anchor="ctr"/>
          <a:lstStyle/>
          <a:p>
            <a:pPr algn="ctr" indent="0" marL="0">
              <a:buNone/>
            </a:pPr>
            <a:r>
              <a:rPr lang="en-US" sz="800" b="1" dirty="0">
                <a:solidFill>
                  <a:srgbClr val="00D4A1"/>
                </a:solidFill>
              </a:rPr>
              <a:t>G3</a:t>
            </a:r>
            <a:endParaRPr lang="en-US" sz="800" dirty="0"/>
          </a:p>
        </p:txBody>
      </p:sp>
      <p:sp>
        <p:nvSpPr>
          <p:cNvPr id="42" name="Text 33"/>
          <p:cNvSpPr/>
          <p:nvPr/>
        </p:nvSpPr>
        <p:spPr>
          <a:xfrm>
            <a:off x="4983480" y="2368296"/>
            <a:ext cx="1828800" cy="256032"/>
          </a:xfrm>
          <a:prstGeom prst="rect">
            <a:avLst/>
          </a:prstGeom>
          <a:noFill/>
          <a:ln/>
        </p:spPr>
        <p:txBody>
          <a:bodyPr wrap="square" rtlCol="0" anchor="ctr"/>
          <a:lstStyle/>
          <a:p>
            <a:pPr indent="0" marL="0">
              <a:buNone/>
            </a:pPr>
            <a:r>
              <a:rPr lang="en-US" sz="1000" b="1" dirty="0">
                <a:solidFill>
                  <a:srgbClr val="FFFFFF"/>
                </a:solidFill>
              </a:rPr>
              <a:t>Forensic Detection</a:t>
            </a:r>
            <a:endParaRPr lang="en-US" sz="1000" dirty="0"/>
          </a:p>
        </p:txBody>
      </p:sp>
      <p:sp>
        <p:nvSpPr>
          <p:cNvPr id="43" name="Text 34"/>
          <p:cNvSpPr/>
          <p:nvPr/>
        </p:nvSpPr>
        <p:spPr>
          <a:xfrm>
            <a:off x="4983480" y="2606040"/>
            <a:ext cx="3749040" cy="237744"/>
          </a:xfrm>
          <a:prstGeom prst="rect">
            <a:avLst/>
          </a:prstGeom>
          <a:noFill/>
          <a:ln/>
        </p:spPr>
        <p:txBody>
          <a:bodyPr wrap="square" rtlCol="0" anchor="ctr"/>
          <a:lstStyle/>
          <a:p>
            <a:pPr indent="0" marL="0">
              <a:buNone/>
            </a:pPr>
            <a:r>
              <a:rPr lang="en-US" sz="850" dirty="0">
                <a:solidFill>
                  <a:srgbClr val="CBD5E1"/>
                </a:solidFill>
              </a:rPr>
              <a:t>CNN-based steganalysis (ONNX)</a:t>
            </a:r>
            <a:endParaRPr lang="en-US" sz="850" dirty="0"/>
          </a:p>
        </p:txBody>
      </p:sp>
      <p:sp>
        <p:nvSpPr>
          <p:cNvPr id="44" name="Shape 35"/>
          <p:cNvSpPr/>
          <p:nvPr/>
        </p:nvSpPr>
        <p:spPr>
          <a:xfrm>
            <a:off x="4526280" y="2880360"/>
            <a:ext cx="4206240" cy="0"/>
          </a:xfrm>
          <a:prstGeom prst="line">
            <a:avLst/>
          </a:prstGeom>
          <a:noFill/>
          <a:ln w="6350">
            <a:solidFill>
              <a:srgbClr val="64748B">
                <a:alpha val="40000"/>
              </a:srgbClr>
            </a:solidFill>
            <a:prstDash val="solid"/>
          </a:ln>
        </p:spPr>
      </p:sp>
      <p:sp>
        <p:nvSpPr>
          <p:cNvPr id="45" name="Shape 36"/>
          <p:cNvSpPr/>
          <p:nvPr/>
        </p:nvSpPr>
        <p:spPr>
          <a:xfrm>
            <a:off x="4526280" y="2935224"/>
            <a:ext cx="365760" cy="256032"/>
          </a:xfrm>
          <a:prstGeom prst="roundRect">
            <a:avLst>
              <a:gd name="adj" fmla="val 14286"/>
            </a:avLst>
          </a:prstGeom>
          <a:solidFill>
            <a:srgbClr val="00D4A1">
              <a:alpha val="80000"/>
            </a:srgbClr>
          </a:solidFill>
          <a:ln w="12700">
            <a:solidFill>
              <a:srgbClr val="00D4A1"/>
            </a:solidFill>
            <a:prstDash val="solid"/>
          </a:ln>
        </p:spPr>
      </p:sp>
      <p:sp>
        <p:nvSpPr>
          <p:cNvPr id="46" name="Text 37"/>
          <p:cNvSpPr/>
          <p:nvPr/>
        </p:nvSpPr>
        <p:spPr>
          <a:xfrm>
            <a:off x="4526280" y="2935224"/>
            <a:ext cx="365760" cy="256032"/>
          </a:xfrm>
          <a:prstGeom prst="rect">
            <a:avLst/>
          </a:prstGeom>
          <a:noFill/>
          <a:ln/>
        </p:spPr>
        <p:txBody>
          <a:bodyPr wrap="square" rtlCol="0" anchor="ctr"/>
          <a:lstStyle/>
          <a:p>
            <a:pPr algn="ctr" indent="0" marL="0">
              <a:buNone/>
            </a:pPr>
            <a:r>
              <a:rPr lang="en-US" sz="800" b="1" dirty="0">
                <a:solidFill>
                  <a:srgbClr val="00D4A1"/>
                </a:solidFill>
              </a:rPr>
              <a:t>G4</a:t>
            </a:r>
            <a:endParaRPr lang="en-US" sz="800" dirty="0"/>
          </a:p>
        </p:txBody>
      </p:sp>
      <p:sp>
        <p:nvSpPr>
          <p:cNvPr id="47" name="Text 38"/>
          <p:cNvSpPr/>
          <p:nvPr/>
        </p:nvSpPr>
        <p:spPr>
          <a:xfrm>
            <a:off x="4983480" y="2935224"/>
            <a:ext cx="1828800" cy="256032"/>
          </a:xfrm>
          <a:prstGeom prst="rect">
            <a:avLst/>
          </a:prstGeom>
          <a:noFill/>
          <a:ln/>
        </p:spPr>
        <p:txBody>
          <a:bodyPr wrap="square" rtlCol="0" anchor="ctr"/>
          <a:lstStyle/>
          <a:p>
            <a:pPr indent="0" marL="0">
              <a:buNone/>
            </a:pPr>
            <a:r>
              <a:rPr lang="en-US" sz="1000" b="1" dirty="0">
                <a:solidFill>
                  <a:srgbClr val="FFFFFF"/>
                </a:solidFill>
              </a:rPr>
              <a:t>Attack Resistance</a:t>
            </a:r>
            <a:endParaRPr lang="en-US" sz="1000" dirty="0"/>
          </a:p>
        </p:txBody>
      </p:sp>
      <p:sp>
        <p:nvSpPr>
          <p:cNvPr id="48" name="Text 39"/>
          <p:cNvSpPr/>
          <p:nvPr/>
        </p:nvSpPr>
        <p:spPr>
          <a:xfrm>
            <a:off x="4983480" y="3172968"/>
            <a:ext cx="3749040" cy="237744"/>
          </a:xfrm>
          <a:prstGeom prst="rect">
            <a:avLst/>
          </a:prstGeom>
          <a:noFill/>
          <a:ln/>
        </p:spPr>
        <p:txBody>
          <a:bodyPr wrap="square" rtlCol="0" anchor="ctr"/>
          <a:lstStyle/>
          <a:p>
            <a:pPr indent="0" marL="0">
              <a:buNone/>
            </a:pPr>
            <a:r>
              <a:rPr lang="en-US" sz="850" dirty="0">
                <a:solidFill>
                  <a:srgbClr val="CBD5E1"/>
                </a:solidFill>
              </a:rPr>
              <a:t>Robustness testing module /attack</a:t>
            </a:r>
            <a:endParaRPr lang="en-US" sz="850" dirty="0"/>
          </a:p>
        </p:txBody>
      </p:sp>
      <p:sp>
        <p:nvSpPr>
          <p:cNvPr id="49" name="Shape 40"/>
          <p:cNvSpPr/>
          <p:nvPr/>
        </p:nvSpPr>
        <p:spPr>
          <a:xfrm>
            <a:off x="4526280" y="3447288"/>
            <a:ext cx="4206240" cy="0"/>
          </a:xfrm>
          <a:prstGeom prst="line">
            <a:avLst/>
          </a:prstGeom>
          <a:noFill/>
          <a:ln w="6350">
            <a:solidFill>
              <a:srgbClr val="64748B">
                <a:alpha val="40000"/>
              </a:srgbClr>
            </a:solidFill>
            <a:prstDash val="solid"/>
          </a:ln>
        </p:spPr>
      </p:sp>
      <p:sp>
        <p:nvSpPr>
          <p:cNvPr id="50" name="Shape 41"/>
          <p:cNvSpPr/>
          <p:nvPr/>
        </p:nvSpPr>
        <p:spPr>
          <a:xfrm>
            <a:off x="4526280" y="3502152"/>
            <a:ext cx="365760" cy="256032"/>
          </a:xfrm>
          <a:prstGeom prst="roundRect">
            <a:avLst>
              <a:gd name="adj" fmla="val 14286"/>
            </a:avLst>
          </a:prstGeom>
          <a:solidFill>
            <a:srgbClr val="00D4A1">
              <a:alpha val="80000"/>
            </a:srgbClr>
          </a:solidFill>
          <a:ln w="12700">
            <a:solidFill>
              <a:srgbClr val="00D4A1"/>
            </a:solidFill>
            <a:prstDash val="solid"/>
          </a:ln>
        </p:spPr>
      </p:sp>
      <p:sp>
        <p:nvSpPr>
          <p:cNvPr id="51" name="Text 42"/>
          <p:cNvSpPr/>
          <p:nvPr/>
        </p:nvSpPr>
        <p:spPr>
          <a:xfrm>
            <a:off x="4526280" y="3502152"/>
            <a:ext cx="365760" cy="256032"/>
          </a:xfrm>
          <a:prstGeom prst="rect">
            <a:avLst/>
          </a:prstGeom>
          <a:noFill/>
          <a:ln/>
        </p:spPr>
        <p:txBody>
          <a:bodyPr wrap="square" rtlCol="0" anchor="ctr"/>
          <a:lstStyle/>
          <a:p>
            <a:pPr algn="ctr" indent="0" marL="0">
              <a:buNone/>
            </a:pPr>
            <a:r>
              <a:rPr lang="en-US" sz="800" b="1" dirty="0">
                <a:solidFill>
                  <a:srgbClr val="00D4A1"/>
                </a:solidFill>
              </a:rPr>
              <a:t>G5</a:t>
            </a:r>
            <a:endParaRPr lang="en-US" sz="800" dirty="0"/>
          </a:p>
        </p:txBody>
      </p:sp>
      <p:sp>
        <p:nvSpPr>
          <p:cNvPr id="52" name="Text 43"/>
          <p:cNvSpPr/>
          <p:nvPr/>
        </p:nvSpPr>
        <p:spPr>
          <a:xfrm>
            <a:off x="4983480" y="3502152"/>
            <a:ext cx="1828800" cy="256032"/>
          </a:xfrm>
          <a:prstGeom prst="rect">
            <a:avLst/>
          </a:prstGeom>
          <a:noFill/>
          <a:ln/>
        </p:spPr>
        <p:txBody>
          <a:bodyPr wrap="square" rtlCol="0" anchor="ctr"/>
          <a:lstStyle/>
          <a:p>
            <a:pPr indent="0" marL="0">
              <a:buNone/>
            </a:pPr>
            <a:r>
              <a:rPr lang="en-US" sz="1000" b="1" dirty="0">
                <a:solidFill>
                  <a:srgbClr val="FFFFFF"/>
                </a:solidFill>
              </a:rPr>
              <a:t>Usable Interface</a:t>
            </a:r>
            <a:endParaRPr lang="en-US" sz="1000" dirty="0"/>
          </a:p>
        </p:txBody>
      </p:sp>
      <p:sp>
        <p:nvSpPr>
          <p:cNvPr id="53" name="Text 44"/>
          <p:cNvSpPr/>
          <p:nvPr/>
        </p:nvSpPr>
        <p:spPr>
          <a:xfrm>
            <a:off x="4983480" y="3739896"/>
            <a:ext cx="3749040" cy="237744"/>
          </a:xfrm>
          <a:prstGeom prst="rect">
            <a:avLst/>
          </a:prstGeom>
          <a:noFill/>
          <a:ln/>
        </p:spPr>
        <p:txBody>
          <a:bodyPr wrap="square" rtlCol="0" anchor="ctr"/>
          <a:lstStyle/>
          <a:p>
            <a:pPr indent="0" marL="0">
              <a:buNone/>
            </a:pPr>
            <a:r>
              <a:rPr lang="en-US" sz="850" dirty="0">
                <a:solidFill>
                  <a:srgbClr val="CBD5E1"/>
                </a:solidFill>
              </a:rPr>
              <a:t>React frontend — all operations</a:t>
            </a:r>
            <a:endParaRPr lang="en-US" sz="850" dirty="0"/>
          </a:p>
        </p:txBody>
      </p:sp>
      <p:sp>
        <p:nvSpPr>
          <p:cNvPr id="54" name="Shape 45"/>
          <p:cNvSpPr/>
          <p:nvPr/>
        </p:nvSpPr>
        <p:spPr>
          <a:xfrm>
            <a:off x="274320" y="4480560"/>
            <a:ext cx="8595360" cy="384048"/>
          </a:xfrm>
          <a:prstGeom prst="roundRect">
            <a:avLst>
              <a:gd name="adj" fmla="val 14286"/>
            </a:avLst>
          </a:prstGeom>
          <a:solidFill>
            <a:srgbClr val="0A1F0A"/>
          </a:solidFill>
          <a:ln w="12700">
            <a:solidFill>
              <a:srgbClr val="00D4A1"/>
            </a:solidFill>
            <a:prstDash val="solid"/>
          </a:ln>
        </p:spPr>
      </p:sp>
      <p:sp>
        <p:nvSpPr>
          <p:cNvPr id="55" name="Text 46"/>
          <p:cNvSpPr/>
          <p:nvPr/>
        </p:nvSpPr>
        <p:spPr>
          <a:xfrm>
            <a:off x="457200" y="4507992"/>
            <a:ext cx="8229600" cy="320040"/>
          </a:xfrm>
          <a:prstGeom prst="rect">
            <a:avLst/>
          </a:prstGeom>
          <a:noFill/>
          <a:ln/>
        </p:spPr>
        <p:txBody>
          <a:bodyPr wrap="square" rtlCol="0" anchor="ctr"/>
          <a:lstStyle/>
          <a:p>
            <a:pPr indent="0" marL="0">
              <a:buNone/>
            </a:pPr>
            <a:r>
              <a:rPr lang="en-US" sz="950" b="1" dirty="0">
                <a:solidFill>
                  <a:srgbClr val="00D4A1"/>
                </a:solidFill>
              </a:rPr>
              <a:t>✓  Adversary does NOT have access to: AES encryption keys  |  JUNIWARD embedding parameters  |  Model weights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w="12700">
            <a:solidFill>
              <a:srgbClr val="0B1220"/>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457200" y="256032"/>
            <a:ext cx="1463040" cy="256032"/>
          </a:xfrm>
          <a:prstGeom prst="rect">
            <a:avLst/>
          </a:prstGeom>
          <a:solidFill>
            <a:srgbClr val="00E5FF"/>
          </a:solidFill>
          <a:ln w="12700">
            <a:solidFill>
              <a:srgbClr val="00E5FF"/>
            </a:solidFill>
            <a:prstDash val="solid"/>
          </a:ln>
        </p:spPr>
      </p:sp>
      <p:sp>
        <p:nvSpPr>
          <p:cNvPr id="5" name="Text 3"/>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ARCHITECTURE</a:t>
            </a:r>
            <a:endParaRPr lang="en-US" sz="900" dirty="0"/>
          </a:p>
        </p:txBody>
      </p:sp>
      <p:sp>
        <p:nvSpPr>
          <p:cNvPr id="6" name="Text 4"/>
          <p:cNvSpPr/>
          <p:nvPr/>
        </p:nvSpPr>
        <p:spPr>
          <a:xfrm>
            <a:off x="2103120" y="182880"/>
            <a:ext cx="6583680" cy="43891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High-Level System Architecture</a:t>
            </a:r>
            <a:endParaRPr lang="en-US" sz="2600" dirty="0"/>
          </a:p>
        </p:txBody>
      </p:sp>
      <p:sp>
        <p:nvSpPr>
          <p:cNvPr id="7" name="Shape 5"/>
          <p:cNvSpPr/>
          <p:nvPr/>
        </p:nvSpPr>
        <p:spPr>
          <a:xfrm>
            <a:off x="137160" y="1097280"/>
            <a:ext cx="1188720" cy="822960"/>
          </a:xfrm>
          <a:prstGeom prst="roundRect">
            <a:avLst>
              <a:gd name="adj" fmla="val 11111"/>
            </a:avLst>
          </a:prstGeom>
          <a:solidFill>
            <a:srgbClr val="0F1E35"/>
          </a:solidFill>
          <a:ln w="19050">
            <a:solidFill>
              <a:srgbClr val="1A8CFF"/>
            </a:solidFill>
            <a:prstDash val="solid"/>
          </a:ln>
        </p:spPr>
      </p:sp>
      <p:sp>
        <p:nvSpPr>
          <p:cNvPr id="8" name="Text 6"/>
          <p:cNvSpPr/>
          <p:nvPr/>
        </p:nvSpPr>
        <p:spPr>
          <a:xfrm>
            <a:off x="137160" y="1097280"/>
            <a:ext cx="1188720" cy="822960"/>
          </a:xfrm>
          <a:prstGeom prst="rect">
            <a:avLst/>
          </a:prstGeom>
          <a:noFill/>
          <a:ln/>
        </p:spPr>
        <p:txBody>
          <a:bodyPr wrap="square" rtlCol="0" anchor="ctr"/>
          <a:lstStyle/>
          <a:p>
            <a:pPr algn="ctr" indent="0" marL="0">
              <a:buNone/>
            </a:pPr>
            <a:r>
              <a:rPr lang="en-US" sz="1000" b="1" dirty="0">
                <a:solidFill>
                  <a:srgbClr val="FFFFFF"/>
                </a:solidFill>
              </a:rPr>
              <a:t>User</a:t>
            </a:r>
            <a:endParaRPr lang="en-US" sz="1000" dirty="0"/>
          </a:p>
          <a:p>
            <a:pPr algn="ctr" indent="0" marL="0">
              <a:buNone/>
            </a:pPr>
            <a:r>
              <a:rPr lang="en-US" sz="1000" b="1" dirty="0">
                <a:solidFill>
                  <a:srgbClr val="FFFFFF"/>
                </a:solidFill>
              </a:rPr>
              <a:t>Browser</a:t>
            </a:r>
            <a:endParaRPr lang="en-US" sz="1000" dirty="0"/>
          </a:p>
        </p:txBody>
      </p:sp>
      <p:sp>
        <p:nvSpPr>
          <p:cNvPr id="9" name="Shape 7"/>
          <p:cNvSpPr/>
          <p:nvPr/>
        </p:nvSpPr>
        <p:spPr>
          <a:xfrm>
            <a:off x="1325880" y="1508760"/>
            <a:ext cx="457200" cy="0"/>
          </a:xfrm>
          <a:prstGeom prst="line">
            <a:avLst/>
          </a:prstGeom>
          <a:noFill/>
          <a:ln w="25400">
            <a:solidFill>
              <a:srgbClr val="00E5FF"/>
            </a:solidFill>
            <a:prstDash val="solid"/>
            <a:tailEnd type="triangle"/>
          </a:ln>
        </p:spPr>
      </p:sp>
      <p:sp>
        <p:nvSpPr>
          <p:cNvPr id="10" name="Shape 8"/>
          <p:cNvSpPr/>
          <p:nvPr/>
        </p:nvSpPr>
        <p:spPr>
          <a:xfrm>
            <a:off x="1828800" y="731520"/>
            <a:ext cx="1828800" cy="1508760"/>
          </a:xfrm>
          <a:prstGeom prst="roundRect">
            <a:avLst>
              <a:gd name="adj" fmla="val 7273"/>
            </a:avLst>
          </a:prstGeom>
          <a:solidFill>
            <a:srgbClr val="0F1E35"/>
          </a:solidFill>
          <a:ln w="25400">
            <a:solidFill>
              <a:srgbClr val="1A8CFF"/>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1828800" y="731520"/>
            <a:ext cx="1828800" cy="274320"/>
          </a:xfrm>
          <a:prstGeom prst="rect">
            <a:avLst/>
          </a:prstGeom>
          <a:solidFill>
            <a:srgbClr val="1A8CFF">
              <a:alpha val="80000"/>
            </a:srgbClr>
          </a:solidFill>
          <a:ln w="12700">
            <a:solidFill>
              <a:srgbClr val="1A8CFF">
                <a:alpha val="80000"/>
              </a:srgbClr>
            </a:solidFill>
            <a:prstDash val="solid"/>
          </a:ln>
        </p:spPr>
      </p:sp>
      <p:sp>
        <p:nvSpPr>
          <p:cNvPr id="12" name="Text 10"/>
          <p:cNvSpPr/>
          <p:nvPr/>
        </p:nvSpPr>
        <p:spPr>
          <a:xfrm>
            <a:off x="1828800" y="731520"/>
            <a:ext cx="1828800" cy="274320"/>
          </a:xfrm>
          <a:prstGeom prst="rect">
            <a:avLst/>
          </a:prstGeom>
          <a:noFill/>
          <a:ln/>
        </p:spPr>
        <p:txBody>
          <a:bodyPr wrap="square" rtlCol="0" anchor="ctr"/>
          <a:lstStyle/>
          <a:p>
            <a:pPr algn="ctr" indent="0" marL="0">
              <a:buNone/>
            </a:pPr>
            <a:r>
              <a:rPr lang="en-US" sz="850" b="1" dirty="0">
                <a:solidFill>
                  <a:srgbClr val="FFFFFF"/>
                </a:solidFill>
              </a:rPr>
              <a:t>REACT FRONTEND</a:t>
            </a:r>
            <a:endParaRPr lang="en-US" sz="850" dirty="0"/>
          </a:p>
        </p:txBody>
      </p:sp>
      <p:sp>
        <p:nvSpPr>
          <p:cNvPr id="13" name="Text 11"/>
          <p:cNvSpPr/>
          <p:nvPr/>
        </p:nvSpPr>
        <p:spPr>
          <a:xfrm>
            <a:off x="1828800" y="1024128"/>
            <a:ext cx="1828800" cy="219456"/>
          </a:xfrm>
          <a:prstGeom prst="rect">
            <a:avLst/>
          </a:prstGeom>
          <a:noFill/>
          <a:ln/>
        </p:spPr>
        <p:txBody>
          <a:bodyPr wrap="square" rtlCol="0" anchor="ctr"/>
          <a:lstStyle/>
          <a:p>
            <a:pPr algn="ctr" indent="0" marL="0">
              <a:buNone/>
            </a:pPr>
            <a:r>
              <a:rPr lang="en-US" sz="800" dirty="0">
                <a:solidFill>
                  <a:srgbClr val="1A8CFF"/>
                </a:solidFill>
              </a:rPr>
              <a:t>Port 3000</a:t>
            </a:r>
            <a:endParaRPr lang="en-US" sz="800" dirty="0"/>
          </a:p>
        </p:txBody>
      </p:sp>
      <p:sp>
        <p:nvSpPr>
          <p:cNvPr id="14" name="Text 12"/>
          <p:cNvSpPr/>
          <p:nvPr/>
        </p:nvSpPr>
        <p:spPr>
          <a:xfrm>
            <a:off x="1874520" y="1243584"/>
            <a:ext cx="1737360" cy="502920"/>
          </a:xfrm>
          <a:prstGeom prst="rect">
            <a:avLst/>
          </a:prstGeom>
          <a:noFill/>
          <a:ln/>
        </p:spPr>
        <p:txBody>
          <a:bodyPr wrap="square" rtlCol="0" anchor="ctr"/>
          <a:lstStyle/>
          <a:p>
            <a:pPr algn="ctr" indent="0" marL="0">
              <a:buNone/>
            </a:pPr>
            <a:r>
              <a:rPr lang="en-US" sz="850" dirty="0">
                <a:solidFill>
                  <a:srgbClr val="CBD5E1"/>
                </a:solidFill>
              </a:rPr>
              <a:t>Encode · Decode · Detect · Attack</a:t>
            </a:r>
            <a:endParaRPr lang="en-US" sz="850" dirty="0"/>
          </a:p>
          <a:p>
            <a:pPr algn="ctr" indent="0" marL="0">
              <a:buNone/>
            </a:pPr>
            <a:r>
              <a:rPr lang="en-US" sz="850" dirty="0">
                <a:solidFill>
                  <a:srgbClr val="CBD5E1"/>
                </a:solidFill>
              </a:rPr>
              <a:t>Axios API Calls</a:t>
            </a:r>
            <a:endParaRPr lang="en-US" sz="850" dirty="0"/>
          </a:p>
        </p:txBody>
      </p:sp>
      <p:pic>
        <p:nvPicPr>
          <p:cNvPr id="15" name="Image 0" descr="preencoded.png">    </p:cNvPr>
          <p:cNvPicPr>
            <a:picLocks noChangeAspect="1"/>
          </p:cNvPicPr>
          <p:nvPr/>
        </p:nvPicPr>
        <p:blipFill>
          <a:blip r:embed="rId1"/>
          <a:stretch>
            <a:fillRect/>
          </a:stretch>
        </p:blipFill>
        <p:spPr>
          <a:xfrm>
            <a:off x="2523744" y="1828800"/>
            <a:ext cx="402336" cy="402336"/>
          </a:xfrm>
          <a:prstGeom prst="rect">
            <a:avLst/>
          </a:prstGeom>
        </p:spPr>
      </p:pic>
      <p:sp>
        <p:nvSpPr>
          <p:cNvPr id="16" name="Shape 13"/>
          <p:cNvSpPr/>
          <p:nvPr/>
        </p:nvSpPr>
        <p:spPr>
          <a:xfrm>
            <a:off x="3657600" y="1481328"/>
            <a:ext cx="502920" cy="0"/>
          </a:xfrm>
          <a:prstGeom prst="line">
            <a:avLst/>
          </a:prstGeom>
          <a:noFill/>
          <a:ln w="25400">
            <a:solidFill>
              <a:srgbClr val="00E5FF"/>
            </a:solidFill>
            <a:prstDash val="solid"/>
            <a:tailEnd type="triangle"/>
          </a:ln>
        </p:spPr>
      </p:sp>
      <p:sp>
        <p:nvSpPr>
          <p:cNvPr id="17" name="Text 14"/>
          <p:cNvSpPr/>
          <p:nvPr/>
        </p:nvSpPr>
        <p:spPr>
          <a:xfrm>
            <a:off x="3657600" y="1298448"/>
            <a:ext cx="640080" cy="201168"/>
          </a:xfrm>
          <a:prstGeom prst="rect">
            <a:avLst/>
          </a:prstGeom>
          <a:noFill/>
          <a:ln/>
        </p:spPr>
        <p:txBody>
          <a:bodyPr wrap="square" rtlCol="0" anchor="ctr"/>
          <a:lstStyle/>
          <a:p>
            <a:pPr algn="ctr" indent="0" marL="0">
              <a:buNone/>
            </a:pPr>
            <a:r>
              <a:rPr lang="en-US" sz="700" dirty="0">
                <a:solidFill>
                  <a:srgbClr val="64748B"/>
                </a:solidFill>
              </a:rPr>
              <a:t>HTTP/CORS</a:t>
            </a:r>
            <a:endParaRPr lang="en-US" sz="700" dirty="0"/>
          </a:p>
        </p:txBody>
      </p:sp>
      <p:sp>
        <p:nvSpPr>
          <p:cNvPr id="18" name="Shape 15"/>
          <p:cNvSpPr/>
          <p:nvPr/>
        </p:nvSpPr>
        <p:spPr>
          <a:xfrm>
            <a:off x="4206240" y="731520"/>
            <a:ext cx="1828800" cy="1508760"/>
          </a:xfrm>
          <a:prstGeom prst="roundRect">
            <a:avLst>
              <a:gd name="adj" fmla="val 7273"/>
            </a:avLst>
          </a:prstGeom>
          <a:solidFill>
            <a:srgbClr val="0F1E35"/>
          </a:solidFill>
          <a:ln w="25400">
            <a:solidFill>
              <a:srgbClr val="7B2FFF"/>
            </a:solidFill>
            <a:prstDash val="solid"/>
          </a:ln>
          <a:effectLst>
            <a:outerShdw sx="100000" sy="100000" kx="0" ky="0" algn="bl" rotWithShape="0" blurRad="101600" dist="38100" dir="8100000">
              <a:srgbClr val="000000">
                <a:alpha val="30000"/>
              </a:srgbClr>
            </a:outerShdw>
          </a:effectLst>
        </p:spPr>
      </p:sp>
      <p:sp>
        <p:nvSpPr>
          <p:cNvPr id="19" name="Shape 16"/>
          <p:cNvSpPr/>
          <p:nvPr/>
        </p:nvSpPr>
        <p:spPr>
          <a:xfrm>
            <a:off x="4206240" y="731520"/>
            <a:ext cx="1828800" cy="274320"/>
          </a:xfrm>
          <a:prstGeom prst="rect">
            <a:avLst/>
          </a:prstGeom>
          <a:solidFill>
            <a:srgbClr val="7B2FFF">
              <a:alpha val="80000"/>
            </a:srgbClr>
          </a:solidFill>
          <a:ln w="12700">
            <a:solidFill>
              <a:srgbClr val="7B2FFF">
                <a:alpha val="80000"/>
              </a:srgbClr>
            </a:solidFill>
            <a:prstDash val="solid"/>
          </a:ln>
        </p:spPr>
      </p:sp>
      <p:sp>
        <p:nvSpPr>
          <p:cNvPr id="20" name="Text 17"/>
          <p:cNvSpPr/>
          <p:nvPr/>
        </p:nvSpPr>
        <p:spPr>
          <a:xfrm>
            <a:off x="4206240" y="731520"/>
            <a:ext cx="1828800" cy="274320"/>
          </a:xfrm>
          <a:prstGeom prst="rect">
            <a:avLst/>
          </a:prstGeom>
          <a:noFill/>
          <a:ln/>
        </p:spPr>
        <p:txBody>
          <a:bodyPr wrap="square" rtlCol="0" anchor="ctr"/>
          <a:lstStyle/>
          <a:p>
            <a:pPr algn="ctr" indent="0" marL="0">
              <a:buNone/>
            </a:pPr>
            <a:r>
              <a:rPr lang="en-US" sz="850" b="1" dirty="0">
                <a:solidFill>
                  <a:srgbClr val="FFFFFF"/>
                </a:solidFill>
              </a:rPr>
              <a:t>FASTAPI BACKEND</a:t>
            </a:r>
            <a:endParaRPr lang="en-US" sz="850" dirty="0"/>
          </a:p>
        </p:txBody>
      </p:sp>
      <p:sp>
        <p:nvSpPr>
          <p:cNvPr id="21" name="Text 18"/>
          <p:cNvSpPr/>
          <p:nvPr/>
        </p:nvSpPr>
        <p:spPr>
          <a:xfrm>
            <a:off x="4206240" y="1024128"/>
            <a:ext cx="1828800" cy="219456"/>
          </a:xfrm>
          <a:prstGeom prst="rect">
            <a:avLst/>
          </a:prstGeom>
          <a:noFill/>
          <a:ln/>
        </p:spPr>
        <p:txBody>
          <a:bodyPr wrap="square" rtlCol="0" anchor="ctr"/>
          <a:lstStyle/>
          <a:p>
            <a:pPr algn="ctr" indent="0" marL="0">
              <a:buNone/>
            </a:pPr>
            <a:r>
              <a:rPr lang="en-US" sz="800" dirty="0">
                <a:solidFill>
                  <a:srgbClr val="7B2FFF"/>
                </a:solidFill>
              </a:rPr>
              <a:t>Port 8000</a:t>
            </a:r>
            <a:endParaRPr lang="en-US" sz="800" dirty="0"/>
          </a:p>
        </p:txBody>
      </p:sp>
      <p:sp>
        <p:nvSpPr>
          <p:cNvPr id="22" name="Text 19"/>
          <p:cNvSpPr/>
          <p:nvPr/>
        </p:nvSpPr>
        <p:spPr>
          <a:xfrm>
            <a:off x="4251960" y="1243584"/>
            <a:ext cx="1737360" cy="594360"/>
          </a:xfrm>
          <a:prstGeom prst="rect">
            <a:avLst/>
          </a:prstGeom>
          <a:noFill/>
          <a:ln/>
        </p:spPr>
        <p:txBody>
          <a:bodyPr wrap="square" rtlCol="0" anchor="ctr"/>
          <a:lstStyle/>
          <a:p>
            <a:pPr algn="ctr" indent="0" marL="0">
              <a:buNone/>
            </a:pPr>
            <a:r>
              <a:rPr lang="en-US" sz="850" dirty="0">
                <a:solidFill>
                  <a:srgbClr val="CBD5E1"/>
                </a:solidFill>
              </a:rPr>
              <a:t>Orchestration Only</a:t>
            </a:r>
            <a:endParaRPr lang="en-US" sz="850" dirty="0"/>
          </a:p>
          <a:p>
            <a:pPr algn="ctr" indent="0" marL="0">
              <a:buNone/>
            </a:pPr>
            <a:r>
              <a:rPr lang="en-US" sz="850" dirty="0">
                <a:solidFill>
                  <a:srgbClr val="CBD5E1"/>
                </a:solidFill>
              </a:rPr>
              <a:t>/encode /decode</a:t>
            </a:r>
            <a:endParaRPr lang="en-US" sz="850" dirty="0"/>
          </a:p>
          <a:p>
            <a:pPr algn="ctr" indent="0" marL="0">
              <a:buNone/>
            </a:pPr>
            <a:r>
              <a:rPr lang="en-US" sz="850" dirty="0">
                <a:solidFill>
                  <a:srgbClr val="CBD5E1"/>
                </a:solidFill>
              </a:rPr>
              <a:t>/detect /attack</a:t>
            </a:r>
            <a:endParaRPr lang="en-US" sz="850" dirty="0"/>
          </a:p>
        </p:txBody>
      </p:sp>
      <p:pic>
        <p:nvPicPr>
          <p:cNvPr id="23" name="Image 1" descr="preencoded.png">    </p:cNvPr>
          <p:cNvPicPr>
            <a:picLocks noChangeAspect="1"/>
          </p:cNvPicPr>
          <p:nvPr/>
        </p:nvPicPr>
        <p:blipFill>
          <a:blip r:embed="rId2"/>
          <a:stretch>
            <a:fillRect/>
          </a:stretch>
        </p:blipFill>
        <p:spPr>
          <a:xfrm>
            <a:off x="4901184" y="1828800"/>
            <a:ext cx="402336" cy="402336"/>
          </a:xfrm>
          <a:prstGeom prst="rect">
            <a:avLst/>
          </a:prstGeom>
        </p:spPr>
      </p:pic>
      <p:sp>
        <p:nvSpPr>
          <p:cNvPr id="24" name="Shape 20"/>
          <p:cNvSpPr/>
          <p:nvPr/>
        </p:nvSpPr>
        <p:spPr>
          <a:xfrm>
            <a:off x="4572000" y="2240280"/>
            <a:ext cx="0" cy="502920"/>
          </a:xfrm>
          <a:prstGeom prst="line">
            <a:avLst/>
          </a:prstGeom>
          <a:noFill/>
          <a:ln w="25400">
            <a:solidFill>
              <a:srgbClr val="00E5FF"/>
            </a:solidFill>
            <a:prstDash val="solid"/>
            <a:tailEnd type="triangle"/>
          </a:ln>
        </p:spPr>
      </p:sp>
      <p:sp>
        <p:nvSpPr>
          <p:cNvPr id="25" name="Shape 21"/>
          <p:cNvSpPr/>
          <p:nvPr/>
        </p:nvSpPr>
        <p:spPr>
          <a:xfrm>
            <a:off x="4937760" y="2240280"/>
            <a:ext cx="0" cy="502920"/>
          </a:xfrm>
          <a:prstGeom prst="line">
            <a:avLst/>
          </a:prstGeom>
          <a:noFill/>
          <a:ln w="25400">
            <a:solidFill>
              <a:srgbClr val="00E5FF"/>
            </a:solidFill>
            <a:prstDash val="solid"/>
            <a:tailEnd type="triangle"/>
          </a:ln>
        </p:spPr>
      </p:sp>
      <p:sp>
        <p:nvSpPr>
          <p:cNvPr id="26" name="Shape 22"/>
          <p:cNvSpPr/>
          <p:nvPr/>
        </p:nvSpPr>
        <p:spPr>
          <a:xfrm>
            <a:off x="5303520" y="2240280"/>
            <a:ext cx="0" cy="502920"/>
          </a:xfrm>
          <a:prstGeom prst="line">
            <a:avLst/>
          </a:prstGeom>
          <a:noFill/>
          <a:ln w="25400">
            <a:solidFill>
              <a:srgbClr val="00E5FF"/>
            </a:solidFill>
            <a:prstDash val="solid"/>
            <a:tailEnd type="triangle"/>
          </a:ln>
        </p:spPr>
      </p:sp>
      <p:sp>
        <p:nvSpPr>
          <p:cNvPr id="27" name="Shape 23"/>
          <p:cNvSpPr/>
          <p:nvPr/>
        </p:nvSpPr>
        <p:spPr>
          <a:xfrm>
            <a:off x="274320" y="2788920"/>
            <a:ext cx="2743200" cy="1417320"/>
          </a:xfrm>
          <a:prstGeom prst="roundRect">
            <a:avLst>
              <a:gd name="adj" fmla="val 7742"/>
            </a:avLst>
          </a:prstGeom>
          <a:solidFill>
            <a:srgbClr val="0F1E35"/>
          </a:solidFill>
          <a:ln w="25400">
            <a:solidFill>
              <a:srgbClr val="00E5FF"/>
            </a:solidFill>
            <a:prstDash val="solid"/>
          </a:ln>
          <a:effectLst>
            <a:outerShdw sx="100000" sy="100000" kx="0" ky="0" algn="bl" rotWithShape="0" blurRad="101600" dist="38100" dir="8100000">
              <a:srgbClr val="000000">
                <a:alpha val="30000"/>
              </a:srgbClr>
            </a:outerShdw>
          </a:effectLst>
        </p:spPr>
      </p:sp>
      <p:sp>
        <p:nvSpPr>
          <p:cNvPr id="28" name="Shape 24"/>
          <p:cNvSpPr/>
          <p:nvPr/>
        </p:nvSpPr>
        <p:spPr>
          <a:xfrm>
            <a:off x="274320" y="2788920"/>
            <a:ext cx="2743200" cy="256032"/>
          </a:xfrm>
          <a:prstGeom prst="rect">
            <a:avLst/>
          </a:prstGeom>
          <a:solidFill>
            <a:srgbClr val="00E5FF">
              <a:alpha val="80000"/>
            </a:srgbClr>
          </a:solidFill>
          <a:ln w="12700">
            <a:solidFill>
              <a:srgbClr val="00E5FF">
                <a:alpha val="80000"/>
              </a:srgbClr>
            </a:solidFill>
            <a:prstDash val="solid"/>
          </a:ln>
        </p:spPr>
      </p:sp>
      <p:sp>
        <p:nvSpPr>
          <p:cNvPr id="29" name="Text 25"/>
          <p:cNvSpPr/>
          <p:nvPr/>
        </p:nvSpPr>
        <p:spPr>
          <a:xfrm>
            <a:off x="274320" y="2788920"/>
            <a:ext cx="2743200" cy="256032"/>
          </a:xfrm>
          <a:prstGeom prst="rect">
            <a:avLst/>
          </a:prstGeom>
          <a:noFill/>
          <a:ln/>
        </p:spPr>
        <p:txBody>
          <a:bodyPr wrap="square" rtlCol="0" anchor="ctr"/>
          <a:lstStyle/>
          <a:p>
            <a:pPr algn="ctr" indent="0" marL="0">
              <a:buNone/>
            </a:pPr>
            <a:r>
              <a:rPr lang="en-US" sz="900" b="1" dirty="0">
                <a:solidFill>
                  <a:srgbClr val="FFFFFF"/>
                </a:solidFill>
              </a:rPr>
              <a:t>CRYPTOGRAPHY</a:t>
            </a:r>
            <a:endParaRPr lang="en-US" sz="900" dirty="0"/>
          </a:p>
        </p:txBody>
      </p:sp>
      <p:pic>
        <p:nvPicPr>
          <p:cNvPr id="30" name="Image 2" descr="preencoded.png">    </p:cNvPr>
          <p:cNvPicPr>
            <a:picLocks noChangeAspect="1"/>
          </p:cNvPicPr>
          <p:nvPr/>
        </p:nvPicPr>
        <p:blipFill>
          <a:blip r:embed="rId3"/>
          <a:stretch>
            <a:fillRect/>
          </a:stretch>
        </p:blipFill>
        <p:spPr>
          <a:xfrm>
            <a:off x="1399032" y="3090672"/>
            <a:ext cx="438912" cy="438912"/>
          </a:xfrm>
          <a:prstGeom prst="rect">
            <a:avLst/>
          </a:prstGeom>
        </p:spPr>
      </p:pic>
      <p:sp>
        <p:nvSpPr>
          <p:cNvPr id="31" name="Text 26"/>
          <p:cNvSpPr/>
          <p:nvPr/>
        </p:nvSpPr>
        <p:spPr>
          <a:xfrm>
            <a:off x="274320" y="3566160"/>
            <a:ext cx="2743200" cy="548640"/>
          </a:xfrm>
          <a:prstGeom prst="rect">
            <a:avLst/>
          </a:prstGeom>
          <a:noFill/>
          <a:ln/>
        </p:spPr>
        <p:txBody>
          <a:bodyPr wrap="square" rtlCol="0" anchor="ctr"/>
          <a:lstStyle/>
          <a:p>
            <a:pPr algn="ctr" indent="0" marL="0">
              <a:buNone/>
            </a:pPr>
            <a:r>
              <a:rPr lang="en-US" sz="900" dirty="0">
                <a:solidFill>
                  <a:srgbClr val="CBD5E1"/>
                </a:solidFill>
              </a:rPr>
              <a:t>AES-256-CBC</a:t>
            </a:r>
            <a:endParaRPr lang="en-US" sz="900" dirty="0"/>
          </a:p>
          <a:p>
            <a:pPr algn="ctr" indent="0" marL="0">
              <a:buNone/>
            </a:pPr>
            <a:r>
              <a:rPr lang="en-US" sz="900" dirty="0">
                <a:solidFill>
                  <a:srgbClr val="CBD5E1"/>
                </a:solidFill>
              </a:rPr>
              <a:t>Encrypt / Decrypt</a:t>
            </a:r>
            <a:endParaRPr lang="en-US" sz="900" dirty="0"/>
          </a:p>
        </p:txBody>
      </p:sp>
      <p:sp>
        <p:nvSpPr>
          <p:cNvPr id="32" name="Shape 27"/>
          <p:cNvSpPr/>
          <p:nvPr/>
        </p:nvSpPr>
        <p:spPr>
          <a:xfrm>
            <a:off x="3200400" y="2788920"/>
            <a:ext cx="2743200" cy="1417320"/>
          </a:xfrm>
          <a:prstGeom prst="roundRect">
            <a:avLst>
              <a:gd name="adj" fmla="val 7742"/>
            </a:avLst>
          </a:prstGeom>
          <a:solidFill>
            <a:srgbClr val="0F1E35"/>
          </a:solidFill>
          <a:ln w="25400">
            <a:solidFill>
              <a:srgbClr val="FF6B35"/>
            </a:solidFill>
            <a:prstDash val="solid"/>
          </a:ln>
          <a:effectLst>
            <a:outerShdw sx="100000" sy="100000" kx="0" ky="0" algn="bl" rotWithShape="0" blurRad="101600" dist="38100" dir="8100000">
              <a:srgbClr val="000000">
                <a:alpha val="30000"/>
              </a:srgbClr>
            </a:outerShdw>
          </a:effectLst>
        </p:spPr>
      </p:sp>
      <p:sp>
        <p:nvSpPr>
          <p:cNvPr id="33" name="Shape 28"/>
          <p:cNvSpPr/>
          <p:nvPr/>
        </p:nvSpPr>
        <p:spPr>
          <a:xfrm>
            <a:off x="3200400" y="2788920"/>
            <a:ext cx="2743200" cy="256032"/>
          </a:xfrm>
          <a:prstGeom prst="rect">
            <a:avLst/>
          </a:prstGeom>
          <a:solidFill>
            <a:srgbClr val="FF6B35">
              <a:alpha val="80000"/>
            </a:srgbClr>
          </a:solidFill>
          <a:ln w="12700">
            <a:solidFill>
              <a:srgbClr val="FF6B35">
                <a:alpha val="80000"/>
              </a:srgbClr>
            </a:solidFill>
            <a:prstDash val="solid"/>
          </a:ln>
        </p:spPr>
      </p:sp>
      <p:sp>
        <p:nvSpPr>
          <p:cNvPr id="34" name="Text 29"/>
          <p:cNvSpPr/>
          <p:nvPr/>
        </p:nvSpPr>
        <p:spPr>
          <a:xfrm>
            <a:off x="3200400" y="2788920"/>
            <a:ext cx="2743200" cy="256032"/>
          </a:xfrm>
          <a:prstGeom prst="rect">
            <a:avLst/>
          </a:prstGeom>
          <a:noFill/>
          <a:ln/>
        </p:spPr>
        <p:txBody>
          <a:bodyPr wrap="square" rtlCol="0" anchor="ctr"/>
          <a:lstStyle/>
          <a:p>
            <a:pPr algn="ctr" indent="0" marL="0">
              <a:buNone/>
            </a:pPr>
            <a:r>
              <a:rPr lang="en-US" sz="900" b="1" dirty="0">
                <a:solidFill>
                  <a:srgbClr val="FFFFFF"/>
                </a:solidFill>
              </a:rPr>
              <a:t>JUNIWARD</a:t>
            </a:r>
            <a:endParaRPr lang="en-US" sz="900" dirty="0"/>
          </a:p>
        </p:txBody>
      </p:sp>
      <p:pic>
        <p:nvPicPr>
          <p:cNvPr id="35" name="Image 3" descr="preencoded.png">    </p:cNvPr>
          <p:cNvPicPr>
            <a:picLocks noChangeAspect="1"/>
          </p:cNvPicPr>
          <p:nvPr/>
        </p:nvPicPr>
        <p:blipFill>
          <a:blip r:embed="rId4"/>
          <a:stretch>
            <a:fillRect/>
          </a:stretch>
        </p:blipFill>
        <p:spPr>
          <a:xfrm>
            <a:off x="4325112" y="3090672"/>
            <a:ext cx="438912" cy="438912"/>
          </a:xfrm>
          <a:prstGeom prst="rect">
            <a:avLst/>
          </a:prstGeom>
        </p:spPr>
      </p:pic>
      <p:sp>
        <p:nvSpPr>
          <p:cNvPr id="36" name="Text 30"/>
          <p:cNvSpPr/>
          <p:nvPr/>
        </p:nvSpPr>
        <p:spPr>
          <a:xfrm>
            <a:off x="3200400" y="3566160"/>
            <a:ext cx="2743200" cy="548640"/>
          </a:xfrm>
          <a:prstGeom prst="rect">
            <a:avLst/>
          </a:prstGeom>
          <a:noFill/>
          <a:ln/>
        </p:spPr>
        <p:txBody>
          <a:bodyPr wrap="square" rtlCol="0" anchor="ctr"/>
          <a:lstStyle/>
          <a:p>
            <a:pPr algn="ctr" indent="0" marL="0">
              <a:buNone/>
            </a:pPr>
            <a:r>
              <a:rPr lang="en-US" sz="900" dirty="0">
                <a:solidFill>
                  <a:srgbClr val="CBD5E1"/>
                </a:solidFill>
              </a:rPr>
              <a:t>DWT + STC</a:t>
            </a:r>
            <a:endParaRPr lang="en-US" sz="900" dirty="0"/>
          </a:p>
          <a:p>
            <a:pPr algn="ctr" indent="0" marL="0">
              <a:buNone/>
            </a:pPr>
            <a:r>
              <a:rPr lang="en-US" sz="900" dirty="0">
                <a:solidFill>
                  <a:srgbClr val="CBD5E1"/>
                </a:solidFill>
              </a:rPr>
              <a:t>Embed / Extract</a:t>
            </a:r>
            <a:endParaRPr lang="en-US" sz="900" dirty="0"/>
          </a:p>
        </p:txBody>
      </p:sp>
      <p:sp>
        <p:nvSpPr>
          <p:cNvPr id="37" name="Shape 31"/>
          <p:cNvSpPr/>
          <p:nvPr/>
        </p:nvSpPr>
        <p:spPr>
          <a:xfrm>
            <a:off x="6126480" y="2788920"/>
            <a:ext cx="2743200" cy="1417320"/>
          </a:xfrm>
          <a:prstGeom prst="roundRect">
            <a:avLst>
              <a:gd name="adj" fmla="val 7742"/>
            </a:avLst>
          </a:prstGeom>
          <a:solidFill>
            <a:srgbClr val="0F1E35"/>
          </a:solidFill>
          <a:ln w="25400">
            <a:solidFill>
              <a:srgbClr val="00D4A1"/>
            </a:solidFill>
            <a:prstDash val="solid"/>
          </a:ln>
          <a:effectLst>
            <a:outerShdw sx="100000" sy="100000" kx="0" ky="0" algn="bl" rotWithShape="0" blurRad="101600" dist="38100" dir="8100000">
              <a:srgbClr val="000000">
                <a:alpha val="30000"/>
              </a:srgbClr>
            </a:outerShdw>
          </a:effectLst>
        </p:spPr>
      </p:sp>
      <p:sp>
        <p:nvSpPr>
          <p:cNvPr id="38" name="Shape 32"/>
          <p:cNvSpPr/>
          <p:nvPr/>
        </p:nvSpPr>
        <p:spPr>
          <a:xfrm>
            <a:off x="6126480" y="2788920"/>
            <a:ext cx="2743200" cy="256032"/>
          </a:xfrm>
          <a:prstGeom prst="rect">
            <a:avLst/>
          </a:prstGeom>
          <a:solidFill>
            <a:srgbClr val="00D4A1">
              <a:alpha val="80000"/>
            </a:srgbClr>
          </a:solidFill>
          <a:ln w="12700">
            <a:solidFill>
              <a:srgbClr val="00D4A1">
                <a:alpha val="80000"/>
              </a:srgbClr>
            </a:solidFill>
            <a:prstDash val="solid"/>
          </a:ln>
        </p:spPr>
      </p:sp>
      <p:sp>
        <p:nvSpPr>
          <p:cNvPr id="39" name="Text 33"/>
          <p:cNvSpPr/>
          <p:nvPr/>
        </p:nvSpPr>
        <p:spPr>
          <a:xfrm>
            <a:off x="6126480" y="2788920"/>
            <a:ext cx="2743200" cy="256032"/>
          </a:xfrm>
          <a:prstGeom prst="rect">
            <a:avLst/>
          </a:prstGeom>
          <a:noFill/>
          <a:ln/>
        </p:spPr>
        <p:txBody>
          <a:bodyPr wrap="square" rtlCol="0" anchor="ctr"/>
          <a:lstStyle/>
          <a:p>
            <a:pPr algn="ctr" indent="0" marL="0">
              <a:buNone/>
            </a:pPr>
            <a:r>
              <a:rPr lang="en-US" sz="900" b="1" dirty="0">
                <a:solidFill>
                  <a:srgbClr val="FFFFFF"/>
                </a:solidFill>
              </a:rPr>
              <a:t>ML DETECTION</a:t>
            </a:r>
            <a:endParaRPr lang="en-US" sz="900" dirty="0"/>
          </a:p>
        </p:txBody>
      </p:sp>
      <p:pic>
        <p:nvPicPr>
          <p:cNvPr id="40" name="Image 4" descr="preencoded.png">    </p:cNvPr>
          <p:cNvPicPr>
            <a:picLocks noChangeAspect="1"/>
          </p:cNvPicPr>
          <p:nvPr/>
        </p:nvPicPr>
        <p:blipFill>
          <a:blip r:embed="rId5"/>
          <a:stretch>
            <a:fillRect/>
          </a:stretch>
        </p:blipFill>
        <p:spPr>
          <a:xfrm>
            <a:off x="7251192" y="3090672"/>
            <a:ext cx="438912" cy="438912"/>
          </a:xfrm>
          <a:prstGeom prst="rect">
            <a:avLst/>
          </a:prstGeom>
        </p:spPr>
      </p:pic>
      <p:sp>
        <p:nvSpPr>
          <p:cNvPr id="41" name="Text 34"/>
          <p:cNvSpPr/>
          <p:nvPr/>
        </p:nvSpPr>
        <p:spPr>
          <a:xfrm>
            <a:off x="6126480" y="3566160"/>
            <a:ext cx="2743200" cy="548640"/>
          </a:xfrm>
          <a:prstGeom prst="rect">
            <a:avLst/>
          </a:prstGeom>
          <a:noFill/>
          <a:ln/>
        </p:spPr>
        <p:txBody>
          <a:bodyPr wrap="square" rtlCol="0" anchor="ctr"/>
          <a:lstStyle/>
          <a:p>
            <a:pPr algn="ctr" indent="0" marL="0">
              <a:buNone/>
            </a:pPr>
            <a:r>
              <a:rPr lang="en-US" sz="900" dirty="0">
                <a:solidFill>
                  <a:srgbClr val="CBD5E1"/>
                </a:solidFill>
              </a:rPr>
              <a:t>CNN + ONNX</a:t>
            </a:r>
            <a:endParaRPr lang="en-US" sz="900" dirty="0"/>
          </a:p>
          <a:p>
            <a:pPr algn="ctr" indent="0" marL="0">
              <a:buNone/>
            </a:pPr>
            <a:r>
              <a:rPr lang="en-US" sz="900" dirty="0">
                <a:solidFill>
                  <a:srgbClr val="CBD5E1"/>
                </a:solidFill>
              </a:rPr>
              <a:t>CLEAN / STEGO</a:t>
            </a:r>
            <a:endParaRPr lang="en-US" sz="900" dirty="0"/>
          </a:p>
        </p:txBody>
      </p:sp>
      <p:sp>
        <p:nvSpPr>
          <p:cNvPr id="42" name="Shape 35"/>
          <p:cNvSpPr/>
          <p:nvPr/>
        </p:nvSpPr>
        <p:spPr>
          <a:xfrm>
            <a:off x="3200400" y="4343400"/>
            <a:ext cx="2743200" cy="502920"/>
          </a:xfrm>
          <a:prstGeom prst="roundRect">
            <a:avLst>
              <a:gd name="adj" fmla="val 14545"/>
            </a:avLst>
          </a:prstGeom>
          <a:solidFill>
            <a:srgbClr val="091420"/>
          </a:solidFill>
          <a:ln w="12700">
            <a:solidFill>
              <a:srgbClr val="64748B"/>
            </a:solidFill>
            <a:prstDash val="solid"/>
          </a:ln>
        </p:spPr>
      </p:sp>
      <p:sp>
        <p:nvSpPr>
          <p:cNvPr id="43" name="Shape 36"/>
          <p:cNvSpPr/>
          <p:nvPr/>
        </p:nvSpPr>
        <p:spPr>
          <a:xfrm>
            <a:off x="4572000" y="4206240"/>
            <a:ext cx="0" cy="109728"/>
          </a:xfrm>
          <a:prstGeom prst="line">
            <a:avLst/>
          </a:prstGeom>
          <a:noFill/>
          <a:ln w="25400">
            <a:solidFill>
              <a:srgbClr val="00E5FF"/>
            </a:solidFill>
            <a:prstDash val="solid"/>
            <a:tailEnd type="triangle"/>
          </a:ln>
        </p:spPr>
      </p:sp>
      <p:sp>
        <p:nvSpPr>
          <p:cNvPr id="44" name="Text 37"/>
          <p:cNvSpPr/>
          <p:nvPr/>
        </p:nvSpPr>
        <p:spPr>
          <a:xfrm>
            <a:off x="3200400" y="4361688"/>
            <a:ext cx="2743200" cy="457200"/>
          </a:xfrm>
          <a:prstGeom prst="rect">
            <a:avLst/>
          </a:prstGeom>
          <a:noFill/>
          <a:ln/>
        </p:spPr>
        <p:txBody>
          <a:bodyPr wrap="square" rtlCol="0" anchor="ctr"/>
          <a:lstStyle/>
          <a:p>
            <a:pPr algn="ctr" indent="0" marL="0">
              <a:buNone/>
            </a:pPr>
            <a:r>
              <a:rPr lang="en-US" sz="900" dirty="0">
                <a:solidFill>
                  <a:srgbClr val="64748B"/>
                </a:solidFill>
              </a:rPr>
              <a:t>STORAGE  —  Images · Models · Logs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090F"/>
          </a:solidFill>
          <a:ln w="12700">
            <a:solidFill>
              <a:srgbClr val="07090F"/>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0" y="0"/>
            <a:ext cx="9144000" cy="5143500"/>
          </a:xfrm>
          <a:prstGeom prst="rect">
            <a:avLst/>
          </a:prstGeom>
          <a:solidFill>
            <a:srgbClr val="081428">
              <a:alpha val="40000"/>
            </a:srgbClr>
          </a:solidFill>
          <a:ln w="12700">
            <a:solidFill>
              <a:srgbClr val="081428">
                <a:alpha val="40000"/>
              </a:srgbClr>
            </a:solidFill>
            <a:prstDash val="solid"/>
          </a:ln>
        </p:spPr>
      </p:sp>
      <p:sp>
        <p:nvSpPr>
          <p:cNvPr id="5" name="Shape 3"/>
          <p:cNvSpPr/>
          <p:nvPr/>
        </p:nvSpPr>
        <p:spPr>
          <a:xfrm>
            <a:off x="457200" y="256032"/>
            <a:ext cx="1463040" cy="256032"/>
          </a:xfrm>
          <a:prstGeom prst="rect">
            <a:avLst/>
          </a:prstGeom>
          <a:solidFill>
            <a:srgbClr val="00E5FF"/>
          </a:solidFill>
          <a:ln w="12700">
            <a:solidFill>
              <a:srgbClr val="00E5FF"/>
            </a:solidFill>
            <a:prstDash val="solid"/>
          </a:ln>
        </p:spPr>
      </p:sp>
      <p:sp>
        <p:nvSpPr>
          <p:cNvPr id="6" name="Text 4"/>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BOUNDARIES</a:t>
            </a:r>
            <a:endParaRPr lang="en-US" sz="900" dirty="0"/>
          </a:p>
        </p:txBody>
      </p:sp>
      <p:sp>
        <p:nvSpPr>
          <p:cNvPr id="7" name="Text 5"/>
          <p:cNvSpPr/>
          <p:nvPr/>
        </p:nvSpPr>
        <p:spPr>
          <a:xfrm>
            <a:off x="2103120" y="182880"/>
            <a:ext cx="6400800" cy="438912"/>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Module Boundaries</a:t>
            </a:r>
            <a:endParaRPr lang="en-US" sz="2800" dirty="0"/>
          </a:p>
        </p:txBody>
      </p:sp>
      <p:sp>
        <p:nvSpPr>
          <p:cNvPr id="8" name="Text 6"/>
          <p:cNvSpPr/>
          <p:nvPr/>
        </p:nvSpPr>
        <p:spPr>
          <a:xfrm>
            <a:off x="457200" y="685800"/>
            <a:ext cx="8229600" cy="274320"/>
          </a:xfrm>
          <a:prstGeom prst="rect">
            <a:avLst/>
          </a:prstGeom>
          <a:noFill/>
          <a:ln/>
        </p:spPr>
        <p:txBody>
          <a:bodyPr wrap="square" rtlCol="0" anchor="ctr"/>
          <a:lstStyle/>
          <a:p>
            <a:pPr algn="ctr" indent="0" marL="0">
              <a:buNone/>
            </a:pPr>
            <a:r>
              <a:rPr lang="en-US" sz="1150" i="1" dirty="0">
                <a:solidFill>
                  <a:srgbClr val="CBD5E1"/>
                </a:solidFill>
              </a:rPr>
              <a:t>Strict separation of concerns — each module has exactly one responsibility.</a:t>
            </a:r>
            <a:endParaRPr lang="en-US" sz="1150" dirty="0"/>
          </a:p>
        </p:txBody>
      </p:sp>
      <p:sp>
        <p:nvSpPr>
          <p:cNvPr id="9" name="Shape 7"/>
          <p:cNvSpPr/>
          <p:nvPr/>
        </p:nvSpPr>
        <p:spPr>
          <a:xfrm>
            <a:off x="228600" y="1051560"/>
            <a:ext cx="8686800" cy="347472"/>
          </a:xfrm>
          <a:prstGeom prst="rect">
            <a:avLst/>
          </a:prstGeom>
          <a:solidFill>
            <a:srgbClr val="112233"/>
          </a:solidFill>
          <a:ln w="12700">
            <a:solidFill>
              <a:srgbClr val="00E5FF"/>
            </a:solidFill>
            <a:prstDash val="solid"/>
          </a:ln>
        </p:spPr>
      </p:sp>
      <p:sp>
        <p:nvSpPr>
          <p:cNvPr id="10" name="Text 8"/>
          <p:cNvSpPr/>
          <p:nvPr/>
        </p:nvSpPr>
        <p:spPr>
          <a:xfrm>
            <a:off x="301752" y="1097280"/>
            <a:ext cx="1188720" cy="256032"/>
          </a:xfrm>
          <a:prstGeom prst="rect">
            <a:avLst/>
          </a:prstGeom>
          <a:noFill/>
          <a:ln/>
        </p:spPr>
        <p:txBody>
          <a:bodyPr wrap="square" rtlCol="0" anchor="ctr"/>
          <a:lstStyle/>
          <a:p>
            <a:pPr indent="0" marL="0">
              <a:buNone/>
            </a:pPr>
            <a:r>
              <a:rPr lang="en-US" sz="1000" b="1" dirty="0">
                <a:solidFill>
                  <a:srgbClr val="00E5FF"/>
                </a:solidFill>
              </a:rPr>
              <a:t>Module</a:t>
            </a:r>
            <a:endParaRPr lang="en-US" sz="1000" dirty="0"/>
          </a:p>
        </p:txBody>
      </p:sp>
      <p:sp>
        <p:nvSpPr>
          <p:cNvPr id="11" name="Text 9"/>
          <p:cNvSpPr/>
          <p:nvPr/>
        </p:nvSpPr>
        <p:spPr>
          <a:xfrm>
            <a:off x="1490472" y="1097280"/>
            <a:ext cx="2743200" cy="256032"/>
          </a:xfrm>
          <a:prstGeom prst="rect">
            <a:avLst/>
          </a:prstGeom>
          <a:noFill/>
          <a:ln/>
        </p:spPr>
        <p:txBody>
          <a:bodyPr wrap="square" rtlCol="0" anchor="ctr"/>
          <a:lstStyle/>
          <a:p>
            <a:pPr indent="0" marL="0">
              <a:buNone/>
            </a:pPr>
            <a:r>
              <a:rPr lang="en-US" sz="1000" b="1" dirty="0">
                <a:solidFill>
                  <a:srgbClr val="00E5FF"/>
                </a:solidFill>
              </a:rPr>
              <a:t>Technology</a:t>
            </a:r>
            <a:endParaRPr lang="en-US" sz="1000" dirty="0"/>
          </a:p>
        </p:txBody>
      </p:sp>
      <p:sp>
        <p:nvSpPr>
          <p:cNvPr id="12" name="Text 10"/>
          <p:cNvSpPr/>
          <p:nvPr/>
        </p:nvSpPr>
        <p:spPr>
          <a:xfrm>
            <a:off x="4233672" y="1097280"/>
            <a:ext cx="3017520" cy="256032"/>
          </a:xfrm>
          <a:prstGeom prst="rect">
            <a:avLst/>
          </a:prstGeom>
          <a:noFill/>
          <a:ln/>
        </p:spPr>
        <p:txBody>
          <a:bodyPr wrap="square" rtlCol="0" anchor="ctr"/>
          <a:lstStyle/>
          <a:p>
            <a:pPr indent="0" marL="0">
              <a:buNone/>
            </a:pPr>
            <a:r>
              <a:rPr lang="en-US" sz="1000" b="1" dirty="0">
                <a:solidFill>
                  <a:srgbClr val="00E5FF"/>
                </a:solidFill>
              </a:rPr>
              <a:t>Responsibility</a:t>
            </a:r>
            <a:endParaRPr lang="en-US" sz="1000" dirty="0"/>
          </a:p>
        </p:txBody>
      </p:sp>
      <p:sp>
        <p:nvSpPr>
          <p:cNvPr id="13" name="Text 11"/>
          <p:cNvSpPr/>
          <p:nvPr/>
        </p:nvSpPr>
        <p:spPr>
          <a:xfrm>
            <a:off x="7251192" y="1097280"/>
            <a:ext cx="1920240" cy="256032"/>
          </a:xfrm>
          <a:prstGeom prst="rect">
            <a:avLst/>
          </a:prstGeom>
          <a:noFill/>
          <a:ln/>
        </p:spPr>
        <p:txBody>
          <a:bodyPr wrap="square" rtlCol="0" anchor="ctr"/>
          <a:lstStyle/>
          <a:p>
            <a:pPr indent="0" marL="0">
              <a:buNone/>
            </a:pPr>
            <a:r>
              <a:rPr lang="en-US" sz="1000" b="1" dirty="0">
                <a:solidFill>
                  <a:srgbClr val="00E5FF"/>
                </a:solidFill>
              </a:rPr>
              <a:t>Restriction</a:t>
            </a:r>
            <a:endParaRPr lang="en-US" sz="1000" dirty="0"/>
          </a:p>
        </p:txBody>
      </p:sp>
      <p:sp>
        <p:nvSpPr>
          <p:cNvPr id="14" name="Shape 12"/>
          <p:cNvSpPr/>
          <p:nvPr/>
        </p:nvSpPr>
        <p:spPr>
          <a:xfrm>
            <a:off x="228600" y="1399032"/>
            <a:ext cx="8686800" cy="621792"/>
          </a:xfrm>
          <a:prstGeom prst="rect">
            <a:avLst/>
          </a:prstGeom>
          <a:solidFill>
            <a:srgbClr val="0F1E35"/>
          </a:solidFill>
          <a:ln w="6350">
            <a:solidFill>
              <a:srgbClr val="112233"/>
            </a:solidFill>
            <a:prstDash val="solid"/>
          </a:ln>
        </p:spPr>
      </p:sp>
      <p:sp>
        <p:nvSpPr>
          <p:cNvPr id="15" name="Shape 13"/>
          <p:cNvSpPr/>
          <p:nvPr/>
        </p:nvSpPr>
        <p:spPr>
          <a:xfrm>
            <a:off x="228600" y="1399032"/>
            <a:ext cx="73152" cy="621792"/>
          </a:xfrm>
          <a:prstGeom prst="rect">
            <a:avLst/>
          </a:prstGeom>
          <a:solidFill>
            <a:srgbClr val="00E5FF"/>
          </a:solidFill>
          <a:ln w="12700">
            <a:solidFill>
              <a:srgbClr val="00E5FF"/>
            </a:solidFill>
            <a:prstDash val="solid"/>
          </a:ln>
        </p:spPr>
      </p:sp>
      <p:pic>
        <p:nvPicPr>
          <p:cNvPr id="16" name="Image 0" descr="preencoded.png">    </p:cNvPr>
          <p:cNvPicPr>
            <a:picLocks noChangeAspect="1"/>
          </p:cNvPicPr>
          <p:nvPr/>
        </p:nvPicPr>
        <p:blipFill>
          <a:blip r:embed="rId1"/>
          <a:stretch>
            <a:fillRect/>
          </a:stretch>
        </p:blipFill>
        <p:spPr>
          <a:xfrm>
            <a:off x="365760" y="1563624"/>
            <a:ext cx="292608" cy="292608"/>
          </a:xfrm>
          <a:prstGeom prst="rect">
            <a:avLst/>
          </a:prstGeom>
        </p:spPr>
      </p:pic>
      <p:sp>
        <p:nvSpPr>
          <p:cNvPr id="17" name="Text 14"/>
          <p:cNvSpPr/>
          <p:nvPr/>
        </p:nvSpPr>
        <p:spPr>
          <a:xfrm>
            <a:off x="713232" y="1527048"/>
            <a:ext cx="822960" cy="365760"/>
          </a:xfrm>
          <a:prstGeom prst="rect">
            <a:avLst/>
          </a:prstGeom>
          <a:noFill/>
          <a:ln/>
        </p:spPr>
        <p:txBody>
          <a:bodyPr wrap="square" rtlCol="0" anchor="ctr"/>
          <a:lstStyle/>
          <a:p>
            <a:pPr indent="0" marL="0">
              <a:buNone/>
            </a:pPr>
            <a:r>
              <a:rPr lang="en-US" sz="950" b="1" dirty="0">
                <a:solidFill>
                  <a:srgbClr val="00E5FF"/>
                </a:solidFill>
              </a:rPr>
              <a:t>Cryptography</a:t>
            </a:r>
            <a:endParaRPr lang="en-US" sz="950" dirty="0"/>
          </a:p>
        </p:txBody>
      </p:sp>
      <p:sp>
        <p:nvSpPr>
          <p:cNvPr id="18" name="Text 15"/>
          <p:cNvSpPr/>
          <p:nvPr/>
        </p:nvSpPr>
        <p:spPr>
          <a:xfrm>
            <a:off x="1490472" y="1453896"/>
            <a:ext cx="2743200" cy="530352"/>
          </a:xfrm>
          <a:prstGeom prst="rect">
            <a:avLst/>
          </a:prstGeom>
          <a:noFill/>
          <a:ln/>
        </p:spPr>
        <p:txBody>
          <a:bodyPr wrap="square" rtlCol="0" anchor="ctr"/>
          <a:lstStyle/>
          <a:p>
            <a:pPr indent="0" marL="0">
              <a:buNone/>
            </a:pPr>
            <a:r>
              <a:rPr lang="en-US" sz="850" dirty="0">
                <a:solidFill>
                  <a:srgbClr val="CBD5E1"/>
                </a:solidFill>
              </a:rPr>
              <a:t>AES-256-CBC</a:t>
            </a:r>
            <a:endParaRPr lang="en-US" sz="850" dirty="0"/>
          </a:p>
          <a:p>
            <a:pPr indent="0" marL="0">
              <a:buNone/>
            </a:pPr>
            <a:r>
              <a:rPr lang="en-US" sz="850" dirty="0">
                <a:solidFill>
                  <a:srgbClr val="CBD5E1"/>
                </a:solidFill>
              </a:rPr>
              <a:t>PyCryptodome 3.20</a:t>
            </a:r>
            <a:endParaRPr lang="en-US" sz="850" dirty="0"/>
          </a:p>
        </p:txBody>
      </p:sp>
      <p:sp>
        <p:nvSpPr>
          <p:cNvPr id="19" name="Text 16"/>
          <p:cNvSpPr/>
          <p:nvPr/>
        </p:nvSpPr>
        <p:spPr>
          <a:xfrm>
            <a:off x="4233672" y="1453896"/>
            <a:ext cx="3017520" cy="530352"/>
          </a:xfrm>
          <a:prstGeom prst="rect">
            <a:avLst/>
          </a:prstGeom>
          <a:noFill/>
          <a:ln/>
        </p:spPr>
        <p:txBody>
          <a:bodyPr wrap="square" rtlCol="0" anchor="ctr"/>
          <a:lstStyle/>
          <a:p>
            <a:pPr indent="0" marL="0">
              <a:buNone/>
            </a:pPr>
            <a:r>
              <a:rPr lang="en-US" sz="850" dirty="0">
                <a:solidFill>
                  <a:srgbClr val="CBD5E1"/>
                </a:solidFill>
              </a:rPr>
              <a:t>Encrypt messages before embed</a:t>
            </a:r>
            <a:endParaRPr lang="en-US" sz="850" dirty="0"/>
          </a:p>
          <a:p>
            <a:pPr indent="0" marL="0">
              <a:buNone/>
            </a:pPr>
            <a:r>
              <a:rPr lang="en-US" sz="850" dirty="0">
                <a:solidFill>
                  <a:srgbClr val="CBD5E1"/>
                </a:solidFill>
              </a:rPr>
              <a:t>Decrypt after extraction</a:t>
            </a:r>
            <a:endParaRPr lang="en-US" sz="850" dirty="0"/>
          </a:p>
        </p:txBody>
      </p:sp>
      <p:sp>
        <p:nvSpPr>
          <p:cNvPr id="20" name="Shape 17"/>
          <p:cNvSpPr/>
          <p:nvPr/>
        </p:nvSpPr>
        <p:spPr>
          <a:xfrm>
            <a:off x="7251192" y="1508760"/>
            <a:ext cx="1691640" cy="411480"/>
          </a:xfrm>
          <a:prstGeom prst="roundRect">
            <a:avLst>
              <a:gd name="adj" fmla="val 13333"/>
            </a:avLst>
          </a:prstGeom>
          <a:solidFill>
            <a:srgbClr val="00D4A1">
              <a:alpha val="20000"/>
            </a:srgbClr>
          </a:solidFill>
          <a:ln w="12700">
            <a:solidFill>
              <a:srgbClr val="00D4A1"/>
            </a:solidFill>
            <a:prstDash val="solid"/>
          </a:ln>
        </p:spPr>
      </p:sp>
      <p:sp>
        <p:nvSpPr>
          <p:cNvPr id="21" name="Text 18"/>
          <p:cNvSpPr/>
          <p:nvPr/>
        </p:nvSpPr>
        <p:spPr>
          <a:xfrm>
            <a:off x="7287768" y="1490472"/>
            <a:ext cx="1691640" cy="457200"/>
          </a:xfrm>
          <a:prstGeom prst="rect">
            <a:avLst/>
          </a:prstGeom>
          <a:noFill/>
          <a:ln/>
        </p:spPr>
        <p:txBody>
          <a:bodyPr wrap="square" rtlCol="0" anchor="ctr"/>
          <a:lstStyle/>
          <a:p>
            <a:pPr indent="0" marL="0">
              <a:buNone/>
            </a:pPr>
            <a:r>
              <a:rPr lang="en-US" sz="800" b="1" dirty="0">
                <a:solidFill>
                  <a:srgbClr val="00D4A1"/>
                </a:solidFill>
              </a:rPr>
              <a:t>No image access</a:t>
            </a:r>
            <a:endParaRPr lang="en-US" sz="800" dirty="0"/>
          </a:p>
          <a:p>
            <a:pPr indent="0" marL="0">
              <a:buNone/>
            </a:pPr>
            <a:r>
              <a:rPr lang="en-US" sz="800" b="1" dirty="0">
                <a:solidFill>
                  <a:srgbClr val="00D4A1"/>
                </a:solidFill>
              </a:rPr>
              <a:t>No model access</a:t>
            </a:r>
            <a:endParaRPr lang="en-US" sz="800" dirty="0"/>
          </a:p>
        </p:txBody>
      </p:sp>
      <p:sp>
        <p:nvSpPr>
          <p:cNvPr id="22" name="Shape 19"/>
          <p:cNvSpPr/>
          <p:nvPr/>
        </p:nvSpPr>
        <p:spPr>
          <a:xfrm>
            <a:off x="228600" y="2057400"/>
            <a:ext cx="8686800" cy="621792"/>
          </a:xfrm>
          <a:prstGeom prst="rect">
            <a:avLst/>
          </a:prstGeom>
          <a:solidFill>
            <a:srgbClr val="0A1625"/>
          </a:solidFill>
          <a:ln w="6350">
            <a:solidFill>
              <a:srgbClr val="112233"/>
            </a:solidFill>
            <a:prstDash val="solid"/>
          </a:ln>
        </p:spPr>
      </p:sp>
      <p:sp>
        <p:nvSpPr>
          <p:cNvPr id="23" name="Shape 20"/>
          <p:cNvSpPr/>
          <p:nvPr/>
        </p:nvSpPr>
        <p:spPr>
          <a:xfrm>
            <a:off x="228600" y="2057400"/>
            <a:ext cx="73152" cy="621792"/>
          </a:xfrm>
          <a:prstGeom prst="rect">
            <a:avLst/>
          </a:prstGeom>
          <a:solidFill>
            <a:srgbClr val="FF6B35"/>
          </a:solidFill>
          <a:ln w="12700">
            <a:solidFill>
              <a:srgbClr val="FF6B35"/>
            </a:solidFill>
            <a:prstDash val="solid"/>
          </a:ln>
        </p:spPr>
      </p:sp>
      <p:pic>
        <p:nvPicPr>
          <p:cNvPr id="24" name="Image 1" descr="preencoded.png">    </p:cNvPr>
          <p:cNvPicPr>
            <a:picLocks noChangeAspect="1"/>
          </p:cNvPicPr>
          <p:nvPr/>
        </p:nvPicPr>
        <p:blipFill>
          <a:blip r:embed="rId2"/>
          <a:stretch>
            <a:fillRect/>
          </a:stretch>
        </p:blipFill>
        <p:spPr>
          <a:xfrm>
            <a:off x="365760" y="2221992"/>
            <a:ext cx="292608" cy="292608"/>
          </a:xfrm>
          <a:prstGeom prst="rect">
            <a:avLst/>
          </a:prstGeom>
        </p:spPr>
      </p:pic>
      <p:sp>
        <p:nvSpPr>
          <p:cNvPr id="25" name="Text 21"/>
          <p:cNvSpPr/>
          <p:nvPr/>
        </p:nvSpPr>
        <p:spPr>
          <a:xfrm>
            <a:off x="713232" y="2185416"/>
            <a:ext cx="822960" cy="365760"/>
          </a:xfrm>
          <a:prstGeom prst="rect">
            <a:avLst/>
          </a:prstGeom>
          <a:noFill/>
          <a:ln/>
        </p:spPr>
        <p:txBody>
          <a:bodyPr wrap="square" rtlCol="0" anchor="ctr"/>
          <a:lstStyle/>
          <a:p>
            <a:pPr indent="0" marL="0">
              <a:buNone/>
            </a:pPr>
            <a:r>
              <a:rPr lang="en-US" sz="950" b="1" dirty="0">
                <a:solidFill>
                  <a:srgbClr val="FF6B35"/>
                </a:solidFill>
              </a:rPr>
              <a:t>Steganography</a:t>
            </a:r>
            <a:endParaRPr lang="en-US" sz="950" dirty="0"/>
          </a:p>
        </p:txBody>
      </p:sp>
      <p:sp>
        <p:nvSpPr>
          <p:cNvPr id="26" name="Text 22"/>
          <p:cNvSpPr/>
          <p:nvPr/>
        </p:nvSpPr>
        <p:spPr>
          <a:xfrm>
            <a:off x="1490472" y="2112264"/>
            <a:ext cx="2743200" cy="530352"/>
          </a:xfrm>
          <a:prstGeom prst="rect">
            <a:avLst/>
          </a:prstGeom>
          <a:noFill/>
          <a:ln/>
        </p:spPr>
        <p:txBody>
          <a:bodyPr wrap="square" rtlCol="0" anchor="ctr"/>
          <a:lstStyle/>
          <a:p>
            <a:pPr indent="0" marL="0">
              <a:buNone/>
            </a:pPr>
            <a:r>
              <a:rPr lang="en-US" sz="850" dirty="0">
                <a:solidFill>
                  <a:srgbClr val="CBD5E1"/>
                </a:solidFill>
              </a:rPr>
              <a:t>JUNIWARD</a:t>
            </a:r>
            <a:endParaRPr lang="en-US" sz="850" dirty="0"/>
          </a:p>
          <a:p>
            <a:pPr indent="0" marL="0">
              <a:buNone/>
            </a:pPr>
            <a:r>
              <a:rPr lang="en-US" sz="850" dirty="0">
                <a:solidFill>
                  <a:srgbClr val="CBD5E1"/>
                </a:solidFill>
              </a:rPr>
              <a:t>DWT + STC (NumPy + PyWavelets)</a:t>
            </a:r>
            <a:endParaRPr lang="en-US" sz="850" dirty="0"/>
          </a:p>
        </p:txBody>
      </p:sp>
      <p:sp>
        <p:nvSpPr>
          <p:cNvPr id="27" name="Text 23"/>
          <p:cNvSpPr/>
          <p:nvPr/>
        </p:nvSpPr>
        <p:spPr>
          <a:xfrm>
            <a:off x="4233672" y="2112264"/>
            <a:ext cx="3017520" cy="530352"/>
          </a:xfrm>
          <a:prstGeom prst="rect">
            <a:avLst/>
          </a:prstGeom>
          <a:noFill/>
          <a:ln/>
        </p:spPr>
        <p:txBody>
          <a:bodyPr wrap="square" rtlCol="0" anchor="ctr"/>
          <a:lstStyle/>
          <a:p>
            <a:pPr indent="0" marL="0">
              <a:buNone/>
            </a:pPr>
            <a:r>
              <a:rPr lang="en-US" sz="850" dirty="0">
                <a:solidFill>
                  <a:srgbClr val="CBD5E1"/>
                </a:solidFill>
              </a:rPr>
              <a:t>Embed encrypted bytes</a:t>
            </a:r>
            <a:endParaRPr lang="en-US" sz="850" dirty="0"/>
          </a:p>
          <a:p>
            <a:pPr indent="0" marL="0">
              <a:buNone/>
            </a:pPr>
            <a:r>
              <a:rPr lang="en-US" sz="850" dirty="0">
                <a:solidFill>
                  <a:srgbClr val="CBD5E1"/>
                </a:solidFill>
              </a:rPr>
              <a:t>Extract hidden payload</a:t>
            </a:r>
            <a:endParaRPr lang="en-US" sz="850" dirty="0"/>
          </a:p>
        </p:txBody>
      </p:sp>
      <p:sp>
        <p:nvSpPr>
          <p:cNvPr id="28" name="Shape 24"/>
          <p:cNvSpPr/>
          <p:nvPr/>
        </p:nvSpPr>
        <p:spPr>
          <a:xfrm>
            <a:off x="7251192" y="2167128"/>
            <a:ext cx="1691640" cy="411480"/>
          </a:xfrm>
          <a:prstGeom prst="roundRect">
            <a:avLst>
              <a:gd name="adj" fmla="val 13333"/>
            </a:avLst>
          </a:prstGeom>
          <a:solidFill>
            <a:srgbClr val="FF6B35">
              <a:alpha val="20000"/>
            </a:srgbClr>
          </a:solidFill>
          <a:ln w="12700">
            <a:solidFill>
              <a:srgbClr val="FF6B35"/>
            </a:solidFill>
            <a:prstDash val="solid"/>
          </a:ln>
        </p:spPr>
      </p:sp>
      <p:sp>
        <p:nvSpPr>
          <p:cNvPr id="29" name="Text 25"/>
          <p:cNvSpPr/>
          <p:nvPr/>
        </p:nvSpPr>
        <p:spPr>
          <a:xfrm>
            <a:off x="7287768" y="2148840"/>
            <a:ext cx="1691640" cy="457200"/>
          </a:xfrm>
          <a:prstGeom prst="rect">
            <a:avLst/>
          </a:prstGeom>
          <a:noFill/>
          <a:ln/>
        </p:spPr>
        <p:txBody>
          <a:bodyPr wrap="square" rtlCol="0" anchor="ctr"/>
          <a:lstStyle/>
          <a:p>
            <a:pPr indent="0" marL="0">
              <a:buNone/>
            </a:pPr>
            <a:r>
              <a:rPr lang="en-US" sz="800" b="1" dirty="0">
                <a:solidFill>
                  <a:srgbClr val="FF6B35"/>
                </a:solidFill>
              </a:rPr>
              <a:t>NOT machine learning</a:t>
            </a:r>
            <a:endParaRPr lang="en-US" sz="800" dirty="0"/>
          </a:p>
          <a:p>
            <a:pPr indent="0" marL="0">
              <a:buNone/>
            </a:pPr>
            <a:r>
              <a:rPr lang="en-US" sz="800" b="1" dirty="0">
                <a:solidFill>
                  <a:srgbClr val="FF6B35"/>
                </a:solidFill>
              </a:rPr>
              <a:t>Heuristic only</a:t>
            </a:r>
            <a:endParaRPr lang="en-US" sz="800" dirty="0"/>
          </a:p>
        </p:txBody>
      </p:sp>
      <p:sp>
        <p:nvSpPr>
          <p:cNvPr id="30" name="Shape 26"/>
          <p:cNvSpPr/>
          <p:nvPr/>
        </p:nvSpPr>
        <p:spPr>
          <a:xfrm>
            <a:off x="228600" y="2715768"/>
            <a:ext cx="8686800" cy="621792"/>
          </a:xfrm>
          <a:prstGeom prst="rect">
            <a:avLst/>
          </a:prstGeom>
          <a:solidFill>
            <a:srgbClr val="0F1E35"/>
          </a:solidFill>
          <a:ln w="6350">
            <a:solidFill>
              <a:srgbClr val="112233"/>
            </a:solidFill>
            <a:prstDash val="solid"/>
          </a:ln>
        </p:spPr>
      </p:sp>
      <p:sp>
        <p:nvSpPr>
          <p:cNvPr id="31" name="Shape 27"/>
          <p:cNvSpPr/>
          <p:nvPr/>
        </p:nvSpPr>
        <p:spPr>
          <a:xfrm>
            <a:off x="228600" y="2715768"/>
            <a:ext cx="73152" cy="621792"/>
          </a:xfrm>
          <a:prstGeom prst="rect">
            <a:avLst/>
          </a:prstGeom>
          <a:solidFill>
            <a:srgbClr val="00D4A1"/>
          </a:solidFill>
          <a:ln w="12700">
            <a:solidFill>
              <a:srgbClr val="00D4A1"/>
            </a:solidFill>
            <a:prstDash val="solid"/>
          </a:ln>
        </p:spPr>
      </p:sp>
      <p:pic>
        <p:nvPicPr>
          <p:cNvPr id="32" name="Image 2" descr="preencoded.png">    </p:cNvPr>
          <p:cNvPicPr>
            <a:picLocks noChangeAspect="1"/>
          </p:cNvPicPr>
          <p:nvPr/>
        </p:nvPicPr>
        <p:blipFill>
          <a:blip r:embed="rId3"/>
          <a:stretch>
            <a:fillRect/>
          </a:stretch>
        </p:blipFill>
        <p:spPr>
          <a:xfrm>
            <a:off x="365760" y="2880360"/>
            <a:ext cx="292608" cy="292608"/>
          </a:xfrm>
          <a:prstGeom prst="rect">
            <a:avLst/>
          </a:prstGeom>
        </p:spPr>
      </p:pic>
      <p:sp>
        <p:nvSpPr>
          <p:cNvPr id="33" name="Text 28"/>
          <p:cNvSpPr/>
          <p:nvPr/>
        </p:nvSpPr>
        <p:spPr>
          <a:xfrm>
            <a:off x="713232" y="2843784"/>
            <a:ext cx="822960" cy="365760"/>
          </a:xfrm>
          <a:prstGeom prst="rect">
            <a:avLst/>
          </a:prstGeom>
          <a:noFill/>
          <a:ln/>
        </p:spPr>
        <p:txBody>
          <a:bodyPr wrap="square" rtlCol="0" anchor="ctr"/>
          <a:lstStyle/>
          <a:p>
            <a:pPr indent="0" marL="0">
              <a:buNone/>
            </a:pPr>
            <a:r>
              <a:rPr lang="en-US" sz="950" b="1" dirty="0">
                <a:solidFill>
                  <a:srgbClr val="00D4A1"/>
                </a:solidFill>
              </a:rPr>
              <a:t>ML Detection</a:t>
            </a:r>
            <a:endParaRPr lang="en-US" sz="950" dirty="0"/>
          </a:p>
        </p:txBody>
      </p:sp>
      <p:sp>
        <p:nvSpPr>
          <p:cNvPr id="34" name="Text 29"/>
          <p:cNvSpPr/>
          <p:nvPr/>
        </p:nvSpPr>
        <p:spPr>
          <a:xfrm>
            <a:off x="1490472" y="2770632"/>
            <a:ext cx="2743200" cy="530352"/>
          </a:xfrm>
          <a:prstGeom prst="rect">
            <a:avLst/>
          </a:prstGeom>
          <a:noFill/>
          <a:ln/>
        </p:spPr>
        <p:txBody>
          <a:bodyPr wrap="square" rtlCol="0" anchor="ctr"/>
          <a:lstStyle/>
          <a:p>
            <a:pPr indent="0" marL="0">
              <a:buNone/>
            </a:pPr>
            <a:r>
              <a:rPr lang="en-US" sz="850" dirty="0">
                <a:solidFill>
                  <a:srgbClr val="CBD5E1"/>
                </a:solidFill>
              </a:rPr>
              <a:t>PyTorch CNN</a:t>
            </a:r>
            <a:endParaRPr lang="en-US" sz="850" dirty="0"/>
          </a:p>
          <a:p>
            <a:pPr indent="0" marL="0">
              <a:buNone/>
            </a:pPr>
            <a:r>
              <a:rPr lang="en-US" sz="850" dirty="0">
                <a:solidFill>
                  <a:srgbClr val="CBD5E1"/>
                </a:solidFill>
              </a:rPr>
              <a:t>ONNX Runtime</a:t>
            </a:r>
            <a:endParaRPr lang="en-US" sz="850" dirty="0"/>
          </a:p>
        </p:txBody>
      </p:sp>
      <p:sp>
        <p:nvSpPr>
          <p:cNvPr id="35" name="Text 30"/>
          <p:cNvSpPr/>
          <p:nvPr/>
        </p:nvSpPr>
        <p:spPr>
          <a:xfrm>
            <a:off x="4233672" y="2770632"/>
            <a:ext cx="3017520" cy="530352"/>
          </a:xfrm>
          <a:prstGeom prst="rect">
            <a:avLst/>
          </a:prstGeom>
          <a:noFill/>
          <a:ln/>
        </p:spPr>
        <p:txBody>
          <a:bodyPr wrap="square" rtlCol="0" anchor="ctr"/>
          <a:lstStyle/>
          <a:p>
            <a:pPr indent="0" marL="0">
              <a:buNone/>
            </a:pPr>
            <a:r>
              <a:rPr lang="en-US" sz="850" dirty="0">
                <a:solidFill>
                  <a:srgbClr val="CBD5E1"/>
                </a:solidFill>
              </a:rPr>
              <a:t>Binary classify: CLEAN / STEGO</a:t>
            </a:r>
            <a:endParaRPr lang="en-US" sz="850" dirty="0"/>
          </a:p>
          <a:p>
            <a:pPr indent="0" marL="0">
              <a:buNone/>
            </a:pPr>
            <a:r>
              <a:rPr lang="en-US" sz="850" dirty="0">
                <a:solidFill>
                  <a:srgbClr val="CBD5E1"/>
                </a:solidFill>
              </a:rPr>
              <a:t>Return confidence score</a:t>
            </a:r>
            <a:endParaRPr lang="en-US" sz="850" dirty="0"/>
          </a:p>
        </p:txBody>
      </p:sp>
      <p:sp>
        <p:nvSpPr>
          <p:cNvPr id="36" name="Shape 31"/>
          <p:cNvSpPr/>
          <p:nvPr/>
        </p:nvSpPr>
        <p:spPr>
          <a:xfrm>
            <a:off x="7251192" y="2825496"/>
            <a:ext cx="1691640" cy="411480"/>
          </a:xfrm>
          <a:prstGeom prst="roundRect">
            <a:avLst>
              <a:gd name="adj" fmla="val 13333"/>
            </a:avLst>
          </a:prstGeom>
          <a:solidFill>
            <a:srgbClr val="FF3B5C">
              <a:alpha val="20000"/>
            </a:srgbClr>
          </a:solidFill>
          <a:ln w="12700">
            <a:solidFill>
              <a:srgbClr val="FF3B5C"/>
            </a:solidFill>
            <a:prstDash val="solid"/>
          </a:ln>
        </p:spPr>
      </p:sp>
      <p:sp>
        <p:nvSpPr>
          <p:cNvPr id="37" name="Text 32"/>
          <p:cNvSpPr/>
          <p:nvPr/>
        </p:nvSpPr>
        <p:spPr>
          <a:xfrm>
            <a:off x="7287768" y="2807208"/>
            <a:ext cx="1691640" cy="457200"/>
          </a:xfrm>
          <a:prstGeom prst="rect">
            <a:avLst/>
          </a:prstGeom>
          <a:noFill/>
          <a:ln/>
        </p:spPr>
        <p:txBody>
          <a:bodyPr wrap="square" rtlCol="0" anchor="ctr"/>
          <a:lstStyle/>
          <a:p>
            <a:pPr indent="0" marL="0">
              <a:buNone/>
            </a:pPr>
            <a:r>
              <a:rPr lang="en-US" sz="800" b="1" dirty="0">
                <a:solidFill>
                  <a:srgbClr val="FF3B5C"/>
                </a:solidFill>
              </a:rPr>
              <a:t>Does NOT embed</a:t>
            </a:r>
            <a:endParaRPr lang="en-US" sz="800" dirty="0"/>
          </a:p>
          <a:p>
            <a:pPr indent="0" marL="0">
              <a:buNone/>
            </a:pPr>
            <a:r>
              <a:rPr lang="en-US" sz="800" b="1" dirty="0">
                <a:solidFill>
                  <a:srgbClr val="FF3B5C"/>
                </a:solidFill>
              </a:rPr>
              <a:t>Does NOT decrypt</a:t>
            </a:r>
            <a:endParaRPr lang="en-US" sz="800" dirty="0"/>
          </a:p>
        </p:txBody>
      </p:sp>
      <p:sp>
        <p:nvSpPr>
          <p:cNvPr id="38" name="Shape 33"/>
          <p:cNvSpPr/>
          <p:nvPr/>
        </p:nvSpPr>
        <p:spPr>
          <a:xfrm>
            <a:off x="228600" y="3374136"/>
            <a:ext cx="8686800" cy="621792"/>
          </a:xfrm>
          <a:prstGeom prst="rect">
            <a:avLst/>
          </a:prstGeom>
          <a:solidFill>
            <a:srgbClr val="0A1625"/>
          </a:solidFill>
          <a:ln w="6350">
            <a:solidFill>
              <a:srgbClr val="112233"/>
            </a:solidFill>
            <a:prstDash val="solid"/>
          </a:ln>
        </p:spPr>
      </p:sp>
      <p:sp>
        <p:nvSpPr>
          <p:cNvPr id="39" name="Shape 34"/>
          <p:cNvSpPr/>
          <p:nvPr/>
        </p:nvSpPr>
        <p:spPr>
          <a:xfrm>
            <a:off x="228600" y="3374136"/>
            <a:ext cx="73152" cy="621792"/>
          </a:xfrm>
          <a:prstGeom prst="rect">
            <a:avLst/>
          </a:prstGeom>
          <a:solidFill>
            <a:srgbClr val="7B2FFF"/>
          </a:solidFill>
          <a:ln w="12700">
            <a:solidFill>
              <a:srgbClr val="7B2FFF"/>
            </a:solidFill>
            <a:prstDash val="solid"/>
          </a:ln>
        </p:spPr>
      </p:sp>
      <p:pic>
        <p:nvPicPr>
          <p:cNvPr id="40" name="Image 3" descr="preencoded.png">    </p:cNvPr>
          <p:cNvPicPr>
            <a:picLocks noChangeAspect="1"/>
          </p:cNvPicPr>
          <p:nvPr/>
        </p:nvPicPr>
        <p:blipFill>
          <a:blip r:embed="rId4"/>
          <a:stretch>
            <a:fillRect/>
          </a:stretch>
        </p:blipFill>
        <p:spPr>
          <a:xfrm>
            <a:off x="365760" y="3538728"/>
            <a:ext cx="292608" cy="292608"/>
          </a:xfrm>
          <a:prstGeom prst="rect">
            <a:avLst/>
          </a:prstGeom>
        </p:spPr>
      </p:pic>
      <p:sp>
        <p:nvSpPr>
          <p:cNvPr id="41" name="Text 35"/>
          <p:cNvSpPr/>
          <p:nvPr/>
        </p:nvSpPr>
        <p:spPr>
          <a:xfrm>
            <a:off x="713232" y="3502152"/>
            <a:ext cx="822960" cy="365760"/>
          </a:xfrm>
          <a:prstGeom prst="rect">
            <a:avLst/>
          </a:prstGeom>
          <a:noFill/>
          <a:ln/>
        </p:spPr>
        <p:txBody>
          <a:bodyPr wrap="square" rtlCol="0" anchor="ctr"/>
          <a:lstStyle/>
          <a:p>
            <a:pPr indent="0" marL="0">
              <a:buNone/>
            </a:pPr>
            <a:r>
              <a:rPr lang="en-US" sz="950" b="1" dirty="0">
                <a:solidFill>
                  <a:srgbClr val="7B2FFF"/>
                </a:solidFill>
              </a:rPr>
              <a:t>FastAPI Backend</a:t>
            </a:r>
            <a:endParaRPr lang="en-US" sz="950" dirty="0"/>
          </a:p>
        </p:txBody>
      </p:sp>
      <p:sp>
        <p:nvSpPr>
          <p:cNvPr id="42" name="Text 36"/>
          <p:cNvSpPr/>
          <p:nvPr/>
        </p:nvSpPr>
        <p:spPr>
          <a:xfrm>
            <a:off x="1490472" y="3429000"/>
            <a:ext cx="2743200" cy="530352"/>
          </a:xfrm>
          <a:prstGeom prst="rect">
            <a:avLst/>
          </a:prstGeom>
          <a:noFill/>
          <a:ln/>
        </p:spPr>
        <p:txBody>
          <a:bodyPr wrap="square" rtlCol="0" anchor="ctr"/>
          <a:lstStyle/>
          <a:p>
            <a:pPr indent="0" marL="0">
              <a:buNone/>
            </a:pPr>
            <a:r>
              <a:rPr lang="en-US" sz="850" dirty="0">
                <a:solidFill>
                  <a:srgbClr val="CBD5E1"/>
                </a:solidFill>
              </a:rPr>
              <a:t>FastAPI + Uvicorn</a:t>
            </a:r>
            <a:endParaRPr lang="en-US" sz="850" dirty="0"/>
          </a:p>
          <a:p>
            <a:pPr indent="0" marL="0">
              <a:buNone/>
            </a:pPr>
            <a:r>
              <a:rPr lang="en-US" sz="850" dirty="0">
                <a:solidFill>
                  <a:srgbClr val="CBD5E1"/>
                </a:solidFill>
              </a:rPr>
              <a:t>Python 3.11</a:t>
            </a:r>
            <a:endParaRPr lang="en-US" sz="850" dirty="0"/>
          </a:p>
        </p:txBody>
      </p:sp>
      <p:sp>
        <p:nvSpPr>
          <p:cNvPr id="43" name="Text 37"/>
          <p:cNvSpPr/>
          <p:nvPr/>
        </p:nvSpPr>
        <p:spPr>
          <a:xfrm>
            <a:off x="4233672" y="3429000"/>
            <a:ext cx="3017520" cy="530352"/>
          </a:xfrm>
          <a:prstGeom prst="rect">
            <a:avLst/>
          </a:prstGeom>
          <a:noFill/>
          <a:ln/>
        </p:spPr>
        <p:txBody>
          <a:bodyPr wrap="square" rtlCol="0" anchor="ctr"/>
          <a:lstStyle/>
          <a:p>
            <a:pPr indent="0" marL="0">
              <a:buNone/>
            </a:pPr>
            <a:r>
              <a:rPr lang="en-US" sz="850" dirty="0">
                <a:solidFill>
                  <a:srgbClr val="CBD5E1"/>
                </a:solidFill>
              </a:rPr>
              <a:t>Route requests</a:t>
            </a:r>
            <a:endParaRPr lang="en-US" sz="850" dirty="0"/>
          </a:p>
          <a:p>
            <a:pPr indent="0" marL="0">
              <a:buNone/>
            </a:pPr>
            <a:r>
              <a:rPr lang="en-US" sz="850" dirty="0">
                <a:solidFill>
                  <a:srgbClr val="CBD5E1"/>
                </a:solidFill>
              </a:rPr>
              <a:t>Orchestrate modules</a:t>
            </a:r>
            <a:endParaRPr lang="en-US" sz="850" dirty="0"/>
          </a:p>
        </p:txBody>
      </p:sp>
      <p:sp>
        <p:nvSpPr>
          <p:cNvPr id="44" name="Shape 38"/>
          <p:cNvSpPr/>
          <p:nvPr/>
        </p:nvSpPr>
        <p:spPr>
          <a:xfrm>
            <a:off x="7251192" y="3483864"/>
            <a:ext cx="1691640" cy="411480"/>
          </a:xfrm>
          <a:prstGeom prst="roundRect">
            <a:avLst>
              <a:gd name="adj" fmla="val 13333"/>
            </a:avLst>
          </a:prstGeom>
          <a:solidFill>
            <a:srgbClr val="FF6B35">
              <a:alpha val="20000"/>
            </a:srgbClr>
          </a:solidFill>
          <a:ln w="12700">
            <a:solidFill>
              <a:srgbClr val="FF6B35"/>
            </a:solidFill>
            <a:prstDash val="solid"/>
          </a:ln>
        </p:spPr>
      </p:sp>
      <p:sp>
        <p:nvSpPr>
          <p:cNvPr id="45" name="Text 39"/>
          <p:cNvSpPr/>
          <p:nvPr/>
        </p:nvSpPr>
        <p:spPr>
          <a:xfrm>
            <a:off x="7287768" y="3465576"/>
            <a:ext cx="1691640" cy="457200"/>
          </a:xfrm>
          <a:prstGeom prst="rect">
            <a:avLst/>
          </a:prstGeom>
          <a:noFill/>
          <a:ln/>
        </p:spPr>
        <p:txBody>
          <a:bodyPr wrap="square" rtlCol="0" anchor="ctr"/>
          <a:lstStyle/>
          <a:p>
            <a:pPr indent="0" marL="0">
              <a:buNone/>
            </a:pPr>
            <a:r>
              <a:rPr lang="en-US" sz="800" b="1" dirty="0">
                <a:solidFill>
                  <a:srgbClr val="FF6B35"/>
                </a:solidFill>
              </a:rPr>
              <a:t>No crypto logic</a:t>
            </a:r>
            <a:endParaRPr lang="en-US" sz="800" dirty="0"/>
          </a:p>
          <a:p>
            <a:pPr indent="0" marL="0">
              <a:buNone/>
            </a:pPr>
            <a:r>
              <a:rPr lang="en-US" sz="800" b="1" dirty="0">
                <a:solidFill>
                  <a:srgbClr val="FF6B35"/>
                </a:solidFill>
              </a:rPr>
              <a:t>No ML training</a:t>
            </a:r>
            <a:endParaRPr lang="en-US" sz="800" dirty="0"/>
          </a:p>
        </p:txBody>
      </p:sp>
      <p:sp>
        <p:nvSpPr>
          <p:cNvPr id="46" name="Shape 40"/>
          <p:cNvSpPr/>
          <p:nvPr/>
        </p:nvSpPr>
        <p:spPr>
          <a:xfrm>
            <a:off x="228600" y="4032504"/>
            <a:ext cx="8686800" cy="621792"/>
          </a:xfrm>
          <a:prstGeom prst="rect">
            <a:avLst/>
          </a:prstGeom>
          <a:solidFill>
            <a:srgbClr val="0F1E35"/>
          </a:solidFill>
          <a:ln w="6350">
            <a:solidFill>
              <a:srgbClr val="112233"/>
            </a:solidFill>
            <a:prstDash val="solid"/>
          </a:ln>
        </p:spPr>
      </p:sp>
      <p:sp>
        <p:nvSpPr>
          <p:cNvPr id="47" name="Shape 41"/>
          <p:cNvSpPr/>
          <p:nvPr/>
        </p:nvSpPr>
        <p:spPr>
          <a:xfrm>
            <a:off x="228600" y="4032504"/>
            <a:ext cx="73152" cy="621792"/>
          </a:xfrm>
          <a:prstGeom prst="rect">
            <a:avLst/>
          </a:prstGeom>
          <a:solidFill>
            <a:srgbClr val="1A8CFF"/>
          </a:solidFill>
          <a:ln w="12700">
            <a:solidFill>
              <a:srgbClr val="1A8CFF"/>
            </a:solidFill>
            <a:prstDash val="solid"/>
          </a:ln>
        </p:spPr>
      </p:sp>
      <p:pic>
        <p:nvPicPr>
          <p:cNvPr id="48" name="Image 4" descr="preencoded.png">    </p:cNvPr>
          <p:cNvPicPr>
            <a:picLocks noChangeAspect="1"/>
          </p:cNvPicPr>
          <p:nvPr/>
        </p:nvPicPr>
        <p:blipFill>
          <a:blip r:embed="rId5"/>
          <a:stretch>
            <a:fillRect/>
          </a:stretch>
        </p:blipFill>
        <p:spPr>
          <a:xfrm>
            <a:off x="365760" y="4197096"/>
            <a:ext cx="292608" cy="292608"/>
          </a:xfrm>
          <a:prstGeom prst="rect">
            <a:avLst/>
          </a:prstGeom>
        </p:spPr>
      </p:pic>
      <p:sp>
        <p:nvSpPr>
          <p:cNvPr id="49" name="Text 42"/>
          <p:cNvSpPr/>
          <p:nvPr/>
        </p:nvSpPr>
        <p:spPr>
          <a:xfrm>
            <a:off x="713232" y="4160520"/>
            <a:ext cx="822960" cy="365760"/>
          </a:xfrm>
          <a:prstGeom prst="rect">
            <a:avLst/>
          </a:prstGeom>
          <a:noFill/>
          <a:ln/>
        </p:spPr>
        <p:txBody>
          <a:bodyPr wrap="square" rtlCol="0" anchor="ctr"/>
          <a:lstStyle/>
          <a:p>
            <a:pPr indent="0" marL="0">
              <a:buNone/>
            </a:pPr>
            <a:r>
              <a:rPr lang="en-US" sz="950" b="1" dirty="0">
                <a:solidFill>
                  <a:srgbClr val="1A8CFF"/>
                </a:solidFill>
              </a:rPr>
              <a:t>React Frontend</a:t>
            </a:r>
            <a:endParaRPr lang="en-US" sz="950" dirty="0"/>
          </a:p>
        </p:txBody>
      </p:sp>
      <p:sp>
        <p:nvSpPr>
          <p:cNvPr id="50" name="Text 43"/>
          <p:cNvSpPr/>
          <p:nvPr/>
        </p:nvSpPr>
        <p:spPr>
          <a:xfrm>
            <a:off x="1490472" y="4087368"/>
            <a:ext cx="2743200" cy="530352"/>
          </a:xfrm>
          <a:prstGeom prst="rect">
            <a:avLst/>
          </a:prstGeom>
          <a:noFill/>
          <a:ln/>
        </p:spPr>
        <p:txBody>
          <a:bodyPr wrap="square" rtlCol="0" anchor="ctr"/>
          <a:lstStyle/>
          <a:p>
            <a:pPr indent="0" marL="0">
              <a:buNone/>
            </a:pPr>
            <a:r>
              <a:rPr lang="en-US" sz="850" dirty="0">
                <a:solidFill>
                  <a:srgbClr val="CBD5E1"/>
                </a:solidFill>
              </a:rPr>
              <a:t>React 18 + Axios</a:t>
            </a:r>
            <a:endParaRPr lang="en-US" sz="850" dirty="0"/>
          </a:p>
          <a:p>
            <a:pPr indent="0" marL="0">
              <a:buNone/>
            </a:pPr>
            <a:r>
              <a:rPr lang="en-US" sz="850" dirty="0">
                <a:solidFill>
                  <a:srgbClr val="CBD5E1"/>
                </a:solidFill>
              </a:rPr>
              <a:t>Tailwind CSS</a:t>
            </a:r>
            <a:endParaRPr lang="en-US" sz="850" dirty="0"/>
          </a:p>
        </p:txBody>
      </p:sp>
      <p:sp>
        <p:nvSpPr>
          <p:cNvPr id="51" name="Text 44"/>
          <p:cNvSpPr/>
          <p:nvPr/>
        </p:nvSpPr>
        <p:spPr>
          <a:xfrm>
            <a:off x="4233672" y="4087368"/>
            <a:ext cx="3017520" cy="530352"/>
          </a:xfrm>
          <a:prstGeom prst="rect">
            <a:avLst/>
          </a:prstGeom>
          <a:noFill/>
          <a:ln/>
        </p:spPr>
        <p:txBody>
          <a:bodyPr wrap="square" rtlCol="0" anchor="ctr"/>
          <a:lstStyle/>
          <a:p>
            <a:pPr indent="0" marL="0">
              <a:buNone/>
            </a:pPr>
            <a:r>
              <a:rPr lang="en-US" sz="850" dirty="0">
                <a:solidFill>
                  <a:srgbClr val="CBD5E1"/>
                </a:solidFill>
              </a:rPr>
              <a:t>Render UI</a:t>
            </a:r>
            <a:endParaRPr lang="en-US" sz="850" dirty="0"/>
          </a:p>
          <a:p>
            <a:pPr indent="0" marL="0">
              <a:buNone/>
            </a:pPr>
            <a:r>
              <a:rPr lang="en-US" sz="850" dirty="0">
                <a:solidFill>
                  <a:srgbClr val="CBD5E1"/>
                </a:solidFill>
              </a:rPr>
              <a:t>Call REST API endpoints</a:t>
            </a:r>
            <a:endParaRPr lang="en-US" sz="850" dirty="0"/>
          </a:p>
        </p:txBody>
      </p:sp>
      <p:sp>
        <p:nvSpPr>
          <p:cNvPr id="52" name="Shape 45"/>
          <p:cNvSpPr/>
          <p:nvPr/>
        </p:nvSpPr>
        <p:spPr>
          <a:xfrm>
            <a:off x="7251192" y="4142232"/>
            <a:ext cx="1691640" cy="411480"/>
          </a:xfrm>
          <a:prstGeom prst="roundRect">
            <a:avLst>
              <a:gd name="adj" fmla="val 13333"/>
            </a:avLst>
          </a:prstGeom>
          <a:solidFill>
            <a:srgbClr val="00D4A1">
              <a:alpha val="20000"/>
            </a:srgbClr>
          </a:solidFill>
          <a:ln w="12700">
            <a:solidFill>
              <a:srgbClr val="00D4A1"/>
            </a:solidFill>
            <a:prstDash val="solid"/>
          </a:ln>
        </p:spPr>
      </p:sp>
      <p:sp>
        <p:nvSpPr>
          <p:cNvPr id="53" name="Text 46"/>
          <p:cNvSpPr/>
          <p:nvPr/>
        </p:nvSpPr>
        <p:spPr>
          <a:xfrm>
            <a:off x="7287768" y="4123944"/>
            <a:ext cx="1691640" cy="457200"/>
          </a:xfrm>
          <a:prstGeom prst="rect">
            <a:avLst/>
          </a:prstGeom>
          <a:noFill/>
          <a:ln/>
        </p:spPr>
        <p:txBody>
          <a:bodyPr wrap="square" rtlCol="0" anchor="ctr"/>
          <a:lstStyle/>
          <a:p>
            <a:pPr indent="0" marL="0">
              <a:buNone/>
            </a:pPr>
            <a:r>
              <a:rPr lang="en-US" sz="800" b="1" dirty="0">
                <a:solidFill>
                  <a:srgbClr val="00D4A1"/>
                </a:solidFill>
              </a:rPr>
              <a:t>UI &amp; API calls only</a:t>
            </a:r>
            <a:endParaRPr lang="en-US" sz="800" dirty="0"/>
          </a:p>
          <a:p>
            <a:pPr indent="0" marL="0">
              <a:buNone/>
            </a:pPr>
            <a:r>
              <a:rPr lang="en-US" sz="800" b="1" dirty="0">
                <a:solidFill>
                  <a:srgbClr val="00D4A1"/>
                </a:solidFill>
              </a:rPr>
              <a:t>No processing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w="12700">
            <a:solidFill>
              <a:srgbClr val="0B1220"/>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457200" y="256032"/>
            <a:ext cx="1463040" cy="256032"/>
          </a:xfrm>
          <a:prstGeom prst="rect">
            <a:avLst/>
          </a:prstGeom>
          <a:solidFill>
            <a:srgbClr val="00E5FF"/>
          </a:solidFill>
          <a:ln w="12700">
            <a:solidFill>
              <a:srgbClr val="00E5FF"/>
            </a:solidFill>
            <a:prstDash val="solid"/>
          </a:ln>
        </p:spPr>
      </p:sp>
      <p:sp>
        <p:nvSpPr>
          <p:cNvPr id="5" name="Text 3"/>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WORKFLOW</a:t>
            </a:r>
            <a:endParaRPr lang="en-US" sz="900" dirty="0"/>
          </a:p>
        </p:txBody>
      </p:sp>
      <p:sp>
        <p:nvSpPr>
          <p:cNvPr id="6" name="Text 4"/>
          <p:cNvSpPr/>
          <p:nvPr/>
        </p:nvSpPr>
        <p:spPr>
          <a:xfrm>
            <a:off x="2103120" y="182880"/>
            <a:ext cx="6400800" cy="438912"/>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Encoding Workflow</a:t>
            </a:r>
            <a:endParaRPr lang="en-US" sz="2800" dirty="0"/>
          </a:p>
        </p:txBody>
      </p:sp>
      <p:sp>
        <p:nvSpPr>
          <p:cNvPr id="7" name="Shape 5"/>
          <p:cNvSpPr/>
          <p:nvPr/>
        </p:nvSpPr>
        <p:spPr>
          <a:xfrm>
            <a:off x="228600" y="749808"/>
            <a:ext cx="1920240" cy="594360"/>
          </a:xfrm>
          <a:prstGeom prst="roundRect">
            <a:avLst>
              <a:gd name="adj" fmla="val 12308"/>
            </a:avLst>
          </a:prstGeom>
          <a:solidFill>
            <a:srgbClr val="0F1E35"/>
          </a:solidFill>
          <a:ln w="12700">
            <a:solidFill>
              <a:srgbClr val="1A8CFF"/>
            </a:solidFill>
            <a:prstDash val="solid"/>
          </a:ln>
        </p:spPr>
      </p:sp>
      <p:sp>
        <p:nvSpPr>
          <p:cNvPr id="8" name="Text 6"/>
          <p:cNvSpPr/>
          <p:nvPr/>
        </p:nvSpPr>
        <p:spPr>
          <a:xfrm>
            <a:off x="274320" y="749808"/>
            <a:ext cx="1828800" cy="594360"/>
          </a:xfrm>
          <a:prstGeom prst="rect">
            <a:avLst/>
          </a:prstGeom>
          <a:noFill/>
          <a:ln/>
        </p:spPr>
        <p:txBody>
          <a:bodyPr wrap="square" rtlCol="0" anchor="ctr"/>
          <a:lstStyle/>
          <a:p>
            <a:pPr algn="ctr" indent="0" marL="0">
              <a:buNone/>
            </a:pPr>
            <a:r>
              <a:rPr lang="en-US" sz="850" dirty="0">
                <a:solidFill>
                  <a:srgbClr val="CBD5E1"/>
                </a:solidFill>
              </a:rPr>
              <a:t>Cover Image</a:t>
            </a:r>
            <a:endParaRPr lang="en-US" sz="850" dirty="0"/>
          </a:p>
          <a:p>
            <a:pPr algn="ctr" indent="0" marL="0">
              <a:buNone/>
            </a:pPr>
            <a:r>
              <a:rPr lang="en-US" sz="850" dirty="0">
                <a:solidFill>
                  <a:srgbClr val="CBD5E1"/>
                </a:solidFill>
              </a:rPr>
              <a:t>+ Secret Message</a:t>
            </a:r>
            <a:endParaRPr lang="en-US" sz="850" dirty="0"/>
          </a:p>
          <a:p>
            <a:pPr algn="ctr" indent="0" marL="0">
              <a:buNone/>
            </a:pPr>
            <a:r>
              <a:rPr lang="en-US" sz="850" dirty="0">
                <a:solidFill>
                  <a:srgbClr val="CBD5E1"/>
                </a:solidFill>
              </a:rPr>
              <a:t>+ AES Key</a:t>
            </a:r>
            <a:endParaRPr lang="en-US" sz="850" dirty="0"/>
          </a:p>
        </p:txBody>
      </p:sp>
      <p:sp>
        <p:nvSpPr>
          <p:cNvPr id="9" name="Text 7"/>
          <p:cNvSpPr/>
          <p:nvPr/>
        </p:nvSpPr>
        <p:spPr>
          <a:xfrm>
            <a:off x="457200" y="658368"/>
            <a:ext cx="1463040" cy="182880"/>
          </a:xfrm>
          <a:prstGeom prst="rect">
            <a:avLst/>
          </a:prstGeom>
          <a:noFill/>
          <a:ln/>
        </p:spPr>
        <p:txBody>
          <a:bodyPr wrap="square" rtlCol="0" anchor="ctr"/>
          <a:lstStyle/>
          <a:p>
            <a:pPr algn="ctr" indent="0" marL="0">
              <a:buNone/>
            </a:pPr>
            <a:r>
              <a:rPr lang="en-US" sz="750" b="1" dirty="0">
                <a:solidFill>
                  <a:srgbClr val="1A8CFF"/>
                </a:solidFill>
              </a:rPr>
              <a:t>INPUTS</a:t>
            </a:r>
            <a:endParaRPr lang="en-US" sz="750" dirty="0"/>
          </a:p>
        </p:txBody>
      </p:sp>
      <p:sp>
        <p:nvSpPr>
          <p:cNvPr id="10" name="Shape 8"/>
          <p:cNvSpPr/>
          <p:nvPr/>
        </p:nvSpPr>
        <p:spPr>
          <a:xfrm>
            <a:off x="2148840" y="1051560"/>
            <a:ext cx="411480" cy="0"/>
          </a:xfrm>
          <a:prstGeom prst="line">
            <a:avLst/>
          </a:prstGeom>
          <a:noFill/>
          <a:ln w="25400">
            <a:solidFill>
              <a:srgbClr val="00E5FF"/>
            </a:solidFill>
            <a:prstDash val="solid"/>
            <a:tailEnd type="triangle"/>
          </a:ln>
        </p:spPr>
      </p:sp>
      <p:sp>
        <p:nvSpPr>
          <p:cNvPr id="11" name="Shape 9"/>
          <p:cNvSpPr/>
          <p:nvPr/>
        </p:nvSpPr>
        <p:spPr>
          <a:xfrm>
            <a:off x="2606040" y="713232"/>
            <a:ext cx="1371600" cy="1783080"/>
          </a:xfrm>
          <a:prstGeom prst="roundRect">
            <a:avLst>
              <a:gd name="adj" fmla="val 6667"/>
            </a:avLst>
          </a:prstGeom>
          <a:solidFill>
            <a:srgbClr val="0F1E35"/>
          </a:solidFill>
          <a:ln w="19050">
            <a:solidFill>
              <a:srgbClr val="1A8CFF"/>
            </a:solidFill>
            <a:prstDash val="solid"/>
          </a:ln>
          <a:effectLst>
            <a:outerShdw sx="100000" sy="100000" kx="0" ky="0" algn="bl" rotWithShape="0" blurRad="101600" dist="38100" dir="8100000">
              <a:srgbClr val="000000">
                <a:alpha val="30000"/>
              </a:srgbClr>
            </a:outerShdw>
          </a:effectLst>
        </p:spPr>
      </p:sp>
      <p:sp>
        <p:nvSpPr>
          <p:cNvPr id="12" name="Shape 10"/>
          <p:cNvSpPr/>
          <p:nvPr/>
        </p:nvSpPr>
        <p:spPr>
          <a:xfrm>
            <a:off x="2606040" y="713232"/>
            <a:ext cx="1371600" cy="256032"/>
          </a:xfrm>
          <a:prstGeom prst="rect">
            <a:avLst/>
          </a:prstGeom>
          <a:solidFill>
            <a:srgbClr val="1A8CFF">
              <a:alpha val="80000"/>
            </a:srgbClr>
          </a:solidFill>
          <a:ln w="12700">
            <a:solidFill>
              <a:srgbClr val="1A8CFF">
                <a:alpha val="80000"/>
              </a:srgbClr>
            </a:solidFill>
            <a:prstDash val="solid"/>
          </a:ln>
        </p:spPr>
      </p:sp>
      <p:pic>
        <p:nvPicPr>
          <p:cNvPr id="13" name="Image 0" descr="preencoded.png">    </p:cNvPr>
          <p:cNvPicPr>
            <a:picLocks noChangeAspect="1"/>
          </p:cNvPicPr>
          <p:nvPr/>
        </p:nvPicPr>
        <p:blipFill>
          <a:blip r:embed="rId1"/>
          <a:stretch>
            <a:fillRect/>
          </a:stretch>
        </p:blipFill>
        <p:spPr>
          <a:xfrm>
            <a:off x="3072384" y="1005840"/>
            <a:ext cx="402336" cy="402336"/>
          </a:xfrm>
          <a:prstGeom prst="rect">
            <a:avLst/>
          </a:prstGeom>
        </p:spPr>
      </p:pic>
      <p:sp>
        <p:nvSpPr>
          <p:cNvPr id="14" name="Text 11"/>
          <p:cNvSpPr/>
          <p:nvPr/>
        </p:nvSpPr>
        <p:spPr>
          <a:xfrm>
            <a:off x="2651760" y="1444752"/>
            <a:ext cx="1280160" cy="457200"/>
          </a:xfrm>
          <a:prstGeom prst="rect">
            <a:avLst/>
          </a:prstGeom>
          <a:noFill/>
          <a:ln/>
        </p:spPr>
        <p:txBody>
          <a:bodyPr wrap="square" rtlCol="0" anchor="ctr"/>
          <a:lstStyle/>
          <a:p>
            <a:pPr algn="ctr" indent="0" marL="0">
              <a:buNone/>
            </a:pPr>
            <a:r>
              <a:rPr lang="en-US" sz="900" b="1" dirty="0">
                <a:solidFill>
                  <a:srgbClr val="1A8CFF"/>
                </a:solidFill>
              </a:rPr>
              <a:t>① React</a:t>
            </a:r>
            <a:endParaRPr lang="en-US" sz="900" dirty="0"/>
          </a:p>
          <a:p>
            <a:pPr algn="ctr" indent="0" marL="0">
              <a:buNone/>
            </a:pPr>
            <a:r>
              <a:rPr lang="en-US" sz="900" b="1" dirty="0">
                <a:solidFill>
                  <a:srgbClr val="1A8CFF"/>
                </a:solidFill>
              </a:rPr>
              <a:t>Frontend</a:t>
            </a:r>
            <a:endParaRPr lang="en-US" sz="900" dirty="0"/>
          </a:p>
        </p:txBody>
      </p:sp>
      <p:sp>
        <p:nvSpPr>
          <p:cNvPr id="15" name="Text 12"/>
          <p:cNvSpPr/>
          <p:nvPr/>
        </p:nvSpPr>
        <p:spPr>
          <a:xfrm>
            <a:off x="2651760" y="1901952"/>
            <a:ext cx="1280160" cy="548640"/>
          </a:xfrm>
          <a:prstGeom prst="rect">
            <a:avLst/>
          </a:prstGeom>
          <a:noFill/>
          <a:ln/>
        </p:spPr>
        <p:txBody>
          <a:bodyPr wrap="square" rtlCol="0" anchor="ctr"/>
          <a:lstStyle/>
          <a:p>
            <a:pPr algn="ctr" indent="0" marL="0">
              <a:buNone/>
            </a:pPr>
            <a:r>
              <a:rPr lang="en-US" sz="750" dirty="0">
                <a:solidFill>
                  <a:srgbClr val="CBD5E1"/>
                </a:solidFill>
              </a:rPr>
              <a:t>Upload image</a:t>
            </a:r>
            <a:endParaRPr lang="en-US" sz="750" dirty="0"/>
          </a:p>
          <a:p>
            <a:pPr algn="ctr" indent="0" marL="0">
              <a:buNone/>
            </a:pPr>
            <a:r>
              <a:rPr lang="en-US" sz="750" dirty="0">
                <a:solidFill>
                  <a:srgbClr val="CBD5E1"/>
                </a:solidFill>
              </a:rPr>
              <a:t>Enter key &amp; payload</a:t>
            </a:r>
            <a:endParaRPr lang="en-US" sz="750" dirty="0"/>
          </a:p>
          <a:p>
            <a:pPr algn="ctr" indent="0" marL="0">
              <a:buNone/>
            </a:pPr>
            <a:r>
              <a:rPr lang="en-US" sz="750" dirty="0">
                <a:solidFill>
                  <a:srgbClr val="CBD5E1"/>
                </a:solidFill>
              </a:rPr>
              <a:t>Post to /encode</a:t>
            </a:r>
            <a:endParaRPr lang="en-US" sz="750" dirty="0"/>
          </a:p>
        </p:txBody>
      </p:sp>
      <p:sp>
        <p:nvSpPr>
          <p:cNvPr id="16" name="Shape 13"/>
          <p:cNvSpPr/>
          <p:nvPr/>
        </p:nvSpPr>
        <p:spPr>
          <a:xfrm>
            <a:off x="3977640" y="1572768"/>
            <a:ext cx="137160" cy="0"/>
          </a:xfrm>
          <a:prstGeom prst="line">
            <a:avLst/>
          </a:prstGeom>
          <a:noFill/>
          <a:ln w="25400">
            <a:solidFill>
              <a:srgbClr val="00E5FF"/>
            </a:solidFill>
            <a:prstDash val="solid"/>
            <a:tailEnd type="triangle"/>
          </a:ln>
        </p:spPr>
      </p:sp>
      <p:sp>
        <p:nvSpPr>
          <p:cNvPr id="17" name="Shape 14"/>
          <p:cNvSpPr/>
          <p:nvPr/>
        </p:nvSpPr>
        <p:spPr>
          <a:xfrm>
            <a:off x="4069080" y="713232"/>
            <a:ext cx="1371600" cy="1783080"/>
          </a:xfrm>
          <a:prstGeom prst="roundRect">
            <a:avLst>
              <a:gd name="adj" fmla="val 6667"/>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sp>
        <p:nvSpPr>
          <p:cNvPr id="18" name="Shape 15"/>
          <p:cNvSpPr/>
          <p:nvPr/>
        </p:nvSpPr>
        <p:spPr>
          <a:xfrm>
            <a:off x="4069080" y="713232"/>
            <a:ext cx="1371600" cy="256032"/>
          </a:xfrm>
          <a:prstGeom prst="rect">
            <a:avLst/>
          </a:prstGeom>
          <a:solidFill>
            <a:srgbClr val="7B2FFF">
              <a:alpha val="80000"/>
            </a:srgbClr>
          </a:solidFill>
          <a:ln w="12700">
            <a:solidFill>
              <a:srgbClr val="7B2FFF">
                <a:alpha val="80000"/>
              </a:srgbClr>
            </a:solidFill>
            <a:prstDash val="solid"/>
          </a:ln>
        </p:spPr>
      </p:sp>
      <p:pic>
        <p:nvPicPr>
          <p:cNvPr id="19" name="Image 1" descr="preencoded.png">    </p:cNvPr>
          <p:cNvPicPr>
            <a:picLocks noChangeAspect="1"/>
          </p:cNvPicPr>
          <p:nvPr/>
        </p:nvPicPr>
        <p:blipFill>
          <a:blip r:embed="rId2"/>
          <a:stretch>
            <a:fillRect/>
          </a:stretch>
        </p:blipFill>
        <p:spPr>
          <a:xfrm>
            <a:off x="4535424" y="1005840"/>
            <a:ext cx="402336" cy="402336"/>
          </a:xfrm>
          <a:prstGeom prst="rect">
            <a:avLst/>
          </a:prstGeom>
        </p:spPr>
      </p:pic>
      <p:sp>
        <p:nvSpPr>
          <p:cNvPr id="20" name="Text 16"/>
          <p:cNvSpPr/>
          <p:nvPr/>
        </p:nvSpPr>
        <p:spPr>
          <a:xfrm>
            <a:off x="4114800" y="1444752"/>
            <a:ext cx="1280160" cy="457200"/>
          </a:xfrm>
          <a:prstGeom prst="rect">
            <a:avLst/>
          </a:prstGeom>
          <a:noFill/>
          <a:ln/>
        </p:spPr>
        <p:txBody>
          <a:bodyPr wrap="square" rtlCol="0" anchor="ctr"/>
          <a:lstStyle/>
          <a:p>
            <a:pPr algn="ctr" indent="0" marL="0">
              <a:buNone/>
            </a:pPr>
            <a:r>
              <a:rPr lang="en-US" sz="900" b="1" dirty="0">
                <a:solidFill>
                  <a:srgbClr val="7B2FFF"/>
                </a:solidFill>
              </a:rPr>
              <a:t>② FastAPI</a:t>
            </a:r>
            <a:endParaRPr lang="en-US" sz="900" dirty="0"/>
          </a:p>
          <a:p>
            <a:pPr algn="ctr" indent="0" marL="0">
              <a:buNone/>
            </a:pPr>
            <a:r>
              <a:rPr lang="en-US" sz="900" b="1" dirty="0">
                <a:solidFill>
                  <a:srgbClr val="7B2FFF"/>
                </a:solidFill>
              </a:rPr>
              <a:t>Backend</a:t>
            </a:r>
            <a:endParaRPr lang="en-US" sz="900" dirty="0"/>
          </a:p>
        </p:txBody>
      </p:sp>
      <p:sp>
        <p:nvSpPr>
          <p:cNvPr id="21" name="Text 17"/>
          <p:cNvSpPr/>
          <p:nvPr/>
        </p:nvSpPr>
        <p:spPr>
          <a:xfrm>
            <a:off x="4114800" y="1901952"/>
            <a:ext cx="1280160" cy="548640"/>
          </a:xfrm>
          <a:prstGeom prst="rect">
            <a:avLst/>
          </a:prstGeom>
          <a:noFill/>
          <a:ln/>
        </p:spPr>
        <p:txBody>
          <a:bodyPr wrap="square" rtlCol="0" anchor="ctr"/>
          <a:lstStyle/>
          <a:p>
            <a:pPr algn="ctr" indent="0" marL="0">
              <a:buNone/>
            </a:pPr>
            <a:r>
              <a:rPr lang="en-US" sz="750" dirty="0">
                <a:solidFill>
                  <a:srgbClr val="CBD5E1"/>
                </a:solidFill>
              </a:rPr>
              <a:t>Validate inputs</a:t>
            </a:r>
            <a:endParaRPr lang="en-US" sz="750" dirty="0"/>
          </a:p>
          <a:p>
            <a:pPr algn="ctr" indent="0" marL="0">
              <a:buNone/>
            </a:pPr>
            <a:r>
              <a:rPr lang="en-US" sz="750" dirty="0">
                <a:solidFill>
                  <a:srgbClr val="CBD5E1"/>
                </a:solidFill>
              </a:rPr>
              <a:t>Route to services</a:t>
            </a:r>
            <a:endParaRPr lang="en-US" sz="750" dirty="0"/>
          </a:p>
        </p:txBody>
      </p:sp>
      <p:sp>
        <p:nvSpPr>
          <p:cNvPr id="22" name="Shape 18"/>
          <p:cNvSpPr/>
          <p:nvPr/>
        </p:nvSpPr>
        <p:spPr>
          <a:xfrm>
            <a:off x="5440680" y="1572768"/>
            <a:ext cx="137160" cy="0"/>
          </a:xfrm>
          <a:prstGeom prst="line">
            <a:avLst/>
          </a:prstGeom>
          <a:noFill/>
          <a:ln w="25400">
            <a:solidFill>
              <a:srgbClr val="00E5FF"/>
            </a:solidFill>
            <a:prstDash val="solid"/>
            <a:tailEnd type="triangle"/>
          </a:ln>
        </p:spPr>
      </p:sp>
      <p:sp>
        <p:nvSpPr>
          <p:cNvPr id="23" name="Shape 19"/>
          <p:cNvSpPr/>
          <p:nvPr/>
        </p:nvSpPr>
        <p:spPr>
          <a:xfrm>
            <a:off x="5532120" y="713232"/>
            <a:ext cx="1371600" cy="1783080"/>
          </a:xfrm>
          <a:prstGeom prst="roundRect">
            <a:avLst>
              <a:gd name="adj" fmla="val 6667"/>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24" name="Shape 20"/>
          <p:cNvSpPr/>
          <p:nvPr/>
        </p:nvSpPr>
        <p:spPr>
          <a:xfrm>
            <a:off x="5532120" y="713232"/>
            <a:ext cx="1371600" cy="256032"/>
          </a:xfrm>
          <a:prstGeom prst="rect">
            <a:avLst/>
          </a:prstGeom>
          <a:solidFill>
            <a:srgbClr val="00E5FF">
              <a:alpha val="80000"/>
            </a:srgbClr>
          </a:solidFill>
          <a:ln w="12700">
            <a:solidFill>
              <a:srgbClr val="00E5FF">
                <a:alpha val="80000"/>
              </a:srgbClr>
            </a:solidFill>
            <a:prstDash val="solid"/>
          </a:ln>
        </p:spPr>
      </p:sp>
      <p:pic>
        <p:nvPicPr>
          <p:cNvPr id="25" name="Image 2" descr="preencoded.png">    </p:cNvPr>
          <p:cNvPicPr>
            <a:picLocks noChangeAspect="1"/>
          </p:cNvPicPr>
          <p:nvPr/>
        </p:nvPicPr>
        <p:blipFill>
          <a:blip r:embed="rId3"/>
          <a:stretch>
            <a:fillRect/>
          </a:stretch>
        </p:blipFill>
        <p:spPr>
          <a:xfrm>
            <a:off x="5998464" y="1005840"/>
            <a:ext cx="402336" cy="402336"/>
          </a:xfrm>
          <a:prstGeom prst="rect">
            <a:avLst/>
          </a:prstGeom>
        </p:spPr>
      </p:pic>
      <p:sp>
        <p:nvSpPr>
          <p:cNvPr id="26" name="Text 21"/>
          <p:cNvSpPr/>
          <p:nvPr/>
        </p:nvSpPr>
        <p:spPr>
          <a:xfrm>
            <a:off x="5577840" y="1444752"/>
            <a:ext cx="1280160" cy="457200"/>
          </a:xfrm>
          <a:prstGeom prst="rect">
            <a:avLst/>
          </a:prstGeom>
          <a:noFill/>
          <a:ln/>
        </p:spPr>
        <p:txBody>
          <a:bodyPr wrap="square" rtlCol="0" anchor="ctr"/>
          <a:lstStyle/>
          <a:p>
            <a:pPr algn="ctr" indent="0" marL="0">
              <a:buNone/>
            </a:pPr>
            <a:r>
              <a:rPr lang="en-US" sz="900" b="1" dirty="0">
                <a:solidFill>
                  <a:srgbClr val="00E5FF"/>
                </a:solidFill>
              </a:rPr>
              <a:t>③ AES-256-CBC</a:t>
            </a:r>
            <a:endParaRPr lang="en-US" sz="900" dirty="0"/>
          </a:p>
          <a:p>
            <a:pPr algn="ctr" indent="0" marL="0">
              <a:buNone/>
            </a:pPr>
            <a:r>
              <a:rPr lang="en-US" sz="900" b="1" dirty="0">
                <a:solidFill>
                  <a:srgbClr val="00E5FF"/>
                </a:solidFill>
              </a:rPr>
              <a:t>Encrypt</a:t>
            </a:r>
            <a:endParaRPr lang="en-US" sz="900" dirty="0"/>
          </a:p>
        </p:txBody>
      </p:sp>
      <p:sp>
        <p:nvSpPr>
          <p:cNvPr id="27" name="Text 22"/>
          <p:cNvSpPr/>
          <p:nvPr/>
        </p:nvSpPr>
        <p:spPr>
          <a:xfrm>
            <a:off x="5577840" y="1901952"/>
            <a:ext cx="1280160" cy="548640"/>
          </a:xfrm>
          <a:prstGeom prst="rect">
            <a:avLst/>
          </a:prstGeom>
          <a:noFill/>
          <a:ln/>
        </p:spPr>
        <p:txBody>
          <a:bodyPr wrap="square" rtlCol="0" anchor="ctr"/>
          <a:lstStyle/>
          <a:p>
            <a:pPr algn="ctr" indent="0" marL="0">
              <a:buNone/>
            </a:pPr>
            <a:r>
              <a:rPr lang="en-US" sz="750" dirty="0">
                <a:solidFill>
                  <a:srgbClr val="CBD5E1"/>
                </a:solidFill>
              </a:rPr>
              <a:t>PKCS7 padding</a:t>
            </a:r>
            <a:endParaRPr lang="en-US" sz="750" dirty="0"/>
          </a:p>
          <a:p>
            <a:pPr algn="ctr" indent="0" marL="0">
              <a:buNone/>
            </a:pPr>
            <a:r>
              <a:rPr lang="en-US" sz="750" dirty="0">
                <a:solidFill>
                  <a:srgbClr val="CBD5E1"/>
                </a:solidFill>
              </a:rPr>
              <a:t>Random 16B IV</a:t>
            </a:r>
            <a:endParaRPr lang="en-US" sz="750" dirty="0"/>
          </a:p>
          <a:p>
            <a:pPr algn="ctr" indent="0" marL="0">
              <a:buNone/>
            </a:pPr>
            <a:r>
              <a:rPr lang="en-US" sz="750" dirty="0">
                <a:solidFill>
                  <a:srgbClr val="CBD5E1"/>
                </a:solidFill>
              </a:rPr>
              <a:t>CBC mode</a:t>
            </a:r>
            <a:endParaRPr lang="en-US" sz="750" dirty="0"/>
          </a:p>
        </p:txBody>
      </p:sp>
      <p:sp>
        <p:nvSpPr>
          <p:cNvPr id="28" name="Shape 23"/>
          <p:cNvSpPr/>
          <p:nvPr/>
        </p:nvSpPr>
        <p:spPr>
          <a:xfrm>
            <a:off x="6903720" y="1572768"/>
            <a:ext cx="137160" cy="0"/>
          </a:xfrm>
          <a:prstGeom prst="line">
            <a:avLst/>
          </a:prstGeom>
          <a:noFill/>
          <a:ln w="25400">
            <a:solidFill>
              <a:srgbClr val="00E5FF"/>
            </a:solidFill>
            <a:prstDash val="solid"/>
            <a:tailEnd type="triangle"/>
          </a:ln>
        </p:spPr>
      </p:sp>
      <p:sp>
        <p:nvSpPr>
          <p:cNvPr id="29" name="Shape 24"/>
          <p:cNvSpPr/>
          <p:nvPr/>
        </p:nvSpPr>
        <p:spPr>
          <a:xfrm>
            <a:off x="6995160" y="713232"/>
            <a:ext cx="1371600" cy="1783080"/>
          </a:xfrm>
          <a:prstGeom prst="roundRect">
            <a:avLst>
              <a:gd name="adj" fmla="val 6667"/>
            </a:avLst>
          </a:prstGeom>
          <a:solidFill>
            <a:srgbClr val="0F1E35"/>
          </a:solidFill>
          <a:ln w="19050">
            <a:solidFill>
              <a:srgbClr val="FF6B35"/>
            </a:solidFill>
            <a:prstDash val="solid"/>
          </a:ln>
          <a:effectLst>
            <a:outerShdw sx="100000" sy="100000" kx="0" ky="0" algn="bl" rotWithShape="0" blurRad="101600" dist="38100" dir="8100000">
              <a:srgbClr val="000000">
                <a:alpha val="30000"/>
              </a:srgbClr>
            </a:outerShdw>
          </a:effectLst>
        </p:spPr>
      </p:sp>
      <p:sp>
        <p:nvSpPr>
          <p:cNvPr id="30" name="Shape 25"/>
          <p:cNvSpPr/>
          <p:nvPr/>
        </p:nvSpPr>
        <p:spPr>
          <a:xfrm>
            <a:off x="6995160" y="713232"/>
            <a:ext cx="1371600" cy="256032"/>
          </a:xfrm>
          <a:prstGeom prst="rect">
            <a:avLst/>
          </a:prstGeom>
          <a:solidFill>
            <a:srgbClr val="FF6B35">
              <a:alpha val="80000"/>
            </a:srgbClr>
          </a:solidFill>
          <a:ln w="12700">
            <a:solidFill>
              <a:srgbClr val="FF6B35">
                <a:alpha val="80000"/>
              </a:srgbClr>
            </a:solidFill>
            <a:prstDash val="solid"/>
          </a:ln>
        </p:spPr>
      </p:sp>
      <p:pic>
        <p:nvPicPr>
          <p:cNvPr id="31" name="Image 3" descr="preencoded.png">    </p:cNvPr>
          <p:cNvPicPr>
            <a:picLocks noChangeAspect="1"/>
          </p:cNvPicPr>
          <p:nvPr/>
        </p:nvPicPr>
        <p:blipFill>
          <a:blip r:embed="rId4"/>
          <a:stretch>
            <a:fillRect/>
          </a:stretch>
        </p:blipFill>
        <p:spPr>
          <a:xfrm>
            <a:off x="7461504" y="1005840"/>
            <a:ext cx="402336" cy="402336"/>
          </a:xfrm>
          <a:prstGeom prst="rect">
            <a:avLst/>
          </a:prstGeom>
        </p:spPr>
      </p:pic>
      <p:sp>
        <p:nvSpPr>
          <p:cNvPr id="32" name="Text 26"/>
          <p:cNvSpPr/>
          <p:nvPr/>
        </p:nvSpPr>
        <p:spPr>
          <a:xfrm>
            <a:off x="7040880" y="1444752"/>
            <a:ext cx="1280160" cy="457200"/>
          </a:xfrm>
          <a:prstGeom prst="rect">
            <a:avLst/>
          </a:prstGeom>
          <a:noFill/>
          <a:ln/>
        </p:spPr>
        <p:txBody>
          <a:bodyPr wrap="square" rtlCol="0" anchor="ctr"/>
          <a:lstStyle/>
          <a:p>
            <a:pPr algn="ctr" indent="0" marL="0">
              <a:buNone/>
            </a:pPr>
            <a:r>
              <a:rPr lang="en-US" sz="900" b="1" dirty="0">
                <a:solidFill>
                  <a:srgbClr val="FF6B35"/>
                </a:solidFill>
              </a:rPr>
              <a:t>④ JUNIWARD</a:t>
            </a:r>
            <a:endParaRPr lang="en-US" sz="900" dirty="0"/>
          </a:p>
          <a:p>
            <a:pPr algn="ctr" indent="0" marL="0">
              <a:buNone/>
            </a:pPr>
            <a:r>
              <a:rPr lang="en-US" sz="900" b="1" dirty="0">
                <a:solidFill>
                  <a:srgbClr val="FF6B35"/>
                </a:solidFill>
              </a:rPr>
              <a:t>Embed</a:t>
            </a:r>
            <a:endParaRPr lang="en-US" sz="900" dirty="0"/>
          </a:p>
        </p:txBody>
      </p:sp>
      <p:sp>
        <p:nvSpPr>
          <p:cNvPr id="33" name="Text 27"/>
          <p:cNvSpPr/>
          <p:nvPr/>
        </p:nvSpPr>
        <p:spPr>
          <a:xfrm>
            <a:off x="7040880" y="1901952"/>
            <a:ext cx="1280160" cy="548640"/>
          </a:xfrm>
          <a:prstGeom prst="rect">
            <a:avLst/>
          </a:prstGeom>
          <a:noFill/>
          <a:ln/>
        </p:spPr>
        <p:txBody>
          <a:bodyPr wrap="square" rtlCol="0" anchor="ctr"/>
          <a:lstStyle/>
          <a:p>
            <a:pPr algn="ctr" indent="0" marL="0">
              <a:buNone/>
            </a:pPr>
            <a:r>
              <a:rPr lang="en-US" sz="750" dirty="0">
                <a:solidFill>
                  <a:srgbClr val="CBD5E1"/>
                </a:solidFill>
              </a:rPr>
              <a:t>DWT + cost map</a:t>
            </a:r>
            <a:endParaRPr lang="en-US" sz="750" dirty="0"/>
          </a:p>
          <a:p>
            <a:pPr algn="ctr" indent="0" marL="0">
              <a:buNone/>
            </a:pPr>
            <a:r>
              <a:rPr lang="en-US" sz="750" dirty="0">
                <a:solidFill>
                  <a:srgbClr val="CBD5E1"/>
                </a:solidFill>
              </a:rPr>
              <a:t>STC encoding</a:t>
            </a:r>
            <a:endParaRPr lang="en-US" sz="750" dirty="0"/>
          </a:p>
          <a:p>
            <a:pPr algn="ctr" indent="0" marL="0">
              <a:buNone/>
            </a:pPr>
            <a:r>
              <a:rPr lang="en-US" sz="750" dirty="0">
                <a:solidFill>
                  <a:srgbClr val="CBD5E1"/>
                </a:solidFill>
              </a:rPr>
              <a:t>LSB flip in wavelet</a:t>
            </a:r>
            <a:endParaRPr lang="en-US" sz="750" dirty="0"/>
          </a:p>
        </p:txBody>
      </p:sp>
      <p:sp>
        <p:nvSpPr>
          <p:cNvPr id="34" name="Shape 28"/>
          <p:cNvSpPr/>
          <p:nvPr/>
        </p:nvSpPr>
        <p:spPr>
          <a:xfrm>
            <a:off x="7680960" y="2496312"/>
            <a:ext cx="0" cy="274320"/>
          </a:xfrm>
          <a:prstGeom prst="line">
            <a:avLst/>
          </a:prstGeom>
          <a:noFill/>
          <a:ln w="25400">
            <a:solidFill>
              <a:srgbClr val="00E5FF"/>
            </a:solidFill>
            <a:prstDash val="solid"/>
            <a:tailEnd type="triangle"/>
          </a:ln>
        </p:spPr>
      </p:sp>
      <p:sp>
        <p:nvSpPr>
          <p:cNvPr id="35" name="Shape 29"/>
          <p:cNvSpPr/>
          <p:nvPr/>
        </p:nvSpPr>
        <p:spPr>
          <a:xfrm>
            <a:off x="5486400" y="2834640"/>
            <a:ext cx="3383280" cy="960120"/>
          </a:xfrm>
          <a:prstGeom prst="roundRect">
            <a:avLst>
              <a:gd name="adj" fmla="val 11429"/>
            </a:avLst>
          </a:prstGeom>
          <a:solidFill>
            <a:srgbClr val="091A0D"/>
          </a:solidFill>
          <a:ln w="25400">
            <a:solidFill>
              <a:srgbClr val="00D4A1"/>
            </a:solidFill>
            <a:prstDash val="solid"/>
          </a:ln>
          <a:effectLst>
            <a:outerShdw sx="100000" sy="100000" kx="0" ky="0" algn="bl" rotWithShape="0" blurRad="101600" dist="38100" dir="8100000">
              <a:srgbClr val="000000">
                <a:alpha val="30000"/>
              </a:srgbClr>
            </a:outerShdw>
          </a:effectLst>
        </p:spPr>
      </p:sp>
      <p:sp>
        <p:nvSpPr>
          <p:cNvPr id="36" name="Text 30"/>
          <p:cNvSpPr/>
          <p:nvPr/>
        </p:nvSpPr>
        <p:spPr>
          <a:xfrm>
            <a:off x="5577840" y="2862072"/>
            <a:ext cx="3200400" cy="274320"/>
          </a:xfrm>
          <a:prstGeom prst="rect">
            <a:avLst/>
          </a:prstGeom>
          <a:noFill/>
          <a:ln/>
        </p:spPr>
        <p:txBody>
          <a:bodyPr wrap="square" rtlCol="0" anchor="ctr"/>
          <a:lstStyle/>
          <a:p>
            <a:pPr indent="0" marL="0">
              <a:buNone/>
            </a:pPr>
            <a:r>
              <a:rPr lang="en-US" sz="1000" b="1" dirty="0">
                <a:solidFill>
                  <a:srgbClr val="00D4A1"/>
                </a:solidFill>
              </a:rPr>
              <a:t>⑤  OUTPUT</a:t>
            </a:r>
            <a:endParaRPr lang="en-US" sz="1000" dirty="0"/>
          </a:p>
        </p:txBody>
      </p:sp>
      <p:sp>
        <p:nvSpPr>
          <p:cNvPr id="37" name="Text 31"/>
          <p:cNvSpPr/>
          <p:nvPr/>
        </p:nvSpPr>
        <p:spPr>
          <a:xfrm>
            <a:off x="5577840" y="3127248"/>
            <a:ext cx="3200400" cy="594360"/>
          </a:xfrm>
          <a:prstGeom prst="rect">
            <a:avLst/>
          </a:prstGeom>
          <a:noFill/>
          <a:ln/>
        </p:spPr>
        <p:txBody>
          <a:bodyPr wrap="square" rtlCol="0" anchor="ctr"/>
          <a:lstStyle/>
          <a:p>
            <a:pPr indent="0" marL="0">
              <a:buNone/>
            </a:pPr>
            <a:r>
              <a:rPr lang="en-US" sz="900" dirty="0">
                <a:solidFill>
                  <a:srgbClr val="CBD5E1"/>
                </a:solidFill>
              </a:rPr>
              <a:t>Stego Image (base64)  ·  PSNR (dB)  ·  Payload (bpp)  ·  Encoding Time (ms)</a:t>
            </a:r>
            <a:endParaRPr lang="en-US" sz="900" dirty="0"/>
          </a:p>
          <a:p>
            <a:pPr indent="0" marL="0">
              <a:buNone/>
            </a:pPr>
            <a:r>
              <a:rPr lang="en-US" sz="900" dirty="0">
                <a:solidFill>
                  <a:srgbClr val="CBD5E1"/>
                </a:solidFill>
              </a:rPr>
              <a:t>Image quality metrics displayed in React UI</a:t>
            </a:r>
            <a:endParaRPr lang="en-US" sz="900" dirty="0"/>
          </a:p>
        </p:txBody>
      </p:sp>
      <p:sp>
        <p:nvSpPr>
          <p:cNvPr id="38" name="Shape 32"/>
          <p:cNvSpPr/>
          <p:nvPr/>
        </p:nvSpPr>
        <p:spPr>
          <a:xfrm>
            <a:off x="228600" y="2834640"/>
            <a:ext cx="5120640" cy="1645920"/>
          </a:xfrm>
          <a:prstGeom prst="roundRect">
            <a:avLst>
              <a:gd name="adj" fmla="val 5556"/>
            </a:avLst>
          </a:prstGeom>
          <a:solidFill>
            <a:srgbClr val="1A0A0A"/>
          </a:solidFill>
          <a:ln w="12700">
            <a:solidFill>
              <a:srgbClr val="FF3B5C"/>
            </a:solidFill>
            <a:prstDash val="solid"/>
          </a:ln>
        </p:spPr>
      </p:sp>
      <p:sp>
        <p:nvSpPr>
          <p:cNvPr id="39" name="Text 33"/>
          <p:cNvSpPr/>
          <p:nvPr/>
        </p:nvSpPr>
        <p:spPr>
          <a:xfrm>
            <a:off x="365760" y="2871216"/>
            <a:ext cx="4846320" cy="274320"/>
          </a:xfrm>
          <a:prstGeom prst="rect">
            <a:avLst/>
          </a:prstGeom>
          <a:noFill/>
          <a:ln/>
        </p:spPr>
        <p:txBody>
          <a:bodyPr wrap="square" rtlCol="0" anchor="ctr"/>
          <a:lstStyle/>
          <a:p>
            <a:pPr indent="0" marL="0">
              <a:buNone/>
            </a:pPr>
            <a:r>
              <a:rPr lang="en-US" sz="1000" b="1" dirty="0">
                <a:solidFill>
                  <a:srgbClr val="FF3B5C"/>
                </a:solidFill>
              </a:rPr>
              <a:t>Possible Errors</a:t>
            </a:r>
            <a:endParaRPr lang="en-US" sz="1000" dirty="0"/>
          </a:p>
        </p:txBody>
      </p:sp>
      <p:sp>
        <p:nvSpPr>
          <p:cNvPr id="40" name="Text 34"/>
          <p:cNvSpPr/>
          <p:nvPr/>
        </p:nvSpPr>
        <p:spPr>
          <a:xfrm>
            <a:off x="365760" y="3200400"/>
            <a:ext cx="4846320" cy="256032"/>
          </a:xfrm>
          <a:prstGeom prst="rect">
            <a:avLst/>
          </a:prstGeom>
          <a:noFill/>
          <a:ln/>
        </p:spPr>
        <p:txBody>
          <a:bodyPr wrap="square"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400  INVALID_IMAGE_FORMAT  —  use PNG, JPEG, BMP only</a:t>
            </a:r>
            <a:endParaRPr lang="en-US" sz="850" dirty="0"/>
          </a:p>
        </p:txBody>
      </p:sp>
      <p:sp>
        <p:nvSpPr>
          <p:cNvPr id="41" name="Text 35"/>
          <p:cNvSpPr/>
          <p:nvPr/>
        </p:nvSpPr>
        <p:spPr>
          <a:xfrm>
            <a:off x="365760" y="3493008"/>
            <a:ext cx="4846320" cy="256032"/>
          </a:xfrm>
          <a:prstGeom prst="rect">
            <a:avLst/>
          </a:prstGeom>
          <a:noFill/>
          <a:ln/>
        </p:spPr>
        <p:txBody>
          <a:bodyPr wrap="square"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400  PAYLOAD_TOO_LARGE     —  message exceeds JUNIWARD capacity</a:t>
            </a:r>
            <a:endParaRPr lang="en-US" sz="850" dirty="0"/>
          </a:p>
        </p:txBody>
      </p:sp>
      <p:sp>
        <p:nvSpPr>
          <p:cNvPr id="42" name="Text 36"/>
          <p:cNvSpPr/>
          <p:nvPr/>
        </p:nvSpPr>
        <p:spPr>
          <a:xfrm>
            <a:off x="365760" y="3785616"/>
            <a:ext cx="4846320" cy="256032"/>
          </a:xfrm>
          <a:prstGeom prst="rect">
            <a:avLst/>
          </a:prstGeom>
          <a:noFill/>
          <a:ln/>
        </p:spPr>
        <p:txBody>
          <a:bodyPr wrap="square"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400  INVALID_KEY_FORMAT    —  key must be 32-byte base64</a:t>
            </a:r>
            <a:endParaRPr lang="en-US" sz="850" dirty="0"/>
          </a:p>
        </p:txBody>
      </p:sp>
      <p:sp>
        <p:nvSpPr>
          <p:cNvPr id="43" name="Text 37"/>
          <p:cNvSpPr/>
          <p:nvPr/>
        </p:nvSpPr>
        <p:spPr>
          <a:xfrm>
            <a:off x="365760" y="4078224"/>
            <a:ext cx="4846320" cy="256032"/>
          </a:xfrm>
          <a:prstGeom prst="rect">
            <a:avLst/>
          </a:prstGeom>
          <a:noFill/>
          <a:ln/>
        </p:spPr>
        <p:txBody>
          <a:bodyPr wrap="square"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500  ENCODING_FAILED       —  JUNIWARD internal failure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090F"/>
          </a:solidFill>
          <a:ln w="12700">
            <a:solidFill>
              <a:srgbClr val="07090F"/>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0" y="0"/>
            <a:ext cx="9144000" cy="5143500"/>
          </a:xfrm>
          <a:prstGeom prst="rect">
            <a:avLst/>
          </a:prstGeom>
          <a:solidFill>
            <a:srgbClr val="081428">
              <a:alpha val="40000"/>
            </a:srgbClr>
          </a:solidFill>
          <a:ln w="12700">
            <a:solidFill>
              <a:srgbClr val="081428">
                <a:alpha val="40000"/>
              </a:srgbClr>
            </a:solidFill>
            <a:prstDash val="solid"/>
          </a:ln>
        </p:spPr>
      </p:sp>
      <p:sp>
        <p:nvSpPr>
          <p:cNvPr id="5" name="Shape 3"/>
          <p:cNvSpPr/>
          <p:nvPr/>
        </p:nvSpPr>
        <p:spPr>
          <a:xfrm>
            <a:off x="457200" y="256032"/>
            <a:ext cx="1463040" cy="256032"/>
          </a:xfrm>
          <a:prstGeom prst="rect">
            <a:avLst/>
          </a:prstGeom>
          <a:solidFill>
            <a:srgbClr val="00E5FF"/>
          </a:solidFill>
          <a:ln w="12700">
            <a:solidFill>
              <a:srgbClr val="00E5FF"/>
            </a:solidFill>
            <a:prstDash val="solid"/>
          </a:ln>
        </p:spPr>
      </p:sp>
      <p:sp>
        <p:nvSpPr>
          <p:cNvPr id="6" name="Text 4"/>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WORKFLOW</a:t>
            </a:r>
            <a:endParaRPr lang="en-US" sz="900" dirty="0"/>
          </a:p>
        </p:txBody>
      </p:sp>
      <p:sp>
        <p:nvSpPr>
          <p:cNvPr id="7" name="Text 5"/>
          <p:cNvSpPr/>
          <p:nvPr/>
        </p:nvSpPr>
        <p:spPr>
          <a:xfrm>
            <a:off x="2103120" y="182880"/>
            <a:ext cx="6400800" cy="438912"/>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Decoding Workflow</a:t>
            </a:r>
            <a:endParaRPr lang="en-US" sz="2800" dirty="0"/>
          </a:p>
        </p:txBody>
      </p:sp>
      <p:sp>
        <p:nvSpPr>
          <p:cNvPr id="8" name="Shape 6"/>
          <p:cNvSpPr/>
          <p:nvPr/>
        </p:nvSpPr>
        <p:spPr>
          <a:xfrm>
            <a:off x="228600" y="749808"/>
            <a:ext cx="1645920" cy="594360"/>
          </a:xfrm>
          <a:prstGeom prst="roundRect">
            <a:avLst>
              <a:gd name="adj" fmla="val 12308"/>
            </a:avLst>
          </a:prstGeom>
          <a:solidFill>
            <a:srgbClr val="0F1E35"/>
          </a:solidFill>
          <a:ln w="12700">
            <a:solidFill>
              <a:srgbClr val="1A8CFF"/>
            </a:solidFill>
            <a:prstDash val="solid"/>
          </a:ln>
        </p:spPr>
      </p:sp>
      <p:sp>
        <p:nvSpPr>
          <p:cNvPr id="9" name="Text 7"/>
          <p:cNvSpPr/>
          <p:nvPr/>
        </p:nvSpPr>
        <p:spPr>
          <a:xfrm>
            <a:off x="256032" y="749808"/>
            <a:ext cx="1572768" cy="594360"/>
          </a:xfrm>
          <a:prstGeom prst="rect">
            <a:avLst/>
          </a:prstGeom>
          <a:noFill/>
          <a:ln/>
        </p:spPr>
        <p:txBody>
          <a:bodyPr wrap="square" rtlCol="0" anchor="ctr"/>
          <a:lstStyle/>
          <a:p>
            <a:pPr algn="ctr" indent="0" marL="0">
              <a:buNone/>
            </a:pPr>
            <a:r>
              <a:rPr lang="en-US" sz="850" dirty="0">
                <a:solidFill>
                  <a:srgbClr val="CBD5E1"/>
                </a:solidFill>
              </a:rPr>
              <a:t>Stego Image</a:t>
            </a:r>
            <a:endParaRPr lang="en-US" sz="850" dirty="0"/>
          </a:p>
          <a:p>
            <a:pPr algn="ctr" indent="0" marL="0">
              <a:buNone/>
            </a:pPr>
            <a:r>
              <a:rPr lang="en-US" sz="850" dirty="0">
                <a:solidFill>
                  <a:srgbClr val="CBD5E1"/>
                </a:solidFill>
              </a:rPr>
              <a:t>+ AES Key</a:t>
            </a:r>
            <a:endParaRPr lang="en-US" sz="850" dirty="0"/>
          </a:p>
        </p:txBody>
      </p:sp>
      <p:sp>
        <p:nvSpPr>
          <p:cNvPr id="10" name="Shape 8"/>
          <p:cNvSpPr/>
          <p:nvPr/>
        </p:nvSpPr>
        <p:spPr>
          <a:xfrm>
            <a:off x="1874520" y="1051560"/>
            <a:ext cx="365760" cy="0"/>
          </a:xfrm>
          <a:prstGeom prst="line">
            <a:avLst/>
          </a:prstGeom>
          <a:noFill/>
          <a:ln w="25400">
            <a:solidFill>
              <a:srgbClr val="00E5FF"/>
            </a:solidFill>
            <a:prstDash val="solid"/>
            <a:tailEnd type="triangle"/>
          </a:ln>
        </p:spPr>
      </p:sp>
      <p:sp>
        <p:nvSpPr>
          <p:cNvPr id="11" name="Shape 9"/>
          <p:cNvSpPr/>
          <p:nvPr/>
        </p:nvSpPr>
        <p:spPr>
          <a:xfrm>
            <a:off x="2286000" y="713232"/>
            <a:ext cx="1371600" cy="1783080"/>
          </a:xfrm>
          <a:prstGeom prst="roundRect">
            <a:avLst>
              <a:gd name="adj" fmla="val 6667"/>
            </a:avLst>
          </a:prstGeom>
          <a:solidFill>
            <a:srgbClr val="0F1E35"/>
          </a:solidFill>
          <a:ln w="19050">
            <a:solidFill>
              <a:srgbClr val="1A8CFF"/>
            </a:solidFill>
            <a:prstDash val="solid"/>
          </a:ln>
          <a:effectLst>
            <a:outerShdw sx="100000" sy="100000" kx="0" ky="0" algn="bl" rotWithShape="0" blurRad="101600" dist="38100" dir="8100000">
              <a:srgbClr val="000000">
                <a:alpha val="30000"/>
              </a:srgbClr>
            </a:outerShdw>
          </a:effectLst>
        </p:spPr>
      </p:sp>
      <p:sp>
        <p:nvSpPr>
          <p:cNvPr id="12" name="Shape 10"/>
          <p:cNvSpPr/>
          <p:nvPr/>
        </p:nvSpPr>
        <p:spPr>
          <a:xfrm>
            <a:off x="2286000" y="713232"/>
            <a:ext cx="1371600" cy="256032"/>
          </a:xfrm>
          <a:prstGeom prst="rect">
            <a:avLst/>
          </a:prstGeom>
          <a:solidFill>
            <a:srgbClr val="1A8CFF">
              <a:alpha val="80000"/>
            </a:srgbClr>
          </a:solidFill>
          <a:ln w="12700">
            <a:solidFill>
              <a:srgbClr val="1A8CFF">
                <a:alpha val="80000"/>
              </a:srgbClr>
            </a:solidFill>
            <a:prstDash val="solid"/>
          </a:ln>
        </p:spPr>
      </p:sp>
      <p:pic>
        <p:nvPicPr>
          <p:cNvPr id="13" name="Image 0" descr="preencoded.png">    </p:cNvPr>
          <p:cNvPicPr>
            <a:picLocks noChangeAspect="1"/>
          </p:cNvPicPr>
          <p:nvPr/>
        </p:nvPicPr>
        <p:blipFill>
          <a:blip r:embed="rId1"/>
          <a:stretch>
            <a:fillRect/>
          </a:stretch>
        </p:blipFill>
        <p:spPr>
          <a:xfrm>
            <a:off x="2752344" y="1005840"/>
            <a:ext cx="402336" cy="402336"/>
          </a:xfrm>
          <a:prstGeom prst="rect">
            <a:avLst/>
          </a:prstGeom>
        </p:spPr>
      </p:pic>
      <p:sp>
        <p:nvSpPr>
          <p:cNvPr id="14" name="Text 11"/>
          <p:cNvSpPr/>
          <p:nvPr/>
        </p:nvSpPr>
        <p:spPr>
          <a:xfrm>
            <a:off x="2331720" y="1444752"/>
            <a:ext cx="1280160" cy="457200"/>
          </a:xfrm>
          <a:prstGeom prst="rect">
            <a:avLst/>
          </a:prstGeom>
          <a:noFill/>
          <a:ln/>
        </p:spPr>
        <p:txBody>
          <a:bodyPr wrap="square" rtlCol="0" anchor="ctr"/>
          <a:lstStyle/>
          <a:p>
            <a:pPr algn="ctr" indent="0" marL="0">
              <a:buNone/>
            </a:pPr>
            <a:r>
              <a:rPr lang="en-US" sz="900" b="1" dirty="0">
                <a:solidFill>
                  <a:srgbClr val="1A8CFF"/>
                </a:solidFill>
              </a:rPr>
              <a:t>① React</a:t>
            </a:r>
            <a:endParaRPr lang="en-US" sz="900" dirty="0"/>
          </a:p>
          <a:p>
            <a:pPr algn="ctr" indent="0" marL="0">
              <a:buNone/>
            </a:pPr>
            <a:r>
              <a:rPr lang="en-US" sz="900" b="1" dirty="0">
                <a:solidFill>
                  <a:srgbClr val="1A8CFF"/>
                </a:solidFill>
              </a:rPr>
              <a:t>Frontend</a:t>
            </a:r>
            <a:endParaRPr lang="en-US" sz="900" dirty="0"/>
          </a:p>
        </p:txBody>
      </p:sp>
      <p:sp>
        <p:nvSpPr>
          <p:cNvPr id="15" name="Text 12"/>
          <p:cNvSpPr/>
          <p:nvPr/>
        </p:nvSpPr>
        <p:spPr>
          <a:xfrm>
            <a:off x="2331720" y="1901952"/>
            <a:ext cx="1280160" cy="548640"/>
          </a:xfrm>
          <a:prstGeom prst="rect">
            <a:avLst/>
          </a:prstGeom>
          <a:noFill/>
          <a:ln/>
        </p:spPr>
        <p:txBody>
          <a:bodyPr wrap="square" rtlCol="0" anchor="ctr"/>
          <a:lstStyle/>
          <a:p>
            <a:pPr algn="ctr" indent="0" marL="0">
              <a:buNone/>
            </a:pPr>
            <a:r>
              <a:rPr lang="en-US" sz="750" dirty="0">
                <a:solidFill>
                  <a:srgbClr val="CBD5E1"/>
                </a:solidFill>
              </a:rPr>
              <a:t>Upload stego image</a:t>
            </a:r>
            <a:endParaRPr lang="en-US" sz="750" dirty="0"/>
          </a:p>
          <a:p>
            <a:pPr algn="ctr" indent="0" marL="0">
              <a:buNone/>
            </a:pPr>
            <a:r>
              <a:rPr lang="en-US" sz="750" dirty="0">
                <a:solidFill>
                  <a:srgbClr val="CBD5E1"/>
                </a:solidFill>
              </a:rPr>
              <a:t>Enter key</a:t>
            </a:r>
            <a:endParaRPr lang="en-US" sz="750" dirty="0"/>
          </a:p>
          <a:p>
            <a:pPr algn="ctr" indent="0" marL="0">
              <a:buNone/>
            </a:pPr>
            <a:r>
              <a:rPr lang="en-US" sz="750" dirty="0">
                <a:solidFill>
                  <a:srgbClr val="CBD5E1"/>
                </a:solidFill>
              </a:rPr>
              <a:t>Post to /decode</a:t>
            </a:r>
            <a:endParaRPr lang="en-US" sz="750" dirty="0"/>
          </a:p>
        </p:txBody>
      </p:sp>
      <p:sp>
        <p:nvSpPr>
          <p:cNvPr id="16" name="Shape 13"/>
          <p:cNvSpPr/>
          <p:nvPr/>
        </p:nvSpPr>
        <p:spPr>
          <a:xfrm>
            <a:off x="3657600" y="1572768"/>
            <a:ext cx="182880" cy="0"/>
          </a:xfrm>
          <a:prstGeom prst="line">
            <a:avLst/>
          </a:prstGeom>
          <a:noFill/>
          <a:ln w="25400">
            <a:solidFill>
              <a:srgbClr val="00E5FF"/>
            </a:solidFill>
            <a:prstDash val="solid"/>
            <a:tailEnd type="triangle"/>
          </a:ln>
        </p:spPr>
      </p:sp>
      <p:sp>
        <p:nvSpPr>
          <p:cNvPr id="17" name="Shape 14"/>
          <p:cNvSpPr/>
          <p:nvPr/>
        </p:nvSpPr>
        <p:spPr>
          <a:xfrm>
            <a:off x="3749040" y="713232"/>
            <a:ext cx="1371600" cy="1783080"/>
          </a:xfrm>
          <a:prstGeom prst="roundRect">
            <a:avLst>
              <a:gd name="adj" fmla="val 6667"/>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sp>
        <p:nvSpPr>
          <p:cNvPr id="18" name="Shape 15"/>
          <p:cNvSpPr/>
          <p:nvPr/>
        </p:nvSpPr>
        <p:spPr>
          <a:xfrm>
            <a:off x="3749040" y="713232"/>
            <a:ext cx="1371600" cy="256032"/>
          </a:xfrm>
          <a:prstGeom prst="rect">
            <a:avLst/>
          </a:prstGeom>
          <a:solidFill>
            <a:srgbClr val="7B2FFF">
              <a:alpha val="80000"/>
            </a:srgbClr>
          </a:solidFill>
          <a:ln w="12700">
            <a:solidFill>
              <a:srgbClr val="7B2FFF">
                <a:alpha val="80000"/>
              </a:srgbClr>
            </a:solidFill>
            <a:prstDash val="solid"/>
          </a:ln>
        </p:spPr>
      </p:sp>
      <p:pic>
        <p:nvPicPr>
          <p:cNvPr id="19" name="Image 1" descr="preencoded.png">    </p:cNvPr>
          <p:cNvPicPr>
            <a:picLocks noChangeAspect="1"/>
          </p:cNvPicPr>
          <p:nvPr/>
        </p:nvPicPr>
        <p:blipFill>
          <a:blip r:embed="rId2"/>
          <a:stretch>
            <a:fillRect/>
          </a:stretch>
        </p:blipFill>
        <p:spPr>
          <a:xfrm>
            <a:off x="4215384" y="1005840"/>
            <a:ext cx="402336" cy="402336"/>
          </a:xfrm>
          <a:prstGeom prst="rect">
            <a:avLst/>
          </a:prstGeom>
        </p:spPr>
      </p:pic>
      <p:sp>
        <p:nvSpPr>
          <p:cNvPr id="20" name="Text 16"/>
          <p:cNvSpPr/>
          <p:nvPr/>
        </p:nvSpPr>
        <p:spPr>
          <a:xfrm>
            <a:off x="3794760" y="1444752"/>
            <a:ext cx="1280160" cy="457200"/>
          </a:xfrm>
          <a:prstGeom prst="rect">
            <a:avLst/>
          </a:prstGeom>
          <a:noFill/>
          <a:ln/>
        </p:spPr>
        <p:txBody>
          <a:bodyPr wrap="square" rtlCol="0" anchor="ctr"/>
          <a:lstStyle/>
          <a:p>
            <a:pPr algn="ctr" indent="0" marL="0">
              <a:buNone/>
            </a:pPr>
            <a:r>
              <a:rPr lang="en-US" sz="900" b="1" dirty="0">
                <a:solidFill>
                  <a:srgbClr val="7B2FFF"/>
                </a:solidFill>
              </a:rPr>
              <a:t>② FastAPI</a:t>
            </a:r>
            <a:endParaRPr lang="en-US" sz="900" dirty="0"/>
          </a:p>
          <a:p>
            <a:pPr algn="ctr" indent="0" marL="0">
              <a:buNone/>
            </a:pPr>
            <a:r>
              <a:rPr lang="en-US" sz="900" b="1" dirty="0">
                <a:solidFill>
                  <a:srgbClr val="7B2FFF"/>
                </a:solidFill>
              </a:rPr>
              <a:t>Backend</a:t>
            </a:r>
            <a:endParaRPr lang="en-US" sz="900" dirty="0"/>
          </a:p>
        </p:txBody>
      </p:sp>
      <p:sp>
        <p:nvSpPr>
          <p:cNvPr id="21" name="Text 17"/>
          <p:cNvSpPr/>
          <p:nvPr/>
        </p:nvSpPr>
        <p:spPr>
          <a:xfrm>
            <a:off x="3794760" y="1901952"/>
            <a:ext cx="1280160" cy="548640"/>
          </a:xfrm>
          <a:prstGeom prst="rect">
            <a:avLst/>
          </a:prstGeom>
          <a:noFill/>
          <a:ln/>
        </p:spPr>
        <p:txBody>
          <a:bodyPr wrap="square" rtlCol="0" anchor="ctr"/>
          <a:lstStyle/>
          <a:p>
            <a:pPr algn="ctr" indent="0" marL="0">
              <a:buNone/>
            </a:pPr>
            <a:r>
              <a:rPr lang="en-US" sz="750" dirty="0">
                <a:solidFill>
                  <a:srgbClr val="CBD5E1"/>
                </a:solidFill>
              </a:rPr>
              <a:t>Validate file</a:t>
            </a:r>
            <a:endParaRPr lang="en-US" sz="750" dirty="0"/>
          </a:p>
          <a:p>
            <a:pPr algn="ctr" indent="0" marL="0">
              <a:buNone/>
            </a:pPr>
            <a:r>
              <a:rPr lang="en-US" sz="750" dirty="0">
                <a:solidFill>
                  <a:srgbClr val="CBD5E1"/>
                </a:solidFill>
              </a:rPr>
              <a:t>Route to services</a:t>
            </a:r>
            <a:endParaRPr lang="en-US" sz="750" dirty="0"/>
          </a:p>
        </p:txBody>
      </p:sp>
      <p:sp>
        <p:nvSpPr>
          <p:cNvPr id="22" name="Shape 18"/>
          <p:cNvSpPr/>
          <p:nvPr/>
        </p:nvSpPr>
        <p:spPr>
          <a:xfrm>
            <a:off x="5120640" y="1572768"/>
            <a:ext cx="182880" cy="0"/>
          </a:xfrm>
          <a:prstGeom prst="line">
            <a:avLst/>
          </a:prstGeom>
          <a:noFill/>
          <a:ln w="25400">
            <a:solidFill>
              <a:srgbClr val="00E5FF"/>
            </a:solidFill>
            <a:prstDash val="solid"/>
            <a:tailEnd type="triangle"/>
          </a:ln>
        </p:spPr>
      </p:sp>
      <p:sp>
        <p:nvSpPr>
          <p:cNvPr id="23" name="Shape 19"/>
          <p:cNvSpPr/>
          <p:nvPr/>
        </p:nvSpPr>
        <p:spPr>
          <a:xfrm>
            <a:off x="5212080" y="713232"/>
            <a:ext cx="1371600" cy="1783080"/>
          </a:xfrm>
          <a:prstGeom prst="roundRect">
            <a:avLst>
              <a:gd name="adj" fmla="val 6667"/>
            </a:avLst>
          </a:prstGeom>
          <a:solidFill>
            <a:srgbClr val="0F1E35"/>
          </a:solidFill>
          <a:ln w="19050">
            <a:solidFill>
              <a:srgbClr val="FF6B35"/>
            </a:solidFill>
            <a:prstDash val="solid"/>
          </a:ln>
          <a:effectLst>
            <a:outerShdw sx="100000" sy="100000" kx="0" ky="0" algn="bl" rotWithShape="0" blurRad="101600" dist="38100" dir="8100000">
              <a:srgbClr val="000000">
                <a:alpha val="30000"/>
              </a:srgbClr>
            </a:outerShdw>
          </a:effectLst>
        </p:spPr>
      </p:sp>
      <p:sp>
        <p:nvSpPr>
          <p:cNvPr id="24" name="Shape 20"/>
          <p:cNvSpPr/>
          <p:nvPr/>
        </p:nvSpPr>
        <p:spPr>
          <a:xfrm>
            <a:off x="5212080" y="713232"/>
            <a:ext cx="1371600" cy="256032"/>
          </a:xfrm>
          <a:prstGeom prst="rect">
            <a:avLst/>
          </a:prstGeom>
          <a:solidFill>
            <a:srgbClr val="FF6B35">
              <a:alpha val="80000"/>
            </a:srgbClr>
          </a:solidFill>
          <a:ln w="12700">
            <a:solidFill>
              <a:srgbClr val="FF6B35">
                <a:alpha val="80000"/>
              </a:srgbClr>
            </a:solidFill>
            <a:prstDash val="solid"/>
          </a:ln>
        </p:spPr>
      </p:sp>
      <p:pic>
        <p:nvPicPr>
          <p:cNvPr id="25" name="Image 2" descr="preencoded.png">    </p:cNvPr>
          <p:cNvPicPr>
            <a:picLocks noChangeAspect="1"/>
          </p:cNvPicPr>
          <p:nvPr/>
        </p:nvPicPr>
        <p:blipFill>
          <a:blip r:embed="rId3"/>
          <a:stretch>
            <a:fillRect/>
          </a:stretch>
        </p:blipFill>
        <p:spPr>
          <a:xfrm>
            <a:off x="5678424" y="1005840"/>
            <a:ext cx="402336" cy="402336"/>
          </a:xfrm>
          <a:prstGeom prst="rect">
            <a:avLst/>
          </a:prstGeom>
        </p:spPr>
      </p:pic>
      <p:sp>
        <p:nvSpPr>
          <p:cNvPr id="26" name="Text 21"/>
          <p:cNvSpPr/>
          <p:nvPr/>
        </p:nvSpPr>
        <p:spPr>
          <a:xfrm>
            <a:off x="5257800" y="1444752"/>
            <a:ext cx="1280160" cy="457200"/>
          </a:xfrm>
          <a:prstGeom prst="rect">
            <a:avLst/>
          </a:prstGeom>
          <a:noFill/>
          <a:ln/>
        </p:spPr>
        <p:txBody>
          <a:bodyPr wrap="square" rtlCol="0" anchor="ctr"/>
          <a:lstStyle/>
          <a:p>
            <a:pPr algn="ctr" indent="0" marL="0">
              <a:buNone/>
            </a:pPr>
            <a:r>
              <a:rPr lang="en-US" sz="900" b="1" dirty="0">
                <a:solidFill>
                  <a:srgbClr val="FF6B35"/>
                </a:solidFill>
              </a:rPr>
              <a:t>③ JUNIWARD</a:t>
            </a:r>
            <a:endParaRPr lang="en-US" sz="900" dirty="0"/>
          </a:p>
          <a:p>
            <a:pPr algn="ctr" indent="0" marL="0">
              <a:buNone/>
            </a:pPr>
            <a:r>
              <a:rPr lang="en-US" sz="900" b="1" dirty="0">
                <a:solidFill>
                  <a:srgbClr val="FF6B35"/>
                </a:solidFill>
              </a:rPr>
              <a:t>Extract</a:t>
            </a:r>
            <a:endParaRPr lang="en-US" sz="900" dirty="0"/>
          </a:p>
        </p:txBody>
      </p:sp>
      <p:sp>
        <p:nvSpPr>
          <p:cNvPr id="27" name="Text 22"/>
          <p:cNvSpPr/>
          <p:nvPr/>
        </p:nvSpPr>
        <p:spPr>
          <a:xfrm>
            <a:off x="5257800" y="1901952"/>
            <a:ext cx="1280160" cy="548640"/>
          </a:xfrm>
          <a:prstGeom prst="rect">
            <a:avLst/>
          </a:prstGeom>
          <a:noFill/>
          <a:ln/>
        </p:spPr>
        <p:txBody>
          <a:bodyPr wrap="square" rtlCol="0" anchor="ctr"/>
          <a:lstStyle/>
          <a:p>
            <a:pPr algn="ctr" indent="0" marL="0">
              <a:buNone/>
            </a:pPr>
            <a:r>
              <a:rPr lang="en-US" sz="750" dirty="0">
                <a:solidFill>
                  <a:srgbClr val="CBD5E1"/>
                </a:solidFill>
              </a:rPr>
              <a:t>DWT decompose</a:t>
            </a:r>
            <a:endParaRPr lang="en-US" sz="750" dirty="0"/>
          </a:p>
          <a:p>
            <a:pPr algn="ctr" indent="0" marL="0">
              <a:buNone/>
            </a:pPr>
            <a:r>
              <a:rPr lang="en-US" sz="750" dirty="0">
                <a:solidFill>
                  <a:srgbClr val="CBD5E1"/>
                </a:solidFill>
              </a:rPr>
              <a:t>Read LSBs</a:t>
            </a:r>
            <a:endParaRPr lang="en-US" sz="750" dirty="0"/>
          </a:p>
          <a:p>
            <a:pPr algn="ctr" indent="0" marL="0">
              <a:buNone/>
            </a:pPr>
            <a:r>
              <a:rPr lang="en-US" sz="750" dirty="0">
                <a:solidFill>
                  <a:srgbClr val="CBD5E1"/>
                </a:solidFill>
              </a:rPr>
              <a:t>Reassemble bytes</a:t>
            </a:r>
            <a:endParaRPr lang="en-US" sz="750" dirty="0"/>
          </a:p>
        </p:txBody>
      </p:sp>
      <p:sp>
        <p:nvSpPr>
          <p:cNvPr id="28" name="Shape 23"/>
          <p:cNvSpPr/>
          <p:nvPr/>
        </p:nvSpPr>
        <p:spPr>
          <a:xfrm>
            <a:off x="6583680" y="1572768"/>
            <a:ext cx="182880" cy="0"/>
          </a:xfrm>
          <a:prstGeom prst="line">
            <a:avLst/>
          </a:prstGeom>
          <a:noFill/>
          <a:ln w="25400">
            <a:solidFill>
              <a:srgbClr val="00E5FF"/>
            </a:solidFill>
            <a:prstDash val="solid"/>
            <a:tailEnd type="triangle"/>
          </a:ln>
        </p:spPr>
      </p:sp>
      <p:sp>
        <p:nvSpPr>
          <p:cNvPr id="29" name="Shape 24"/>
          <p:cNvSpPr/>
          <p:nvPr/>
        </p:nvSpPr>
        <p:spPr>
          <a:xfrm>
            <a:off x="6675120" y="713232"/>
            <a:ext cx="1371600" cy="1783080"/>
          </a:xfrm>
          <a:prstGeom prst="roundRect">
            <a:avLst>
              <a:gd name="adj" fmla="val 6667"/>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30" name="Shape 25"/>
          <p:cNvSpPr/>
          <p:nvPr/>
        </p:nvSpPr>
        <p:spPr>
          <a:xfrm>
            <a:off x="6675120" y="713232"/>
            <a:ext cx="1371600" cy="256032"/>
          </a:xfrm>
          <a:prstGeom prst="rect">
            <a:avLst/>
          </a:prstGeom>
          <a:solidFill>
            <a:srgbClr val="00E5FF">
              <a:alpha val="80000"/>
            </a:srgbClr>
          </a:solidFill>
          <a:ln w="12700">
            <a:solidFill>
              <a:srgbClr val="00E5FF">
                <a:alpha val="80000"/>
              </a:srgbClr>
            </a:solidFill>
            <a:prstDash val="solid"/>
          </a:ln>
        </p:spPr>
      </p:sp>
      <p:pic>
        <p:nvPicPr>
          <p:cNvPr id="31" name="Image 3" descr="preencoded.png">    </p:cNvPr>
          <p:cNvPicPr>
            <a:picLocks noChangeAspect="1"/>
          </p:cNvPicPr>
          <p:nvPr/>
        </p:nvPicPr>
        <p:blipFill>
          <a:blip r:embed="rId4"/>
          <a:stretch>
            <a:fillRect/>
          </a:stretch>
        </p:blipFill>
        <p:spPr>
          <a:xfrm>
            <a:off x="7141464" y="1005840"/>
            <a:ext cx="402336" cy="402336"/>
          </a:xfrm>
          <a:prstGeom prst="rect">
            <a:avLst/>
          </a:prstGeom>
        </p:spPr>
      </p:pic>
      <p:sp>
        <p:nvSpPr>
          <p:cNvPr id="32" name="Text 26"/>
          <p:cNvSpPr/>
          <p:nvPr/>
        </p:nvSpPr>
        <p:spPr>
          <a:xfrm>
            <a:off x="6720840" y="1444752"/>
            <a:ext cx="1280160" cy="457200"/>
          </a:xfrm>
          <a:prstGeom prst="rect">
            <a:avLst/>
          </a:prstGeom>
          <a:noFill/>
          <a:ln/>
        </p:spPr>
        <p:txBody>
          <a:bodyPr wrap="square" rtlCol="0" anchor="ctr"/>
          <a:lstStyle/>
          <a:p>
            <a:pPr algn="ctr" indent="0" marL="0">
              <a:buNone/>
            </a:pPr>
            <a:r>
              <a:rPr lang="en-US" sz="900" b="1" dirty="0">
                <a:solidFill>
                  <a:srgbClr val="00E5FF"/>
                </a:solidFill>
              </a:rPr>
              <a:t>④ AES-256-CBC</a:t>
            </a:r>
            <a:endParaRPr lang="en-US" sz="900" dirty="0"/>
          </a:p>
          <a:p>
            <a:pPr algn="ctr" indent="0" marL="0">
              <a:buNone/>
            </a:pPr>
            <a:r>
              <a:rPr lang="en-US" sz="900" b="1" dirty="0">
                <a:solidFill>
                  <a:srgbClr val="00E5FF"/>
                </a:solidFill>
              </a:rPr>
              <a:t>Decrypt</a:t>
            </a:r>
            <a:endParaRPr lang="en-US" sz="900" dirty="0"/>
          </a:p>
        </p:txBody>
      </p:sp>
      <p:sp>
        <p:nvSpPr>
          <p:cNvPr id="33" name="Text 27"/>
          <p:cNvSpPr/>
          <p:nvPr/>
        </p:nvSpPr>
        <p:spPr>
          <a:xfrm>
            <a:off x="6720840" y="1901952"/>
            <a:ext cx="1280160" cy="548640"/>
          </a:xfrm>
          <a:prstGeom prst="rect">
            <a:avLst/>
          </a:prstGeom>
          <a:noFill/>
          <a:ln/>
        </p:spPr>
        <p:txBody>
          <a:bodyPr wrap="square" rtlCol="0" anchor="ctr"/>
          <a:lstStyle/>
          <a:p>
            <a:pPr algn="ctr" indent="0" marL="0">
              <a:buNone/>
            </a:pPr>
            <a:r>
              <a:rPr lang="en-US" sz="750" dirty="0">
                <a:solidFill>
                  <a:srgbClr val="CBD5E1"/>
                </a:solidFill>
              </a:rPr>
              <a:t>Strip IV prefix</a:t>
            </a:r>
            <a:endParaRPr lang="en-US" sz="750" dirty="0"/>
          </a:p>
          <a:p>
            <a:pPr algn="ctr" indent="0" marL="0">
              <a:buNone/>
            </a:pPr>
            <a:r>
              <a:rPr lang="en-US" sz="750" dirty="0">
                <a:solidFill>
                  <a:srgbClr val="CBD5E1"/>
                </a:solidFill>
              </a:rPr>
              <a:t>CBC decrypt</a:t>
            </a:r>
            <a:endParaRPr lang="en-US" sz="750" dirty="0"/>
          </a:p>
          <a:p>
            <a:pPr algn="ctr" indent="0" marL="0">
              <a:buNone/>
            </a:pPr>
            <a:r>
              <a:rPr lang="en-US" sz="750" dirty="0">
                <a:solidFill>
                  <a:srgbClr val="CBD5E1"/>
                </a:solidFill>
              </a:rPr>
              <a:t>PKCS7 unpad</a:t>
            </a:r>
            <a:endParaRPr lang="en-US" sz="750" dirty="0"/>
          </a:p>
        </p:txBody>
      </p:sp>
      <p:sp>
        <p:nvSpPr>
          <p:cNvPr id="34" name="Shape 28"/>
          <p:cNvSpPr/>
          <p:nvPr/>
        </p:nvSpPr>
        <p:spPr>
          <a:xfrm>
            <a:off x="7360920" y="2496312"/>
            <a:ext cx="0" cy="274320"/>
          </a:xfrm>
          <a:prstGeom prst="line">
            <a:avLst/>
          </a:prstGeom>
          <a:noFill/>
          <a:ln w="25400">
            <a:solidFill>
              <a:srgbClr val="00E5FF"/>
            </a:solidFill>
            <a:prstDash val="solid"/>
            <a:tailEnd type="triangle"/>
          </a:ln>
        </p:spPr>
      </p:sp>
      <p:sp>
        <p:nvSpPr>
          <p:cNvPr id="35" name="Shape 29"/>
          <p:cNvSpPr/>
          <p:nvPr/>
        </p:nvSpPr>
        <p:spPr>
          <a:xfrm>
            <a:off x="5303520" y="2834640"/>
            <a:ext cx="3566160" cy="914400"/>
          </a:xfrm>
          <a:prstGeom prst="roundRect">
            <a:avLst>
              <a:gd name="adj" fmla="val 12000"/>
            </a:avLst>
          </a:prstGeom>
          <a:solidFill>
            <a:srgbClr val="091A0D"/>
          </a:solidFill>
          <a:ln w="25400">
            <a:solidFill>
              <a:srgbClr val="00D4A1"/>
            </a:solidFill>
            <a:prstDash val="solid"/>
          </a:ln>
          <a:effectLst>
            <a:outerShdw sx="100000" sy="100000" kx="0" ky="0" algn="bl" rotWithShape="0" blurRad="101600" dist="38100" dir="8100000">
              <a:srgbClr val="000000">
                <a:alpha val="30000"/>
              </a:srgbClr>
            </a:outerShdw>
          </a:effectLst>
        </p:spPr>
      </p:sp>
      <p:sp>
        <p:nvSpPr>
          <p:cNvPr id="36" name="Text 30"/>
          <p:cNvSpPr/>
          <p:nvPr/>
        </p:nvSpPr>
        <p:spPr>
          <a:xfrm>
            <a:off x="5394960" y="2862072"/>
            <a:ext cx="3383280" cy="274320"/>
          </a:xfrm>
          <a:prstGeom prst="rect">
            <a:avLst/>
          </a:prstGeom>
          <a:noFill/>
          <a:ln/>
        </p:spPr>
        <p:txBody>
          <a:bodyPr wrap="square" rtlCol="0" anchor="ctr"/>
          <a:lstStyle/>
          <a:p>
            <a:pPr indent="0" marL="0">
              <a:buNone/>
            </a:pPr>
            <a:r>
              <a:rPr lang="en-US" sz="1000" b="1" dirty="0">
                <a:solidFill>
                  <a:srgbClr val="00D4A1"/>
                </a:solidFill>
              </a:rPr>
              <a:t>⑤  RECOVERED MESSAGE</a:t>
            </a:r>
            <a:endParaRPr lang="en-US" sz="1000" dirty="0"/>
          </a:p>
        </p:txBody>
      </p:sp>
      <p:sp>
        <p:nvSpPr>
          <p:cNvPr id="37" name="Text 31"/>
          <p:cNvSpPr/>
          <p:nvPr/>
        </p:nvSpPr>
        <p:spPr>
          <a:xfrm>
            <a:off x="5394960" y="3127248"/>
            <a:ext cx="3383280" cy="548640"/>
          </a:xfrm>
          <a:prstGeom prst="rect">
            <a:avLst/>
          </a:prstGeom>
          <a:noFill/>
          <a:ln/>
        </p:spPr>
        <p:txBody>
          <a:bodyPr wrap="square" rtlCol="0" anchor="ctr"/>
          <a:lstStyle/>
          <a:p>
            <a:pPr indent="0" marL="0">
              <a:buNone/>
            </a:pPr>
            <a:r>
              <a:rPr lang="en-US" sz="900" dirty="0">
                <a:solidFill>
                  <a:srgbClr val="CBD5E1"/>
                </a:solidFill>
              </a:rPr>
              <a:t>Original plaintext message  ·  Decoding time (ms)</a:t>
            </a:r>
            <a:endParaRPr lang="en-US" sz="900" dirty="0"/>
          </a:p>
          <a:p>
            <a:pPr indent="0" marL="0">
              <a:buNone/>
            </a:pPr>
            <a:r>
              <a:rPr lang="en-US" sz="900" dirty="0">
                <a:solidFill>
                  <a:srgbClr val="CBD5E1"/>
                </a:solidFill>
              </a:rPr>
              <a:t>Displayed in React UI with copy-to-clipboard</a:t>
            </a:r>
            <a:endParaRPr lang="en-US" sz="900" dirty="0"/>
          </a:p>
        </p:txBody>
      </p:sp>
      <p:sp>
        <p:nvSpPr>
          <p:cNvPr id="38" name="Shape 32"/>
          <p:cNvSpPr/>
          <p:nvPr/>
        </p:nvSpPr>
        <p:spPr>
          <a:xfrm>
            <a:off x="228600" y="2834640"/>
            <a:ext cx="4937760" cy="1645920"/>
          </a:xfrm>
          <a:prstGeom prst="roundRect">
            <a:avLst>
              <a:gd name="adj" fmla="val 5556"/>
            </a:avLst>
          </a:prstGeom>
          <a:solidFill>
            <a:srgbClr val="1A0A0A"/>
          </a:solidFill>
          <a:ln w="12700">
            <a:solidFill>
              <a:srgbClr val="FF3B5C"/>
            </a:solidFill>
            <a:prstDash val="solid"/>
          </a:ln>
        </p:spPr>
      </p:sp>
      <p:sp>
        <p:nvSpPr>
          <p:cNvPr id="39" name="Text 33"/>
          <p:cNvSpPr/>
          <p:nvPr/>
        </p:nvSpPr>
        <p:spPr>
          <a:xfrm>
            <a:off x="365760" y="2871216"/>
            <a:ext cx="4572000" cy="274320"/>
          </a:xfrm>
          <a:prstGeom prst="rect">
            <a:avLst/>
          </a:prstGeom>
          <a:noFill/>
          <a:ln/>
        </p:spPr>
        <p:txBody>
          <a:bodyPr wrap="square" rtlCol="0" anchor="ctr"/>
          <a:lstStyle/>
          <a:p>
            <a:pPr indent="0" marL="0">
              <a:buNone/>
            </a:pPr>
            <a:r>
              <a:rPr lang="en-US" sz="1000" b="1" dirty="0">
                <a:solidFill>
                  <a:srgbClr val="FF3B5C"/>
                </a:solidFill>
              </a:rPr>
              <a:t>Error Handling</a:t>
            </a:r>
            <a:endParaRPr lang="en-US" sz="1000" dirty="0"/>
          </a:p>
        </p:txBody>
      </p:sp>
      <p:sp>
        <p:nvSpPr>
          <p:cNvPr id="40" name="Text 34"/>
          <p:cNvSpPr/>
          <p:nvPr/>
        </p:nvSpPr>
        <p:spPr>
          <a:xfrm>
            <a:off x="365760" y="3200400"/>
            <a:ext cx="4572000" cy="274320"/>
          </a:xfrm>
          <a:prstGeom prst="rect">
            <a:avLst/>
          </a:prstGeom>
          <a:noFill/>
          <a:ln/>
        </p:spPr>
        <p:txBody>
          <a:bodyPr wrap="square"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400  DECRYPTION_FAILED  —  Wrong key or corrupted data</a:t>
            </a:r>
            <a:endParaRPr lang="en-US" sz="900" dirty="0"/>
          </a:p>
        </p:txBody>
      </p:sp>
      <p:sp>
        <p:nvSpPr>
          <p:cNvPr id="41" name="Text 35"/>
          <p:cNvSpPr/>
          <p:nvPr/>
        </p:nvSpPr>
        <p:spPr>
          <a:xfrm>
            <a:off x="365760" y="3520440"/>
            <a:ext cx="4572000" cy="274320"/>
          </a:xfrm>
          <a:prstGeom prst="rect">
            <a:avLst/>
          </a:prstGeom>
          <a:noFill/>
          <a:ln/>
        </p:spPr>
        <p:txBody>
          <a:bodyPr wrap="square"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400  NO_DATA_FOUND      —  No hidden payload detected</a:t>
            </a:r>
            <a:endParaRPr lang="en-US" sz="900" dirty="0"/>
          </a:p>
        </p:txBody>
      </p:sp>
      <p:sp>
        <p:nvSpPr>
          <p:cNvPr id="42" name="Text 36"/>
          <p:cNvSpPr/>
          <p:nvPr/>
        </p:nvSpPr>
        <p:spPr>
          <a:xfrm>
            <a:off x="365760" y="3840480"/>
            <a:ext cx="4572000" cy="274320"/>
          </a:xfrm>
          <a:prstGeom prst="rect">
            <a:avLst/>
          </a:prstGeom>
          <a:noFill/>
          <a:ln/>
        </p:spPr>
        <p:txBody>
          <a:bodyPr wrap="square" rtlCol="0" anchor="ctr"/>
          <a:lstStyle/>
          <a:p>
            <a:pPr indent="0" marL="0">
              <a:buNone/>
            </a:pPr>
            <a:r>
              <a:rPr lang="en-US" sz="900" dirty="0">
                <a:solidFill>
                  <a:srgbClr val="CBD5E1"/>
                </a:solidFill>
                <a:latin typeface="Consolas" pitchFamily="34" charset="0"/>
                <a:ea typeface="Consolas" pitchFamily="34" charset="-122"/>
                <a:cs typeface="Consolas" pitchFamily="34" charset="-120"/>
              </a:rPr>
              <a:t>400  CORRUPTED_STEGO    —  Image modified after embedding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w="12700">
            <a:solidFill>
              <a:srgbClr val="0B1220"/>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457200" y="256032"/>
            <a:ext cx="1463040" cy="256032"/>
          </a:xfrm>
          <a:prstGeom prst="rect">
            <a:avLst/>
          </a:prstGeom>
          <a:solidFill>
            <a:srgbClr val="00E5FF"/>
          </a:solidFill>
          <a:ln w="12700">
            <a:solidFill>
              <a:srgbClr val="00E5FF"/>
            </a:solidFill>
            <a:prstDash val="solid"/>
          </a:ln>
        </p:spPr>
      </p:sp>
      <p:sp>
        <p:nvSpPr>
          <p:cNvPr id="5" name="Text 3"/>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DETECTION</a:t>
            </a:r>
            <a:endParaRPr lang="en-US" sz="900" dirty="0"/>
          </a:p>
        </p:txBody>
      </p:sp>
      <p:sp>
        <p:nvSpPr>
          <p:cNvPr id="6" name="Text 4"/>
          <p:cNvSpPr/>
          <p:nvPr/>
        </p:nvSpPr>
        <p:spPr>
          <a:xfrm>
            <a:off x="2103120" y="182880"/>
            <a:ext cx="6400800" cy="438912"/>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Detection Workflow</a:t>
            </a:r>
            <a:endParaRPr lang="en-US" sz="2800" dirty="0"/>
          </a:p>
        </p:txBody>
      </p:sp>
      <p:sp>
        <p:nvSpPr>
          <p:cNvPr id="7" name="Text 5"/>
          <p:cNvSpPr/>
          <p:nvPr/>
        </p:nvSpPr>
        <p:spPr>
          <a:xfrm>
            <a:off x="457200" y="685800"/>
            <a:ext cx="8229600" cy="256032"/>
          </a:xfrm>
          <a:prstGeom prst="rect">
            <a:avLst/>
          </a:prstGeom>
          <a:noFill/>
          <a:ln/>
        </p:spPr>
        <p:txBody>
          <a:bodyPr wrap="square" rtlCol="0" anchor="ctr"/>
          <a:lstStyle/>
          <a:p>
            <a:pPr algn="ctr" indent="0" marL="0">
              <a:buNone/>
            </a:pPr>
            <a:r>
              <a:rPr lang="en-US" sz="1050" i="1" dirty="0">
                <a:solidFill>
                  <a:srgbClr val="CBD5E1"/>
                </a:solidFill>
              </a:rPr>
              <a:t>Binary steganalysis — CLEAN vs STEGO classification only. No decryption or extraction.</a:t>
            </a:r>
            <a:endParaRPr lang="en-US" sz="1050" dirty="0"/>
          </a:p>
        </p:txBody>
      </p:sp>
      <p:sp>
        <p:nvSpPr>
          <p:cNvPr id="8" name="Shape 6"/>
          <p:cNvSpPr/>
          <p:nvPr/>
        </p:nvSpPr>
        <p:spPr>
          <a:xfrm>
            <a:off x="182880" y="1078992"/>
            <a:ext cx="1554480" cy="2011680"/>
          </a:xfrm>
          <a:prstGeom prst="roundRect">
            <a:avLst>
              <a:gd name="adj" fmla="val 5882"/>
            </a:avLst>
          </a:prstGeom>
          <a:solidFill>
            <a:srgbClr val="0F1E35"/>
          </a:solidFill>
          <a:ln w="19050">
            <a:solidFill>
              <a:srgbClr val="1A8CFF"/>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182880" y="1078992"/>
            <a:ext cx="1554480" cy="274320"/>
          </a:xfrm>
          <a:prstGeom prst="rect">
            <a:avLst/>
          </a:prstGeom>
          <a:solidFill>
            <a:srgbClr val="1A8CFF">
              <a:alpha val="80000"/>
            </a:srgbClr>
          </a:solidFill>
          <a:ln w="12700">
            <a:solidFill>
              <a:srgbClr val="1A8CFF">
                <a:alpha val="80000"/>
              </a:srgbClr>
            </a:solidFill>
            <a:prstDash val="solid"/>
          </a:ln>
        </p:spPr>
      </p:sp>
      <p:pic>
        <p:nvPicPr>
          <p:cNvPr id="10" name="Image 0" descr="preencoded.png">    </p:cNvPr>
          <p:cNvPicPr>
            <a:picLocks noChangeAspect="1"/>
          </p:cNvPicPr>
          <p:nvPr/>
        </p:nvPicPr>
        <p:blipFill>
          <a:blip r:embed="rId1"/>
          <a:stretch>
            <a:fillRect/>
          </a:stretch>
        </p:blipFill>
        <p:spPr>
          <a:xfrm>
            <a:off x="740664" y="1408176"/>
            <a:ext cx="402336" cy="402336"/>
          </a:xfrm>
          <a:prstGeom prst="rect">
            <a:avLst/>
          </a:prstGeom>
        </p:spPr>
      </p:pic>
      <p:sp>
        <p:nvSpPr>
          <p:cNvPr id="11" name="Text 8"/>
          <p:cNvSpPr/>
          <p:nvPr/>
        </p:nvSpPr>
        <p:spPr>
          <a:xfrm>
            <a:off x="228600" y="1856232"/>
            <a:ext cx="1463040" cy="457200"/>
          </a:xfrm>
          <a:prstGeom prst="rect">
            <a:avLst/>
          </a:prstGeom>
          <a:noFill/>
          <a:ln/>
        </p:spPr>
        <p:txBody>
          <a:bodyPr wrap="square" rtlCol="0" anchor="ctr"/>
          <a:lstStyle/>
          <a:p>
            <a:pPr algn="ctr" indent="0" marL="0">
              <a:buNone/>
            </a:pPr>
            <a:r>
              <a:rPr lang="en-US" sz="900" b="1" dirty="0">
                <a:solidFill>
                  <a:srgbClr val="1A8CFF"/>
                </a:solidFill>
              </a:rPr>
              <a:t>① Input</a:t>
            </a:r>
            <a:endParaRPr lang="en-US" sz="900" dirty="0"/>
          </a:p>
          <a:p>
            <a:pPr algn="ctr" indent="0" marL="0">
              <a:buNone/>
            </a:pPr>
            <a:r>
              <a:rPr lang="en-US" sz="900" b="1" dirty="0">
                <a:solidFill>
                  <a:srgbClr val="1A8CFF"/>
                </a:solidFill>
              </a:rPr>
              <a:t>Image</a:t>
            </a:r>
            <a:endParaRPr lang="en-US" sz="900" dirty="0"/>
          </a:p>
        </p:txBody>
      </p:sp>
      <p:sp>
        <p:nvSpPr>
          <p:cNvPr id="12" name="Text 9"/>
          <p:cNvSpPr/>
          <p:nvPr/>
        </p:nvSpPr>
        <p:spPr>
          <a:xfrm>
            <a:off x="228600" y="2331720"/>
            <a:ext cx="1463040" cy="548640"/>
          </a:xfrm>
          <a:prstGeom prst="rect">
            <a:avLst/>
          </a:prstGeom>
          <a:noFill/>
          <a:ln/>
        </p:spPr>
        <p:txBody>
          <a:bodyPr wrap="square" rtlCol="0" anchor="ctr"/>
          <a:lstStyle/>
          <a:p>
            <a:pPr algn="ctr" indent="0" marL="0">
              <a:buNone/>
            </a:pPr>
            <a:r>
              <a:rPr lang="en-US" sz="800" dirty="0">
                <a:solidFill>
                  <a:srgbClr val="CBD5E1"/>
                </a:solidFill>
              </a:rPr>
              <a:t>Any format</a:t>
            </a:r>
            <a:endParaRPr lang="en-US" sz="800" dirty="0"/>
          </a:p>
          <a:p>
            <a:pPr algn="ctr" indent="0" marL="0">
              <a:buNone/>
            </a:pPr>
            <a:r>
              <a:rPr lang="en-US" sz="800" dirty="0">
                <a:solidFill>
                  <a:srgbClr val="CBD5E1"/>
                </a:solidFill>
              </a:rPr>
              <a:t>PNG/JPEG/BMP</a:t>
            </a:r>
            <a:endParaRPr lang="en-US" sz="800" dirty="0"/>
          </a:p>
        </p:txBody>
      </p:sp>
      <p:sp>
        <p:nvSpPr>
          <p:cNvPr id="13" name="Shape 10"/>
          <p:cNvSpPr/>
          <p:nvPr/>
        </p:nvSpPr>
        <p:spPr>
          <a:xfrm>
            <a:off x="1737360" y="2084832"/>
            <a:ext cx="91440" cy="0"/>
          </a:xfrm>
          <a:prstGeom prst="line">
            <a:avLst/>
          </a:prstGeom>
          <a:noFill/>
          <a:ln w="25400">
            <a:solidFill>
              <a:srgbClr val="00E5FF"/>
            </a:solidFill>
            <a:prstDash val="solid"/>
            <a:tailEnd type="triangle"/>
          </a:ln>
        </p:spPr>
      </p:sp>
      <p:sp>
        <p:nvSpPr>
          <p:cNvPr id="14" name="Shape 11"/>
          <p:cNvSpPr/>
          <p:nvPr/>
        </p:nvSpPr>
        <p:spPr>
          <a:xfrm>
            <a:off x="1828800" y="1078992"/>
            <a:ext cx="1554480" cy="2011680"/>
          </a:xfrm>
          <a:prstGeom prst="roundRect">
            <a:avLst>
              <a:gd name="adj" fmla="val 5882"/>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sp>
        <p:nvSpPr>
          <p:cNvPr id="15" name="Shape 12"/>
          <p:cNvSpPr/>
          <p:nvPr/>
        </p:nvSpPr>
        <p:spPr>
          <a:xfrm>
            <a:off x="1828800" y="1078992"/>
            <a:ext cx="1554480" cy="274320"/>
          </a:xfrm>
          <a:prstGeom prst="rect">
            <a:avLst/>
          </a:prstGeom>
          <a:solidFill>
            <a:srgbClr val="7B2FFF">
              <a:alpha val="80000"/>
            </a:srgbClr>
          </a:solidFill>
          <a:ln w="12700">
            <a:solidFill>
              <a:srgbClr val="7B2FFF">
                <a:alpha val="80000"/>
              </a:srgbClr>
            </a:solidFill>
            <a:prstDash val="solid"/>
          </a:ln>
        </p:spPr>
      </p:sp>
      <p:pic>
        <p:nvPicPr>
          <p:cNvPr id="16" name="Image 1" descr="preencoded.png">    </p:cNvPr>
          <p:cNvPicPr>
            <a:picLocks noChangeAspect="1"/>
          </p:cNvPicPr>
          <p:nvPr/>
        </p:nvPicPr>
        <p:blipFill>
          <a:blip r:embed="rId2"/>
          <a:stretch>
            <a:fillRect/>
          </a:stretch>
        </p:blipFill>
        <p:spPr>
          <a:xfrm>
            <a:off x="2386584" y="1408176"/>
            <a:ext cx="402336" cy="402336"/>
          </a:xfrm>
          <a:prstGeom prst="rect">
            <a:avLst/>
          </a:prstGeom>
        </p:spPr>
      </p:pic>
      <p:sp>
        <p:nvSpPr>
          <p:cNvPr id="17" name="Text 13"/>
          <p:cNvSpPr/>
          <p:nvPr/>
        </p:nvSpPr>
        <p:spPr>
          <a:xfrm>
            <a:off x="1874520" y="1856232"/>
            <a:ext cx="1463040" cy="457200"/>
          </a:xfrm>
          <a:prstGeom prst="rect">
            <a:avLst/>
          </a:prstGeom>
          <a:noFill/>
          <a:ln/>
        </p:spPr>
        <p:txBody>
          <a:bodyPr wrap="square" rtlCol="0" anchor="ctr"/>
          <a:lstStyle/>
          <a:p>
            <a:pPr algn="ctr" indent="0" marL="0">
              <a:buNone/>
            </a:pPr>
            <a:r>
              <a:rPr lang="en-US" sz="900" b="1" dirty="0">
                <a:solidFill>
                  <a:srgbClr val="7B2FFF"/>
                </a:solidFill>
              </a:rPr>
              <a:t>② Preprocess</a:t>
            </a:r>
            <a:endParaRPr lang="en-US" sz="900" dirty="0"/>
          </a:p>
          <a:p>
            <a:pPr algn="ctr" indent="0" marL="0">
              <a:buNone/>
            </a:pPr>
            <a:r>
              <a:rPr lang="en-US" sz="900" b="1" dirty="0">
                <a:solidFill>
                  <a:srgbClr val="7B2FFF"/>
                </a:solidFill>
              </a:rPr>
              <a:t>256×256</a:t>
            </a:r>
            <a:endParaRPr lang="en-US" sz="900" dirty="0"/>
          </a:p>
        </p:txBody>
      </p:sp>
      <p:sp>
        <p:nvSpPr>
          <p:cNvPr id="18" name="Text 14"/>
          <p:cNvSpPr/>
          <p:nvPr/>
        </p:nvSpPr>
        <p:spPr>
          <a:xfrm>
            <a:off x="1874520" y="2331720"/>
            <a:ext cx="1463040" cy="548640"/>
          </a:xfrm>
          <a:prstGeom prst="rect">
            <a:avLst/>
          </a:prstGeom>
          <a:noFill/>
          <a:ln/>
        </p:spPr>
        <p:txBody>
          <a:bodyPr wrap="square" rtlCol="0" anchor="ctr"/>
          <a:lstStyle/>
          <a:p>
            <a:pPr algn="ctr" indent="0" marL="0">
              <a:buNone/>
            </a:pPr>
            <a:r>
              <a:rPr lang="en-US" sz="800" dirty="0">
                <a:solidFill>
                  <a:srgbClr val="CBD5E1"/>
                </a:solidFill>
              </a:rPr>
              <a:t>Resize &amp; center-crop</a:t>
            </a:r>
            <a:endParaRPr lang="en-US" sz="800" dirty="0"/>
          </a:p>
          <a:p>
            <a:pPr algn="ctr" indent="0" marL="0">
              <a:buNone/>
            </a:pPr>
            <a:r>
              <a:rPr lang="en-US" sz="800" dirty="0">
                <a:solidFill>
                  <a:srgbClr val="CBD5E1"/>
                </a:solidFill>
              </a:rPr>
              <a:t>Normalize [0,1]</a:t>
            </a:r>
            <a:endParaRPr lang="en-US" sz="800" dirty="0"/>
          </a:p>
        </p:txBody>
      </p:sp>
      <p:sp>
        <p:nvSpPr>
          <p:cNvPr id="19" name="Shape 15"/>
          <p:cNvSpPr/>
          <p:nvPr/>
        </p:nvSpPr>
        <p:spPr>
          <a:xfrm>
            <a:off x="3383280" y="2084832"/>
            <a:ext cx="91440" cy="0"/>
          </a:xfrm>
          <a:prstGeom prst="line">
            <a:avLst/>
          </a:prstGeom>
          <a:noFill/>
          <a:ln w="25400">
            <a:solidFill>
              <a:srgbClr val="00E5FF"/>
            </a:solidFill>
            <a:prstDash val="solid"/>
            <a:tailEnd type="triangle"/>
          </a:ln>
        </p:spPr>
      </p:sp>
      <p:sp>
        <p:nvSpPr>
          <p:cNvPr id="20" name="Shape 16"/>
          <p:cNvSpPr/>
          <p:nvPr/>
        </p:nvSpPr>
        <p:spPr>
          <a:xfrm>
            <a:off x="3474720" y="1078992"/>
            <a:ext cx="1554480" cy="2011680"/>
          </a:xfrm>
          <a:prstGeom prst="roundRect">
            <a:avLst>
              <a:gd name="adj" fmla="val 5882"/>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21" name="Shape 17"/>
          <p:cNvSpPr/>
          <p:nvPr/>
        </p:nvSpPr>
        <p:spPr>
          <a:xfrm>
            <a:off x="3474720" y="1078992"/>
            <a:ext cx="1554480" cy="274320"/>
          </a:xfrm>
          <a:prstGeom prst="rect">
            <a:avLst/>
          </a:prstGeom>
          <a:solidFill>
            <a:srgbClr val="00E5FF">
              <a:alpha val="80000"/>
            </a:srgbClr>
          </a:solidFill>
          <a:ln w="12700">
            <a:solidFill>
              <a:srgbClr val="00E5FF">
                <a:alpha val="80000"/>
              </a:srgbClr>
            </a:solidFill>
            <a:prstDash val="solid"/>
          </a:ln>
        </p:spPr>
      </p:sp>
      <p:pic>
        <p:nvPicPr>
          <p:cNvPr id="22" name="Image 2" descr="preencoded.png">    </p:cNvPr>
          <p:cNvPicPr>
            <a:picLocks noChangeAspect="1"/>
          </p:cNvPicPr>
          <p:nvPr/>
        </p:nvPicPr>
        <p:blipFill>
          <a:blip r:embed="rId3"/>
          <a:stretch>
            <a:fillRect/>
          </a:stretch>
        </p:blipFill>
        <p:spPr>
          <a:xfrm>
            <a:off x="4032504" y="1408176"/>
            <a:ext cx="402336" cy="402336"/>
          </a:xfrm>
          <a:prstGeom prst="rect">
            <a:avLst/>
          </a:prstGeom>
        </p:spPr>
      </p:pic>
      <p:sp>
        <p:nvSpPr>
          <p:cNvPr id="23" name="Text 18"/>
          <p:cNvSpPr/>
          <p:nvPr/>
        </p:nvSpPr>
        <p:spPr>
          <a:xfrm>
            <a:off x="3520440" y="1856232"/>
            <a:ext cx="1463040" cy="457200"/>
          </a:xfrm>
          <a:prstGeom prst="rect">
            <a:avLst/>
          </a:prstGeom>
          <a:noFill/>
          <a:ln/>
        </p:spPr>
        <p:txBody>
          <a:bodyPr wrap="square" rtlCol="0" anchor="ctr"/>
          <a:lstStyle/>
          <a:p>
            <a:pPr algn="ctr" indent="0" marL="0">
              <a:buNone/>
            </a:pPr>
            <a:r>
              <a:rPr lang="en-US" sz="900" b="1" dirty="0">
                <a:solidFill>
                  <a:srgbClr val="00E5FF"/>
                </a:solidFill>
              </a:rPr>
              <a:t>③ ONNX</a:t>
            </a:r>
            <a:endParaRPr lang="en-US" sz="900" dirty="0"/>
          </a:p>
          <a:p>
            <a:pPr algn="ctr" indent="0" marL="0">
              <a:buNone/>
            </a:pPr>
            <a:r>
              <a:rPr lang="en-US" sz="900" b="1" dirty="0">
                <a:solidFill>
                  <a:srgbClr val="00E5FF"/>
                </a:solidFill>
              </a:rPr>
              <a:t>Inference</a:t>
            </a:r>
            <a:endParaRPr lang="en-US" sz="900" dirty="0"/>
          </a:p>
        </p:txBody>
      </p:sp>
      <p:sp>
        <p:nvSpPr>
          <p:cNvPr id="24" name="Text 19"/>
          <p:cNvSpPr/>
          <p:nvPr/>
        </p:nvSpPr>
        <p:spPr>
          <a:xfrm>
            <a:off x="3520440" y="2331720"/>
            <a:ext cx="1463040" cy="548640"/>
          </a:xfrm>
          <a:prstGeom prst="rect">
            <a:avLst/>
          </a:prstGeom>
          <a:noFill/>
          <a:ln/>
        </p:spPr>
        <p:txBody>
          <a:bodyPr wrap="square" rtlCol="0" anchor="ctr"/>
          <a:lstStyle/>
          <a:p>
            <a:pPr algn="ctr" indent="0" marL="0">
              <a:buNone/>
            </a:pPr>
            <a:r>
              <a:rPr lang="en-US" sz="800" dirty="0">
                <a:solidFill>
                  <a:srgbClr val="CBD5E1"/>
                </a:solidFill>
              </a:rPr>
              <a:t>CPU-only inference</a:t>
            </a:r>
            <a:endParaRPr lang="en-US" sz="800" dirty="0"/>
          </a:p>
          <a:p>
            <a:pPr algn="ctr" indent="0" marL="0">
              <a:buNone/>
            </a:pPr>
            <a:r>
              <a:rPr lang="en-US" sz="800" dirty="0">
                <a:solidFill>
                  <a:srgbClr val="CBD5E1"/>
                </a:solidFill>
              </a:rPr>
              <a:t>&lt; 35 ms target</a:t>
            </a:r>
            <a:endParaRPr lang="en-US" sz="800" dirty="0"/>
          </a:p>
        </p:txBody>
      </p:sp>
      <p:sp>
        <p:nvSpPr>
          <p:cNvPr id="25" name="Shape 20"/>
          <p:cNvSpPr/>
          <p:nvPr/>
        </p:nvSpPr>
        <p:spPr>
          <a:xfrm>
            <a:off x="5029200" y="2084832"/>
            <a:ext cx="91440" cy="0"/>
          </a:xfrm>
          <a:prstGeom prst="line">
            <a:avLst/>
          </a:prstGeom>
          <a:noFill/>
          <a:ln w="25400">
            <a:solidFill>
              <a:srgbClr val="00E5FF"/>
            </a:solidFill>
            <a:prstDash val="solid"/>
            <a:tailEnd type="triangle"/>
          </a:ln>
        </p:spPr>
      </p:sp>
      <p:sp>
        <p:nvSpPr>
          <p:cNvPr id="26" name="Shape 21"/>
          <p:cNvSpPr/>
          <p:nvPr/>
        </p:nvSpPr>
        <p:spPr>
          <a:xfrm>
            <a:off x="5120640" y="1078992"/>
            <a:ext cx="1554480" cy="2011680"/>
          </a:xfrm>
          <a:prstGeom prst="roundRect">
            <a:avLst>
              <a:gd name="adj" fmla="val 5882"/>
            </a:avLst>
          </a:prstGeom>
          <a:solidFill>
            <a:srgbClr val="0F1E35"/>
          </a:solidFill>
          <a:ln w="19050">
            <a:solidFill>
              <a:srgbClr val="FF6B35"/>
            </a:solidFill>
            <a:prstDash val="solid"/>
          </a:ln>
          <a:effectLst>
            <a:outerShdw sx="100000" sy="100000" kx="0" ky="0" algn="bl" rotWithShape="0" blurRad="101600" dist="38100" dir="8100000">
              <a:srgbClr val="000000">
                <a:alpha val="30000"/>
              </a:srgbClr>
            </a:outerShdw>
          </a:effectLst>
        </p:spPr>
      </p:sp>
      <p:sp>
        <p:nvSpPr>
          <p:cNvPr id="27" name="Shape 22"/>
          <p:cNvSpPr/>
          <p:nvPr/>
        </p:nvSpPr>
        <p:spPr>
          <a:xfrm>
            <a:off x="5120640" y="1078992"/>
            <a:ext cx="1554480" cy="274320"/>
          </a:xfrm>
          <a:prstGeom prst="rect">
            <a:avLst/>
          </a:prstGeom>
          <a:solidFill>
            <a:srgbClr val="FF6B35">
              <a:alpha val="80000"/>
            </a:srgbClr>
          </a:solidFill>
          <a:ln w="12700">
            <a:solidFill>
              <a:srgbClr val="FF6B35">
                <a:alpha val="80000"/>
              </a:srgbClr>
            </a:solidFill>
            <a:prstDash val="solid"/>
          </a:ln>
        </p:spPr>
      </p:sp>
      <p:pic>
        <p:nvPicPr>
          <p:cNvPr id="28" name="Image 3" descr="preencoded.png">    </p:cNvPr>
          <p:cNvPicPr>
            <a:picLocks noChangeAspect="1"/>
          </p:cNvPicPr>
          <p:nvPr/>
        </p:nvPicPr>
        <p:blipFill>
          <a:blip r:embed="rId4"/>
          <a:stretch>
            <a:fillRect/>
          </a:stretch>
        </p:blipFill>
        <p:spPr>
          <a:xfrm>
            <a:off x="5678424" y="1408176"/>
            <a:ext cx="402336" cy="402336"/>
          </a:xfrm>
          <a:prstGeom prst="rect">
            <a:avLst/>
          </a:prstGeom>
        </p:spPr>
      </p:pic>
      <p:sp>
        <p:nvSpPr>
          <p:cNvPr id="29" name="Text 23"/>
          <p:cNvSpPr/>
          <p:nvPr/>
        </p:nvSpPr>
        <p:spPr>
          <a:xfrm>
            <a:off x="5166360" y="1856232"/>
            <a:ext cx="1463040" cy="457200"/>
          </a:xfrm>
          <a:prstGeom prst="rect">
            <a:avLst/>
          </a:prstGeom>
          <a:noFill/>
          <a:ln/>
        </p:spPr>
        <p:txBody>
          <a:bodyPr wrap="square" rtlCol="0" anchor="ctr"/>
          <a:lstStyle/>
          <a:p>
            <a:pPr algn="ctr" indent="0" marL="0">
              <a:buNone/>
            </a:pPr>
            <a:r>
              <a:rPr lang="en-US" sz="900" b="1" dirty="0">
                <a:solidFill>
                  <a:srgbClr val="FF6B35"/>
                </a:solidFill>
              </a:rPr>
              <a:t>④ Softmax</a:t>
            </a:r>
            <a:endParaRPr lang="en-US" sz="900" dirty="0"/>
          </a:p>
          <a:p>
            <a:pPr algn="ctr" indent="0" marL="0">
              <a:buNone/>
            </a:pPr>
            <a:r>
              <a:rPr lang="en-US" sz="900" b="1" dirty="0">
                <a:solidFill>
                  <a:srgbClr val="FF6B35"/>
                </a:solidFill>
              </a:rPr>
              <a:t>Output</a:t>
            </a:r>
            <a:endParaRPr lang="en-US" sz="900" dirty="0"/>
          </a:p>
        </p:txBody>
      </p:sp>
      <p:sp>
        <p:nvSpPr>
          <p:cNvPr id="30" name="Text 24"/>
          <p:cNvSpPr/>
          <p:nvPr/>
        </p:nvSpPr>
        <p:spPr>
          <a:xfrm>
            <a:off x="5166360" y="2331720"/>
            <a:ext cx="1463040" cy="548640"/>
          </a:xfrm>
          <a:prstGeom prst="rect">
            <a:avLst/>
          </a:prstGeom>
          <a:noFill/>
          <a:ln/>
        </p:spPr>
        <p:txBody>
          <a:bodyPr wrap="square" rtlCol="0" anchor="ctr"/>
          <a:lstStyle/>
          <a:p>
            <a:pPr algn="ctr" indent="0" marL="0">
              <a:buNone/>
            </a:pPr>
            <a:r>
              <a:rPr lang="en-US" sz="800" dirty="0">
                <a:solidFill>
                  <a:srgbClr val="CBD5E1"/>
                </a:solidFill>
              </a:rPr>
              <a:t>P(CLEAN), P(STEGO)</a:t>
            </a:r>
            <a:endParaRPr lang="en-US" sz="800" dirty="0"/>
          </a:p>
          <a:p>
            <a:pPr algn="ctr" indent="0" marL="0">
              <a:buNone/>
            </a:pPr>
            <a:r>
              <a:rPr lang="en-US" sz="800" dirty="0">
                <a:solidFill>
                  <a:srgbClr val="CBD5E1"/>
                </a:solidFill>
              </a:rPr>
              <a:t>Threshold @ 0.5</a:t>
            </a:r>
            <a:endParaRPr lang="en-US" sz="800" dirty="0"/>
          </a:p>
        </p:txBody>
      </p:sp>
      <p:sp>
        <p:nvSpPr>
          <p:cNvPr id="31" name="Shape 25"/>
          <p:cNvSpPr/>
          <p:nvPr/>
        </p:nvSpPr>
        <p:spPr>
          <a:xfrm>
            <a:off x="6675120" y="2084832"/>
            <a:ext cx="91440" cy="0"/>
          </a:xfrm>
          <a:prstGeom prst="line">
            <a:avLst/>
          </a:prstGeom>
          <a:noFill/>
          <a:ln w="25400">
            <a:solidFill>
              <a:srgbClr val="00E5FF"/>
            </a:solidFill>
            <a:prstDash val="solid"/>
            <a:tailEnd type="triangle"/>
          </a:ln>
        </p:spPr>
      </p:sp>
      <p:sp>
        <p:nvSpPr>
          <p:cNvPr id="32" name="Shape 26"/>
          <p:cNvSpPr/>
          <p:nvPr/>
        </p:nvSpPr>
        <p:spPr>
          <a:xfrm>
            <a:off x="6766560" y="1078992"/>
            <a:ext cx="1554480" cy="2011680"/>
          </a:xfrm>
          <a:prstGeom prst="roundRect">
            <a:avLst>
              <a:gd name="adj" fmla="val 5882"/>
            </a:avLst>
          </a:prstGeom>
          <a:solidFill>
            <a:srgbClr val="0F1E35"/>
          </a:solidFill>
          <a:ln w="19050">
            <a:solidFill>
              <a:srgbClr val="00D4A1"/>
            </a:solidFill>
            <a:prstDash val="solid"/>
          </a:ln>
          <a:effectLst>
            <a:outerShdw sx="100000" sy="100000" kx="0" ky="0" algn="bl" rotWithShape="0" blurRad="101600" dist="38100" dir="8100000">
              <a:srgbClr val="000000">
                <a:alpha val="30000"/>
              </a:srgbClr>
            </a:outerShdw>
          </a:effectLst>
        </p:spPr>
      </p:sp>
      <p:sp>
        <p:nvSpPr>
          <p:cNvPr id="33" name="Shape 27"/>
          <p:cNvSpPr/>
          <p:nvPr/>
        </p:nvSpPr>
        <p:spPr>
          <a:xfrm>
            <a:off x="6766560" y="1078992"/>
            <a:ext cx="1554480" cy="274320"/>
          </a:xfrm>
          <a:prstGeom prst="rect">
            <a:avLst/>
          </a:prstGeom>
          <a:solidFill>
            <a:srgbClr val="00D4A1">
              <a:alpha val="80000"/>
            </a:srgbClr>
          </a:solidFill>
          <a:ln w="12700">
            <a:solidFill>
              <a:srgbClr val="00D4A1">
                <a:alpha val="80000"/>
              </a:srgbClr>
            </a:solidFill>
            <a:prstDash val="solid"/>
          </a:ln>
        </p:spPr>
      </p:sp>
      <p:pic>
        <p:nvPicPr>
          <p:cNvPr id="34" name="Image 4" descr="preencoded.png">    </p:cNvPr>
          <p:cNvPicPr>
            <a:picLocks noChangeAspect="1"/>
          </p:cNvPicPr>
          <p:nvPr/>
        </p:nvPicPr>
        <p:blipFill>
          <a:blip r:embed="rId5"/>
          <a:stretch>
            <a:fillRect/>
          </a:stretch>
        </p:blipFill>
        <p:spPr>
          <a:xfrm>
            <a:off x="7324344" y="1408176"/>
            <a:ext cx="402336" cy="402336"/>
          </a:xfrm>
          <a:prstGeom prst="rect">
            <a:avLst/>
          </a:prstGeom>
        </p:spPr>
      </p:pic>
      <p:sp>
        <p:nvSpPr>
          <p:cNvPr id="35" name="Text 28"/>
          <p:cNvSpPr/>
          <p:nvPr/>
        </p:nvSpPr>
        <p:spPr>
          <a:xfrm>
            <a:off x="6812280" y="1856232"/>
            <a:ext cx="1463040" cy="457200"/>
          </a:xfrm>
          <a:prstGeom prst="rect">
            <a:avLst/>
          </a:prstGeom>
          <a:noFill/>
          <a:ln/>
        </p:spPr>
        <p:txBody>
          <a:bodyPr wrap="square" rtlCol="0" anchor="ctr"/>
          <a:lstStyle/>
          <a:p>
            <a:pPr algn="ctr" indent="0" marL="0">
              <a:buNone/>
            </a:pPr>
            <a:r>
              <a:rPr lang="en-US" sz="900" b="1" dirty="0">
                <a:solidFill>
                  <a:srgbClr val="00D4A1"/>
                </a:solidFill>
              </a:rPr>
              <a:t>⑤ React</a:t>
            </a:r>
            <a:endParaRPr lang="en-US" sz="900" dirty="0"/>
          </a:p>
          <a:p>
            <a:pPr algn="ctr" indent="0" marL="0">
              <a:buNone/>
            </a:pPr>
            <a:r>
              <a:rPr lang="en-US" sz="900" b="1" dirty="0">
                <a:solidFill>
                  <a:srgbClr val="00D4A1"/>
                </a:solidFill>
              </a:rPr>
              <a:t>Result</a:t>
            </a:r>
            <a:endParaRPr lang="en-US" sz="900" dirty="0"/>
          </a:p>
        </p:txBody>
      </p:sp>
      <p:sp>
        <p:nvSpPr>
          <p:cNvPr id="36" name="Text 29"/>
          <p:cNvSpPr/>
          <p:nvPr/>
        </p:nvSpPr>
        <p:spPr>
          <a:xfrm>
            <a:off x="6812280" y="2331720"/>
            <a:ext cx="1463040" cy="548640"/>
          </a:xfrm>
          <a:prstGeom prst="rect">
            <a:avLst/>
          </a:prstGeom>
          <a:noFill/>
          <a:ln/>
        </p:spPr>
        <p:txBody>
          <a:bodyPr wrap="square" rtlCol="0" anchor="ctr"/>
          <a:lstStyle/>
          <a:p>
            <a:pPr algn="ctr" indent="0" marL="0">
              <a:buNone/>
            </a:pPr>
            <a:r>
              <a:rPr lang="en-US" sz="800" dirty="0">
                <a:solidFill>
                  <a:srgbClr val="CBD5E1"/>
                </a:solidFill>
              </a:rPr>
              <a:t>CLEAN or STEGO</a:t>
            </a:r>
            <a:endParaRPr lang="en-US" sz="800" dirty="0"/>
          </a:p>
          <a:p>
            <a:pPr algn="ctr" indent="0" marL="0">
              <a:buNone/>
            </a:pPr>
            <a:r>
              <a:rPr lang="en-US" sz="800" dirty="0">
                <a:solidFill>
                  <a:srgbClr val="CBD5E1"/>
                </a:solidFill>
              </a:rPr>
              <a:t>Confidence bar</a:t>
            </a:r>
            <a:endParaRPr lang="en-US" sz="800" dirty="0"/>
          </a:p>
        </p:txBody>
      </p:sp>
      <p:sp>
        <p:nvSpPr>
          <p:cNvPr id="37" name="Shape 30"/>
          <p:cNvSpPr/>
          <p:nvPr/>
        </p:nvSpPr>
        <p:spPr>
          <a:xfrm>
            <a:off x="274320" y="3246120"/>
            <a:ext cx="4114800" cy="1024128"/>
          </a:xfrm>
          <a:prstGeom prst="roundRect">
            <a:avLst>
              <a:gd name="adj" fmla="val 8929"/>
            </a:avLst>
          </a:prstGeom>
          <a:solidFill>
            <a:srgbClr val="091A0D"/>
          </a:solidFill>
          <a:ln w="25400">
            <a:solidFill>
              <a:srgbClr val="00D4A1"/>
            </a:solidFill>
            <a:prstDash val="solid"/>
          </a:ln>
          <a:effectLst>
            <a:outerShdw sx="100000" sy="100000" kx="0" ky="0" algn="bl" rotWithShape="0" blurRad="101600" dist="38100" dir="8100000">
              <a:srgbClr val="000000">
                <a:alpha val="30000"/>
              </a:srgbClr>
            </a:outerShdw>
          </a:effectLst>
        </p:spPr>
      </p:sp>
      <p:sp>
        <p:nvSpPr>
          <p:cNvPr id="38" name="Text 31"/>
          <p:cNvSpPr/>
          <p:nvPr/>
        </p:nvSpPr>
        <p:spPr>
          <a:xfrm>
            <a:off x="411480" y="3273552"/>
            <a:ext cx="3840480" cy="292608"/>
          </a:xfrm>
          <a:prstGeom prst="rect">
            <a:avLst/>
          </a:prstGeom>
          <a:noFill/>
          <a:ln/>
        </p:spPr>
        <p:txBody>
          <a:bodyPr wrap="square" rtlCol="0" anchor="ctr"/>
          <a:lstStyle/>
          <a:p>
            <a:pPr indent="0" marL="0">
              <a:buNone/>
            </a:pPr>
            <a:r>
              <a:rPr lang="en-US" sz="1100" b="1" dirty="0">
                <a:solidFill>
                  <a:srgbClr val="00D4A1"/>
                </a:solidFill>
              </a:rPr>
              <a:t>✓  CLEAN Result</a:t>
            </a:r>
            <a:endParaRPr lang="en-US" sz="1100" dirty="0"/>
          </a:p>
        </p:txBody>
      </p:sp>
      <p:sp>
        <p:nvSpPr>
          <p:cNvPr id="39" name="Text 32"/>
          <p:cNvSpPr/>
          <p:nvPr/>
        </p:nvSpPr>
        <p:spPr>
          <a:xfrm>
            <a:off x="411480" y="3566160"/>
            <a:ext cx="3840480" cy="621792"/>
          </a:xfrm>
          <a:prstGeom prst="rect">
            <a:avLst/>
          </a:prstGeom>
          <a:noFill/>
          <a:ln/>
        </p:spPr>
        <p:txBody>
          <a:bodyPr wrap="square"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prediction: CLEAN  |  confidence: 0.94  |  inference: 34ms</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No hidden payload detected with high probability.</a:t>
            </a:r>
            <a:endParaRPr lang="en-US" sz="850" dirty="0"/>
          </a:p>
        </p:txBody>
      </p:sp>
      <p:sp>
        <p:nvSpPr>
          <p:cNvPr id="40" name="Shape 33"/>
          <p:cNvSpPr/>
          <p:nvPr/>
        </p:nvSpPr>
        <p:spPr>
          <a:xfrm>
            <a:off x="4572000" y="3246120"/>
            <a:ext cx="4297680" cy="1024128"/>
          </a:xfrm>
          <a:prstGeom prst="roundRect">
            <a:avLst>
              <a:gd name="adj" fmla="val 8929"/>
            </a:avLst>
          </a:prstGeom>
          <a:solidFill>
            <a:srgbClr val="1A0A0A"/>
          </a:solidFill>
          <a:ln w="25400">
            <a:solidFill>
              <a:srgbClr val="FF3B5C"/>
            </a:solidFill>
            <a:prstDash val="solid"/>
          </a:ln>
          <a:effectLst>
            <a:outerShdw sx="100000" sy="100000" kx="0" ky="0" algn="bl" rotWithShape="0" blurRad="101600" dist="38100" dir="8100000">
              <a:srgbClr val="000000">
                <a:alpha val="30000"/>
              </a:srgbClr>
            </a:outerShdw>
          </a:effectLst>
        </p:spPr>
      </p:sp>
      <p:sp>
        <p:nvSpPr>
          <p:cNvPr id="41" name="Text 34"/>
          <p:cNvSpPr/>
          <p:nvPr/>
        </p:nvSpPr>
        <p:spPr>
          <a:xfrm>
            <a:off x="4709160" y="3273552"/>
            <a:ext cx="4023360" cy="292608"/>
          </a:xfrm>
          <a:prstGeom prst="rect">
            <a:avLst/>
          </a:prstGeom>
          <a:noFill/>
          <a:ln/>
        </p:spPr>
        <p:txBody>
          <a:bodyPr wrap="square" rtlCol="0" anchor="ctr"/>
          <a:lstStyle/>
          <a:p>
            <a:pPr indent="0" marL="0">
              <a:buNone/>
            </a:pPr>
            <a:r>
              <a:rPr lang="en-US" sz="1100" b="1" dirty="0">
                <a:solidFill>
                  <a:srgbClr val="FF3B5C"/>
                </a:solidFill>
              </a:rPr>
              <a:t>⚠  STEGO Detected</a:t>
            </a:r>
            <a:endParaRPr lang="en-US" sz="1100" dirty="0"/>
          </a:p>
        </p:txBody>
      </p:sp>
      <p:sp>
        <p:nvSpPr>
          <p:cNvPr id="42" name="Text 35"/>
          <p:cNvSpPr/>
          <p:nvPr/>
        </p:nvSpPr>
        <p:spPr>
          <a:xfrm>
            <a:off x="4709160" y="3566160"/>
            <a:ext cx="4023360" cy="621792"/>
          </a:xfrm>
          <a:prstGeom prst="rect">
            <a:avLst/>
          </a:prstGeom>
          <a:noFill/>
          <a:ln/>
        </p:spPr>
        <p:txBody>
          <a:bodyPr wrap="square" rtlCol="0" anchor="ctr"/>
          <a:lstStyle/>
          <a:p>
            <a:pPr indent="0" marL="0">
              <a:buNone/>
            </a:pPr>
            <a:r>
              <a:rPr lang="en-US" sz="850" dirty="0">
                <a:solidFill>
                  <a:srgbClr val="CBD5E1"/>
                </a:solidFill>
                <a:latin typeface="Consolas" pitchFamily="34" charset="0"/>
                <a:ea typeface="Consolas" pitchFamily="34" charset="-122"/>
                <a:cs typeface="Consolas" pitchFamily="34" charset="-120"/>
              </a:rPr>
              <a:t>prediction: STEGO  |  confidence: 0.89  |  inference: 36ms</a:t>
            </a:r>
            <a:endParaRPr lang="en-US" sz="850" dirty="0"/>
          </a:p>
          <a:p>
            <a:pPr indent="0" marL="0">
              <a:buNone/>
            </a:pPr>
            <a:r>
              <a:rPr lang="en-US" sz="850" dirty="0">
                <a:solidFill>
                  <a:srgbClr val="CBD5E1"/>
                </a:solidFill>
                <a:latin typeface="Consolas" pitchFamily="34" charset="0"/>
                <a:ea typeface="Consolas" pitchFamily="34" charset="-122"/>
                <a:cs typeface="Consolas" pitchFamily="34" charset="-120"/>
              </a:rPr>
              <a:t>Hidden payload likely present — forensic alert triggered.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090F"/>
          </a:solidFill>
          <a:ln w="12700">
            <a:solidFill>
              <a:srgbClr val="07090F"/>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0" y="0"/>
            <a:ext cx="9144000" cy="5143500"/>
          </a:xfrm>
          <a:prstGeom prst="rect">
            <a:avLst/>
          </a:prstGeom>
          <a:solidFill>
            <a:srgbClr val="081428">
              <a:alpha val="40000"/>
            </a:srgbClr>
          </a:solidFill>
          <a:ln w="12700">
            <a:solidFill>
              <a:srgbClr val="081428">
                <a:alpha val="40000"/>
              </a:srgbClr>
            </a:solidFill>
            <a:prstDash val="solid"/>
          </a:ln>
        </p:spPr>
      </p:sp>
      <p:sp>
        <p:nvSpPr>
          <p:cNvPr id="5" name="Shape 3"/>
          <p:cNvSpPr/>
          <p:nvPr/>
        </p:nvSpPr>
        <p:spPr>
          <a:xfrm>
            <a:off x="457200" y="256032"/>
            <a:ext cx="1463040" cy="256032"/>
          </a:xfrm>
          <a:prstGeom prst="rect">
            <a:avLst/>
          </a:prstGeom>
          <a:solidFill>
            <a:srgbClr val="00E5FF"/>
          </a:solidFill>
          <a:ln w="12700">
            <a:solidFill>
              <a:srgbClr val="00E5FF"/>
            </a:solidFill>
            <a:prstDash val="solid"/>
          </a:ln>
        </p:spPr>
      </p:sp>
      <p:sp>
        <p:nvSpPr>
          <p:cNvPr id="6" name="Text 4"/>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ALGORITHM</a:t>
            </a:r>
            <a:endParaRPr lang="en-US" sz="900" dirty="0"/>
          </a:p>
        </p:txBody>
      </p:sp>
      <p:sp>
        <p:nvSpPr>
          <p:cNvPr id="7" name="Text 5"/>
          <p:cNvSpPr/>
          <p:nvPr/>
        </p:nvSpPr>
        <p:spPr>
          <a:xfrm>
            <a:off x="2103120" y="182880"/>
            <a:ext cx="6583680" cy="43891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JUNIWARD Steganography</a:t>
            </a:r>
            <a:endParaRPr lang="en-US" sz="2600" dirty="0"/>
          </a:p>
        </p:txBody>
      </p:sp>
      <p:sp>
        <p:nvSpPr>
          <p:cNvPr id="8" name="Shape 6"/>
          <p:cNvSpPr/>
          <p:nvPr/>
        </p:nvSpPr>
        <p:spPr>
          <a:xfrm>
            <a:off x="228600" y="694944"/>
            <a:ext cx="8686800" cy="347472"/>
          </a:xfrm>
          <a:prstGeom prst="roundRect">
            <a:avLst>
              <a:gd name="adj" fmla="val 15789"/>
            </a:avLst>
          </a:prstGeom>
          <a:solidFill>
            <a:srgbClr val="2A1500"/>
          </a:solidFill>
          <a:ln w="19050">
            <a:solidFill>
              <a:srgbClr val="FF6B35"/>
            </a:solidFill>
            <a:prstDash val="solid"/>
          </a:ln>
        </p:spPr>
      </p:sp>
      <p:sp>
        <p:nvSpPr>
          <p:cNvPr id="9" name="Text 7"/>
          <p:cNvSpPr/>
          <p:nvPr/>
        </p:nvSpPr>
        <p:spPr>
          <a:xfrm>
            <a:off x="320040" y="713232"/>
            <a:ext cx="8412480" cy="292608"/>
          </a:xfrm>
          <a:prstGeom prst="rect">
            <a:avLst/>
          </a:prstGeom>
          <a:noFill/>
          <a:ln/>
        </p:spPr>
        <p:txBody>
          <a:bodyPr wrap="square" rtlCol="0" anchor="ctr"/>
          <a:lstStyle/>
          <a:p>
            <a:pPr algn="ctr" indent="0" marL="0">
              <a:buNone/>
            </a:pPr>
            <a:r>
              <a:rPr lang="en-US" sz="950" b="1" dirty="0">
                <a:solidFill>
                  <a:srgbClr val="FF6B35"/>
                </a:solidFill>
              </a:rPr>
              <a:t>JUNIWARD = Jsteg U-NIversal WAvelet Relative Distortion  ·  HEURISTIC OPTIMIZATION — NOT Machine Learning  ·  No neural networks. No training data.</a:t>
            </a:r>
            <a:endParaRPr lang="en-US" sz="950" dirty="0"/>
          </a:p>
        </p:txBody>
      </p:sp>
      <p:sp>
        <p:nvSpPr>
          <p:cNvPr id="10" name="Shape 8"/>
          <p:cNvSpPr/>
          <p:nvPr/>
        </p:nvSpPr>
        <p:spPr>
          <a:xfrm>
            <a:off x="228600" y="1170432"/>
            <a:ext cx="2743200" cy="1508760"/>
          </a:xfrm>
          <a:prstGeom prst="roundRect">
            <a:avLst>
              <a:gd name="adj" fmla="val 6061"/>
            </a:avLst>
          </a:prstGeom>
          <a:solidFill>
            <a:srgbClr val="0F1E35"/>
          </a:solidFill>
          <a:ln w="19050">
            <a:solidFill>
              <a:srgbClr val="1A8CFF"/>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228600" y="1170432"/>
            <a:ext cx="502920" cy="1508760"/>
          </a:xfrm>
          <a:prstGeom prst="rect">
            <a:avLst/>
          </a:prstGeom>
          <a:solidFill>
            <a:srgbClr val="1A8CFF">
              <a:alpha val="85000"/>
            </a:srgbClr>
          </a:solidFill>
          <a:ln w="12700">
            <a:solidFill>
              <a:srgbClr val="1A8CFF">
                <a:alpha val="85000"/>
              </a:srgbClr>
            </a:solidFill>
            <a:prstDash val="solid"/>
          </a:ln>
        </p:spPr>
      </p:sp>
      <p:sp>
        <p:nvSpPr>
          <p:cNvPr id="12" name="Text 10"/>
          <p:cNvSpPr/>
          <p:nvPr/>
        </p:nvSpPr>
        <p:spPr>
          <a:xfrm>
            <a:off x="228600" y="1719072"/>
            <a:ext cx="502920" cy="411480"/>
          </a:xfrm>
          <a:prstGeom prst="rect">
            <a:avLst/>
          </a:prstGeom>
          <a:noFill/>
          <a:ln/>
        </p:spPr>
        <p:txBody>
          <a:bodyPr wrap="square" rtlCol="0" anchor="ctr"/>
          <a:lstStyle/>
          <a:p>
            <a:pPr algn="ctr" indent="0" marL="0">
              <a:buNone/>
            </a:pPr>
            <a:r>
              <a:rPr lang="en-US" sz="1600" b="1" dirty="0">
                <a:solidFill>
                  <a:srgbClr val="07090F"/>
                </a:solidFill>
              </a:rPr>
              <a:t>①</a:t>
            </a:r>
            <a:endParaRPr lang="en-US" sz="1600" dirty="0"/>
          </a:p>
        </p:txBody>
      </p:sp>
      <p:sp>
        <p:nvSpPr>
          <p:cNvPr id="13" name="Text 11"/>
          <p:cNvSpPr/>
          <p:nvPr/>
        </p:nvSpPr>
        <p:spPr>
          <a:xfrm>
            <a:off x="822960" y="1261872"/>
            <a:ext cx="2057400" cy="411480"/>
          </a:xfrm>
          <a:prstGeom prst="rect">
            <a:avLst/>
          </a:prstGeom>
          <a:noFill/>
          <a:ln/>
        </p:spPr>
        <p:txBody>
          <a:bodyPr wrap="square" rtlCol="0" anchor="ctr"/>
          <a:lstStyle/>
          <a:p>
            <a:pPr indent="0" marL="0">
              <a:buNone/>
            </a:pPr>
            <a:r>
              <a:rPr lang="en-US" sz="1200" b="1" dirty="0">
                <a:solidFill>
                  <a:srgbClr val="1A8CFF"/>
                </a:solidFill>
              </a:rPr>
              <a:t>RGB → YUV</a:t>
            </a:r>
            <a:endParaRPr lang="en-US" sz="1200" dirty="0"/>
          </a:p>
        </p:txBody>
      </p:sp>
      <p:sp>
        <p:nvSpPr>
          <p:cNvPr id="14" name="Text 12"/>
          <p:cNvSpPr/>
          <p:nvPr/>
        </p:nvSpPr>
        <p:spPr>
          <a:xfrm>
            <a:off x="822960" y="1673352"/>
            <a:ext cx="2057400" cy="822960"/>
          </a:xfrm>
          <a:prstGeom prst="rect">
            <a:avLst/>
          </a:prstGeom>
          <a:noFill/>
          <a:ln/>
        </p:spPr>
        <p:txBody>
          <a:bodyPr wrap="square" rtlCol="0" anchor="ctr"/>
          <a:lstStyle/>
          <a:p>
            <a:pPr indent="0" marL="0">
              <a:buNone/>
            </a:pPr>
            <a:r>
              <a:rPr lang="en-US" sz="850" dirty="0">
                <a:solidFill>
                  <a:srgbClr val="CBD5E1"/>
                </a:solidFill>
              </a:rPr>
              <a:t>Color space conversion</a:t>
            </a:r>
            <a:endParaRPr lang="en-US" sz="850" dirty="0"/>
          </a:p>
          <a:p>
            <a:pPr indent="0" marL="0">
              <a:buNone/>
            </a:pPr>
            <a:r>
              <a:rPr lang="en-US" sz="850" dirty="0">
                <a:solidFill>
                  <a:srgbClr val="CBD5E1"/>
                </a:solidFill>
              </a:rPr>
              <a:t>Embed only in Y (luminance)</a:t>
            </a:r>
            <a:endParaRPr lang="en-US" sz="850" dirty="0"/>
          </a:p>
          <a:p>
            <a:pPr indent="0" marL="0">
              <a:buNone/>
            </a:pPr>
            <a:r>
              <a:rPr lang="en-US" sz="850" dirty="0">
                <a:solidFill>
                  <a:srgbClr val="CBD5E1"/>
                </a:solidFill>
              </a:rPr>
              <a:t>Ignore UV channels</a:t>
            </a:r>
            <a:endParaRPr lang="en-US" sz="850" dirty="0"/>
          </a:p>
        </p:txBody>
      </p:sp>
      <p:sp>
        <p:nvSpPr>
          <p:cNvPr id="15" name="Shape 13"/>
          <p:cNvSpPr/>
          <p:nvPr/>
        </p:nvSpPr>
        <p:spPr>
          <a:xfrm>
            <a:off x="2971800" y="1920240"/>
            <a:ext cx="201168" cy="0"/>
          </a:xfrm>
          <a:prstGeom prst="line">
            <a:avLst/>
          </a:prstGeom>
          <a:noFill/>
          <a:ln w="25400">
            <a:solidFill>
              <a:srgbClr val="00E5FF"/>
            </a:solidFill>
            <a:prstDash val="solid"/>
            <a:tailEnd type="triangle"/>
          </a:ln>
        </p:spPr>
      </p:sp>
      <p:sp>
        <p:nvSpPr>
          <p:cNvPr id="16" name="Shape 14"/>
          <p:cNvSpPr/>
          <p:nvPr/>
        </p:nvSpPr>
        <p:spPr>
          <a:xfrm>
            <a:off x="3172968" y="1170432"/>
            <a:ext cx="2743200" cy="1508760"/>
          </a:xfrm>
          <a:prstGeom prst="roundRect">
            <a:avLst>
              <a:gd name="adj" fmla="val 6061"/>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sp>
        <p:nvSpPr>
          <p:cNvPr id="17" name="Shape 15"/>
          <p:cNvSpPr/>
          <p:nvPr/>
        </p:nvSpPr>
        <p:spPr>
          <a:xfrm>
            <a:off x="3172968" y="1170432"/>
            <a:ext cx="502920" cy="1508760"/>
          </a:xfrm>
          <a:prstGeom prst="rect">
            <a:avLst/>
          </a:prstGeom>
          <a:solidFill>
            <a:srgbClr val="7B2FFF">
              <a:alpha val="85000"/>
            </a:srgbClr>
          </a:solidFill>
          <a:ln w="12700">
            <a:solidFill>
              <a:srgbClr val="7B2FFF">
                <a:alpha val="85000"/>
              </a:srgbClr>
            </a:solidFill>
            <a:prstDash val="solid"/>
          </a:ln>
        </p:spPr>
      </p:sp>
      <p:sp>
        <p:nvSpPr>
          <p:cNvPr id="18" name="Text 16"/>
          <p:cNvSpPr/>
          <p:nvPr/>
        </p:nvSpPr>
        <p:spPr>
          <a:xfrm>
            <a:off x="3172968" y="1719072"/>
            <a:ext cx="502920" cy="411480"/>
          </a:xfrm>
          <a:prstGeom prst="rect">
            <a:avLst/>
          </a:prstGeom>
          <a:noFill/>
          <a:ln/>
        </p:spPr>
        <p:txBody>
          <a:bodyPr wrap="square" rtlCol="0" anchor="ctr"/>
          <a:lstStyle/>
          <a:p>
            <a:pPr algn="ctr" indent="0" marL="0">
              <a:buNone/>
            </a:pPr>
            <a:r>
              <a:rPr lang="en-US" sz="1600" b="1" dirty="0">
                <a:solidFill>
                  <a:srgbClr val="07090F"/>
                </a:solidFill>
              </a:rPr>
              <a:t>②</a:t>
            </a:r>
            <a:endParaRPr lang="en-US" sz="1600" dirty="0"/>
          </a:p>
        </p:txBody>
      </p:sp>
      <p:sp>
        <p:nvSpPr>
          <p:cNvPr id="19" name="Text 17"/>
          <p:cNvSpPr/>
          <p:nvPr/>
        </p:nvSpPr>
        <p:spPr>
          <a:xfrm>
            <a:off x="3767328" y="1261872"/>
            <a:ext cx="2057400" cy="411480"/>
          </a:xfrm>
          <a:prstGeom prst="rect">
            <a:avLst/>
          </a:prstGeom>
          <a:noFill/>
          <a:ln/>
        </p:spPr>
        <p:txBody>
          <a:bodyPr wrap="square" rtlCol="0" anchor="ctr"/>
          <a:lstStyle/>
          <a:p>
            <a:pPr indent="0" marL="0">
              <a:buNone/>
            </a:pPr>
            <a:r>
              <a:rPr lang="en-US" sz="1200" b="1" dirty="0">
                <a:solidFill>
                  <a:srgbClr val="7B2FFF"/>
                </a:solidFill>
              </a:rPr>
              <a:t>4-Level DWT</a:t>
            </a:r>
            <a:endParaRPr lang="en-US" sz="1200" dirty="0"/>
          </a:p>
        </p:txBody>
      </p:sp>
      <p:sp>
        <p:nvSpPr>
          <p:cNvPr id="20" name="Text 18"/>
          <p:cNvSpPr/>
          <p:nvPr/>
        </p:nvSpPr>
        <p:spPr>
          <a:xfrm>
            <a:off x="3767328" y="1673352"/>
            <a:ext cx="2057400" cy="822960"/>
          </a:xfrm>
          <a:prstGeom prst="rect">
            <a:avLst/>
          </a:prstGeom>
          <a:noFill/>
          <a:ln/>
        </p:spPr>
        <p:txBody>
          <a:bodyPr wrap="square" rtlCol="0" anchor="ctr"/>
          <a:lstStyle/>
          <a:p>
            <a:pPr indent="0" marL="0">
              <a:buNone/>
            </a:pPr>
            <a:r>
              <a:rPr lang="en-US" sz="850" dirty="0">
                <a:solidFill>
                  <a:srgbClr val="CBD5E1"/>
                </a:solidFill>
              </a:rPr>
              <a:t>Daubechies-8 wavelet</a:t>
            </a:r>
            <a:endParaRPr lang="en-US" sz="850" dirty="0"/>
          </a:p>
          <a:p>
            <a:pPr indent="0" marL="0">
              <a:buNone/>
            </a:pPr>
            <a:r>
              <a:rPr lang="en-US" sz="850" dirty="0">
                <a:solidFill>
                  <a:srgbClr val="CBD5E1"/>
                </a:solidFill>
              </a:rPr>
              <a:t>Decompose: LL, LH, HL, HH</a:t>
            </a:r>
            <a:endParaRPr lang="en-US" sz="850" dirty="0"/>
          </a:p>
          <a:p>
            <a:pPr indent="0" marL="0">
              <a:buNone/>
            </a:pPr>
            <a:r>
              <a:rPr lang="en-US" sz="850" dirty="0">
                <a:solidFill>
                  <a:srgbClr val="CBD5E1"/>
                </a:solidFill>
              </a:rPr>
              <a:t>LL subband untouched</a:t>
            </a:r>
            <a:endParaRPr lang="en-US" sz="850" dirty="0"/>
          </a:p>
        </p:txBody>
      </p:sp>
      <p:sp>
        <p:nvSpPr>
          <p:cNvPr id="21" name="Shape 19"/>
          <p:cNvSpPr/>
          <p:nvPr/>
        </p:nvSpPr>
        <p:spPr>
          <a:xfrm>
            <a:off x="5916168" y="1920240"/>
            <a:ext cx="201168" cy="0"/>
          </a:xfrm>
          <a:prstGeom prst="line">
            <a:avLst/>
          </a:prstGeom>
          <a:noFill/>
          <a:ln w="25400">
            <a:solidFill>
              <a:srgbClr val="00E5FF"/>
            </a:solidFill>
            <a:prstDash val="solid"/>
            <a:tailEnd type="triangle"/>
          </a:ln>
        </p:spPr>
      </p:sp>
      <p:sp>
        <p:nvSpPr>
          <p:cNvPr id="22" name="Shape 20"/>
          <p:cNvSpPr/>
          <p:nvPr/>
        </p:nvSpPr>
        <p:spPr>
          <a:xfrm>
            <a:off x="6117336" y="1170432"/>
            <a:ext cx="2743200" cy="1508760"/>
          </a:xfrm>
          <a:prstGeom prst="roundRect">
            <a:avLst>
              <a:gd name="adj" fmla="val 6061"/>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23" name="Shape 21"/>
          <p:cNvSpPr/>
          <p:nvPr/>
        </p:nvSpPr>
        <p:spPr>
          <a:xfrm>
            <a:off x="6117336" y="1170432"/>
            <a:ext cx="502920" cy="1508760"/>
          </a:xfrm>
          <a:prstGeom prst="rect">
            <a:avLst/>
          </a:prstGeom>
          <a:solidFill>
            <a:srgbClr val="00E5FF">
              <a:alpha val="85000"/>
            </a:srgbClr>
          </a:solidFill>
          <a:ln w="12700">
            <a:solidFill>
              <a:srgbClr val="00E5FF">
                <a:alpha val="85000"/>
              </a:srgbClr>
            </a:solidFill>
            <a:prstDash val="solid"/>
          </a:ln>
        </p:spPr>
      </p:sp>
      <p:sp>
        <p:nvSpPr>
          <p:cNvPr id="24" name="Text 22"/>
          <p:cNvSpPr/>
          <p:nvPr/>
        </p:nvSpPr>
        <p:spPr>
          <a:xfrm>
            <a:off x="6117336" y="1719072"/>
            <a:ext cx="502920" cy="411480"/>
          </a:xfrm>
          <a:prstGeom prst="rect">
            <a:avLst/>
          </a:prstGeom>
          <a:noFill/>
          <a:ln/>
        </p:spPr>
        <p:txBody>
          <a:bodyPr wrap="square" rtlCol="0" anchor="ctr"/>
          <a:lstStyle/>
          <a:p>
            <a:pPr algn="ctr" indent="0" marL="0">
              <a:buNone/>
            </a:pPr>
            <a:r>
              <a:rPr lang="en-US" sz="1600" b="1" dirty="0">
                <a:solidFill>
                  <a:srgbClr val="07090F"/>
                </a:solidFill>
              </a:rPr>
              <a:t>③</a:t>
            </a:r>
            <a:endParaRPr lang="en-US" sz="1600" dirty="0"/>
          </a:p>
        </p:txBody>
      </p:sp>
      <p:sp>
        <p:nvSpPr>
          <p:cNvPr id="25" name="Text 23"/>
          <p:cNvSpPr/>
          <p:nvPr/>
        </p:nvSpPr>
        <p:spPr>
          <a:xfrm>
            <a:off x="6711696" y="1261872"/>
            <a:ext cx="2057400" cy="411480"/>
          </a:xfrm>
          <a:prstGeom prst="rect">
            <a:avLst/>
          </a:prstGeom>
          <a:noFill/>
          <a:ln/>
        </p:spPr>
        <p:txBody>
          <a:bodyPr wrap="square" rtlCol="0" anchor="ctr"/>
          <a:lstStyle/>
          <a:p>
            <a:pPr indent="0" marL="0">
              <a:buNone/>
            </a:pPr>
            <a:r>
              <a:rPr lang="en-US" sz="1200" b="1" dirty="0">
                <a:solidFill>
                  <a:srgbClr val="00E5FF"/>
                </a:solidFill>
              </a:rPr>
              <a:t>Cost Computation</a:t>
            </a:r>
            <a:endParaRPr lang="en-US" sz="1200" dirty="0"/>
          </a:p>
        </p:txBody>
      </p:sp>
      <p:sp>
        <p:nvSpPr>
          <p:cNvPr id="26" name="Text 24"/>
          <p:cNvSpPr/>
          <p:nvPr/>
        </p:nvSpPr>
        <p:spPr>
          <a:xfrm>
            <a:off x="6711696" y="1673352"/>
            <a:ext cx="2057400" cy="822960"/>
          </a:xfrm>
          <a:prstGeom prst="rect">
            <a:avLst/>
          </a:prstGeom>
          <a:noFill/>
          <a:ln/>
        </p:spPr>
        <p:txBody>
          <a:bodyPr wrap="square" rtlCol="0" anchor="ctr"/>
          <a:lstStyle/>
          <a:p>
            <a:pPr indent="0" marL="0">
              <a:buNone/>
            </a:pPr>
            <a:r>
              <a:rPr lang="en-US" sz="850" dirty="0">
                <a:solidFill>
                  <a:srgbClr val="CBD5E1"/>
                </a:solidFill>
              </a:rPr>
              <a:t>ρ[i] = 1/(|c[i]|^β + ε)</a:t>
            </a:r>
            <a:endParaRPr lang="en-US" sz="850" dirty="0"/>
          </a:p>
          <a:p>
            <a:pPr indent="0" marL="0">
              <a:buNone/>
            </a:pPr>
            <a:r>
              <a:rPr lang="en-US" sz="850" dirty="0">
                <a:solidFill>
                  <a:srgbClr val="CBD5E1"/>
                </a:solidFill>
              </a:rPr>
              <a:t>Smooth region = high cost</a:t>
            </a:r>
            <a:endParaRPr lang="en-US" sz="850" dirty="0"/>
          </a:p>
          <a:p>
            <a:pPr indent="0" marL="0">
              <a:buNone/>
            </a:pPr>
            <a:r>
              <a:rPr lang="en-US" sz="850" dirty="0">
                <a:solidFill>
                  <a:srgbClr val="CBD5E1"/>
                </a:solidFill>
              </a:rPr>
              <a:t>Textured = low cost</a:t>
            </a:r>
            <a:endParaRPr lang="en-US" sz="850" dirty="0"/>
          </a:p>
        </p:txBody>
      </p:sp>
      <p:sp>
        <p:nvSpPr>
          <p:cNvPr id="27" name="Shape 25"/>
          <p:cNvSpPr/>
          <p:nvPr/>
        </p:nvSpPr>
        <p:spPr>
          <a:xfrm>
            <a:off x="228600" y="2862072"/>
            <a:ext cx="2743200" cy="1508760"/>
          </a:xfrm>
          <a:prstGeom prst="roundRect">
            <a:avLst>
              <a:gd name="adj" fmla="val 6061"/>
            </a:avLst>
          </a:prstGeom>
          <a:solidFill>
            <a:srgbClr val="0F1E35"/>
          </a:solidFill>
          <a:ln w="19050">
            <a:solidFill>
              <a:srgbClr val="FF6B35"/>
            </a:solidFill>
            <a:prstDash val="solid"/>
          </a:ln>
          <a:effectLst>
            <a:outerShdw sx="100000" sy="100000" kx="0" ky="0" algn="bl" rotWithShape="0" blurRad="101600" dist="38100" dir="8100000">
              <a:srgbClr val="000000">
                <a:alpha val="30000"/>
              </a:srgbClr>
            </a:outerShdw>
          </a:effectLst>
        </p:spPr>
      </p:sp>
      <p:sp>
        <p:nvSpPr>
          <p:cNvPr id="28" name="Shape 26"/>
          <p:cNvSpPr/>
          <p:nvPr/>
        </p:nvSpPr>
        <p:spPr>
          <a:xfrm>
            <a:off x="228600" y="2862072"/>
            <a:ext cx="502920" cy="1508760"/>
          </a:xfrm>
          <a:prstGeom prst="rect">
            <a:avLst/>
          </a:prstGeom>
          <a:solidFill>
            <a:srgbClr val="FF6B35">
              <a:alpha val="85000"/>
            </a:srgbClr>
          </a:solidFill>
          <a:ln w="12700">
            <a:solidFill>
              <a:srgbClr val="FF6B35">
                <a:alpha val="85000"/>
              </a:srgbClr>
            </a:solidFill>
            <a:prstDash val="solid"/>
          </a:ln>
        </p:spPr>
      </p:sp>
      <p:sp>
        <p:nvSpPr>
          <p:cNvPr id="29" name="Text 27"/>
          <p:cNvSpPr/>
          <p:nvPr/>
        </p:nvSpPr>
        <p:spPr>
          <a:xfrm>
            <a:off x="228600" y="3410712"/>
            <a:ext cx="502920" cy="411480"/>
          </a:xfrm>
          <a:prstGeom prst="rect">
            <a:avLst/>
          </a:prstGeom>
          <a:noFill/>
          <a:ln/>
        </p:spPr>
        <p:txBody>
          <a:bodyPr wrap="square" rtlCol="0" anchor="ctr"/>
          <a:lstStyle/>
          <a:p>
            <a:pPr algn="ctr" indent="0" marL="0">
              <a:buNone/>
            </a:pPr>
            <a:r>
              <a:rPr lang="en-US" sz="1600" b="1" dirty="0">
                <a:solidFill>
                  <a:srgbClr val="07090F"/>
                </a:solidFill>
              </a:rPr>
              <a:t>④</a:t>
            </a:r>
            <a:endParaRPr lang="en-US" sz="1600" dirty="0"/>
          </a:p>
        </p:txBody>
      </p:sp>
      <p:sp>
        <p:nvSpPr>
          <p:cNvPr id="30" name="Text 28"/>
          <p:cNvSpPr/>
          <p:nvPr/>
        </p:nvSpPr>
        <p:spPr>
          <a:xfrm>
            <a:off x="822960" y="2953512"/>
            <a:ext cx="2057400" cy="411480"/>
          </a:xfrm>
          <a:prstGeom prst="rect">
            <a:avLst/>
          </a:prstGeom>
          <a:noFill/>
          <a:ln/>
        </p:spPr>
        <p:txBody>
          <a:bodyPr wrap="square" rtlCol="0" anchor="ctr"/>
          <a:lstStyle/>
          <a:p>
            <a:pPr indent="0" marL="0">
              <a:buNone/>
            </a:pPr>
            <a:r>
              <a:rPr lang="en-US" sz="1200" b="1" dirty="0">
                <a:solidFill>
                  <a:srgbClr val="FF6B35"/>
                </a:solidFill>
              </a:rPr>
              <a:t>STC Encoding</a:t>
            </a:r>
            <a:endParaRPr lang="en-US" sz="1200" dirty="0"/>
          </a:p>
        </p:txBody>
      </p:sp>
      <p:sp>
        <p:nvSpPr>
          <p:cNvPr id="31" name="Text 29"/>
          <p:cNvSpPr/>
          <p:nvPr/>
        </p:nvSpPr>
        <p:spPr>
          <a:xfrm>
            <a:off x="822960" y="3364992"/>
            <a:ext cx="2057400" cy="822960"/>
          </a:xfrm>
          <a:prstGeom prst="rect">
            <a:avLst/>
          </a:prstGeom>
          <a:noFill/>
          <a:ln/>
        </p:spPr>
        <p:txBody>
          <a:bodyPr wrap="square" rtlCol="0" anchor="ctr"/>
          <a:lstStyle/>
          <a:p>
            <a:pPr indent="0" marL="0">
              <a:buNone/>
            </a:pPr>
            <a:r>
              <a:rPr lang="en-US" sz="850" dirty="0">
                <a:solidFill>
                  <a:srgbClr val="CBD5E1"/>
                </a:solidFill>
              </a:rPr>
              <a:t>Syndrome-Trellis Codes</a:t>
            </a:r>
            <a:endParaRPr lang="en-US" sz="850" dirty="0"/>
          </a:p>
          <a:p>
            <a:pPr indent="0" marL="0">
              <a:buNone/>
            </a:pPr>
            <a:r>
              <a:rPr lang="en-US" sz="850" dirty="0">
                <a:solidFill>
                  <a:srgbClr val="CBD5E1"/>
                </a:solidFill>
              </a:rPr>
              <a:t>Minimize total distortion</a:t>
            </a:r>
            <a:endParaRPr lang="en-US" sz="850" dirty="0"/>
          </a:p>
          <a:p>
            <a:pPr indent="0" marL="0">
              <a:buNone/>
            </a:pPr>
            <a:r>
              <a:rPr lang="en-US" sz="850" dirty="0">
                <a:solidFill>
                  <a:srgbClr val="CBD5E1"/>
                </a:solidFill>
              </a:rPr>
              <a:t>Solve payload constraint</a:t>
            </a:r>
            <a:endParaRPr lang="en-US" sz="850" dirty="0"/>
          </a:p>
        </p:txBody>
      </p:sp>
      <p:sp>
        <p:nvSpPr>
          <p:cNvPr id="32" name="Shape 30"/>
          <p:cNvSpPr/>
          <p:nvPr/>
        </p:nvSpPr>
        <p:spPr>
          <a:xfrm>
            <a:off x="2971800" y="3611880"/>
            <a:ext cx="201168" cy="0"/>
          </a:xfrm>
          <a:prstGeom prst="line">
            <a:avLst/>
          </a:prstGeom>
          <a:noFill/>
          <a:ln w="25400">
            <a:solidFill>
              <a:srgbClr val="00E5FF"/>
            </a:solidFill>
            <a:prstDash val="solid"/>
            <a:tailEnd type="triangle"/>
          </a:ln>
        </p:spPr>
      </p:sp>
      <p:sp>
        <p:nvSpPr>
          <p:cNvPr id="33" name="Shape 31"/>
          <p:cNvSpPr/>
          <p:nvPr/>
        </p:nvSpPr>
        <p:spPr>
          <a:xfrm>
            <a:off x="3172968" y="2862072"/>
            <a:ext cx="2743200" cy="1508760"/>
          </a:xfrm>
          <a:prstGeom prst="roundRect">
            <a:avLst>
              <a:gd name="adj" fmla="val 6061"/>
            </a:avLst>
          </a:prstGeom>
          <a:solidFill>
            <a:srgbClr val="0F1E35"/>
          </a:solidFill>
          <a:ln w="19050">
            <a:solidFill>
              <a:srgbClr val="FF3B5C"/>
            </a:solidFill>
            <a:prstDash val="solid"/>
          </a:ln>
          <a:effectLst>
            <a:outerShdw sx="100000" sy="100000" kx="0" ky="0" algn="bl" rotWithShape="0" blurRad="101600" dist="38100" dir="8100000">
              <a:srgbClr val="000000">
                <a:alpha val="30000"/>
              </a:srgbClr>
            </a:outerShdw>
          </a:effectLst>
        </p:spPr>
      </p:sp>
      <p:sp>
        <p:nvSpPr>
          <p:cNvPr id="34" name="Shape 32"/>
          <p:cNvSpPr/>
          <p:nvPr/>
        </p:nvSpPr>
        <p:spPr>
          <a:xfrm>
            <a:off x="3172968" y="2862072"/>
            <a:ext cx="502920" cy="1508760"/>
          </a:xfrm>
          <a:prstGeom prst="rect">
            <a:avLst/>
          </a:prstGeom>
          <a:solidFill>
            <a:srgbClr val="FF3B5C">
              <a:alpha val="85000"/>
            </a:srgbClr>
          </a:solidFill>
          <a:ln w="12700">
            <a:solidFill>
              <a:srgbClr val="FF3B5C">
                <a:alpha val="85000"/>
              </a:srgbClr>
            </a:solidFill>
            <a:prstDash val="solid"/>
          </a:ln>
        </p:spPr>
      </p:sp>
      <p:sp>
        <p:nvSpPr>
          <p:cNvPr id="35" name="Text 33"/>
          <p:cNvSpPr/>
          <p:nvPr/>
        </p:nvSpPr>
        <p:spPr>
          <a:xfrm>
            <a:off x="3172968" y="3410712"/>
            <a:ext cx="502920" cy="411480"/>
          </a:xfrm>
          <a:prstGeom prst="rect">
            <a:avLst/>
          </a:prstGeom>
          <a:noFill/>
          <a:ln/>
        </p:spPr>
        <p:txBody>
          <a:bodyPr wrap="square" rtlCol="0" anchor="ctr"/>
          <a:lstStyle/>
          <a:p>
            <a:pPr algn="ctr" indent="0" marL="0">
              <a:buNone/>
            </a:pPr>
            <a:r>
              <a:rPr lang="en-US" sz="1600" b="1" dirty="0">
                <a:solidFill>
                  <a:srgbClr val="07090F"/>
                </a:solidFill>
              </a:rPr>
              <a:t>⑤</a:t>
            </a:r>
            <a:endParaRPr lang="en-US" sz="1600" dirty="0"/>
          </a:p>
        </p:txBody>
      </p:sp>
      <p:sp>
        <p:nvSpPr>
          <p:cNvPr id="36" name="Text 34"/>
          <p:cNvSpPr/>
          <p:nvPr/>
        </p:nvSpPr>
        <p:spPr>
          <a:xfrm>
            <a:off x="3767328" y="2953512"/>
            <a:ext cx="2057400" cy="411480"/>
          </a:xfrm>
          <a:prstGeom prst="rect">
            <a:avLst/>
          </a:prstGeom>
          <a:noFill/>
          <a:ln/>
        </p:spPr>
        <p:txBody>
          <a:bodyPr wrap="square" rtlCol="0" anchor="ctr"/>
          <a:lstStyle/>
          <a:p>
            <a:pPr indent="0" marL="0">
              <a:buNone/>
            </a:pPr>
            <a:r>
              <a:rPr lang="en-US" sz="1200" b="1" dirty="0">
                <a:solidFill>
                  <a:srgbClr val="FF3B5C"/>
                </a:solidFill>
              </a:rPr>
              <a:t>Coefficient Modify</a:t>
            </a:r>
            <a:endParaRPr lang="en-US" sz="1200" dirty="0"/>
          </a:p>
        </p:txBody>
      </p:sp>
      <p:sp>
        <p:nvSpPr>
          <p:cNvPr id="37" name="Text 35"/>
          <p:cNvSpPr/>
          <p:nvPr/>
        </p:nvSpPr>
        <p:spPr>
          <a:xfrm>
            <a:off x="3767328" y="3364992"/>
            <a:ext cx="2057400" cy="822960"/>
          </a:xfrm>
          <a:prstGeom prst="rect">
            <a:avLst/>
          </a:prstGeom>
          <a:noFill/>
          <a:ln/>
        </p:spPr>
        <p:txBody>
          <a:bodyPr wrap="square" rtlCol="0" anchor="ctr"/>
          <a:lstStyle/>
          <a:p>
            <a:pPr indent="0" marL="0">
              <a:buNone/>
            </a:pPr>
            <a:r>
              <a:rPr lang="en-US" sz="850" dirty="0">
                <a:solidFill>
                  <a:srgbClr val="CBD5E1"/>
                </a:solidFill>
              </a:rPr>
              <a:t>Flip LSB of selected</a:t>
            </a:r>
            <a:endParaRPr lang="en-US" sz="850" dirty="0"/>
          </a:p>
          <a:p>
            <a:pPr indent="0" marL="0">
              <a:buNone/>
            </a:pPr>
            <a:r>
              <a:rPr lang="en-US" sz="850" dirty="0">
                <a:solidFill>
                  <a:srgbClr val="CBD5E1"/>
                </a:solidFill>
              </a:rPr>
              <a:t>wavelet coefficients only</a:t>
            </a:r>
            <a:endParaRPr lang="en-US" sz="850" dirty="0"/>
          </a:p>
          <a:p>
            <a:pPr indent="0" marL="0">
              <a:buNone/>
            </a:pPr>
            <a:r>
              <a:rPr lang="en-US" sz="850" dirty="0">
                <a:solidFill>
                  <a:srgbClr val="CBD5E1"/>
                </a:solidFill>
              </a:rPr>
              <a:t>Minimal visual change</a:t>
            </a:r>
            <a:endParaRPr lang="en-US" sz="850" dirty="0"/>
          </a:p>
        </p:txBody>
      </p:sp>
      <p:sp>
        <p:nvSpPr>
          <p:cNvPr id="38" name="Shape 36"/>
          <p:cNvSpPr/>
          <p:nvPr/>
        </p:nvSpPr>
        <p:spPr>
          <a:xfrm>
            <a:off x="5916168" y="3611880"/>
            <a:ext cx="201168" cy="0"/>
          </a:xfrm>
          <a:prstGeom prst="line">
            <a:avLst/>
          </a:prstGeom>
          <a:noFill/>
          <a:ln w="25400">
            <a:solidFill>
              <a:srgbClr val="00E5FF"/>
            </a:solidFill>
            <a:prstDash val="solid"/>
            <a:tailEnd type="triangle"/>
          </a:ln>
        </p:spPr>
      </p:sp>
      <p:sp>
        <p:nvSpPr>
          <p:cNvPr id="39" name="Shape 37"/>
          <p:cNvSpPr/>
          <p:nvPr/>
        </p:nvSpPr>
        <p:spPr>
          <a:xfrm>
            <a:off x="6117336" y="2862072"/>
            <a:ext cx="2743200" cy="1508760"/>
          </a:xfrm>
          <a:prstGeom prst="roundRect">
            <a:avLst>
              <a:gd name="adj" fmla="val 6061"/>
            </a:avLst>
          </a:prstGeom>
          <a:solidFill>
            <a:srgbClr val="0F1E35"/>
          </a:solidFill>
          <a:ln w="19050">
            <a:solidFill>
              <a:srgbClr val="00D4A1"/>
            </a:solidFill>
            <a:prstDash val="solid"/>
          </a:ln>
          <a:effectLst>
            <a:outerShdw sx="100000" sy="100000" kx="0" ky="0" algn="bl" rotWithShape="0" blurRad="101600" dist="38100" dir="8100000">
              <a:srgbClr val="000000">
                <a:alpha val="30000"/>
              </a:srgbClr>
            </a:outerShdw>
          </a:effectLst>
        </p:spPr>
      </p:sp>
      <p:sp>
        <p:nvSpPr>
          <p:cNvPr id="40" name="Shape 38"/>
          <p:cNvSpPr/>
          <p:nvPr/>
        </p:nvSpPr>
        <p:spPr>
          <a:xfrm>
            <a:off x="6117336" y="2862072"/>
            <a:ext cx="502920" cy="1508760"/>
          </a:xfrm>
          <a:prstGeom prst="rect">
            <a:avLst/>
          </a:prstGeom>
          <a:solidFill>
            <a:srgbClr val="00D4A1">
              <a:alpha val="85000"/>
            </a:srgbClr>
          </a:solidFill>
          <a:ln w="12700">
            <a:solidFill>
              <a:srgbClr val="00D4A1">
                <a:alpha val="85000"/>
              </a:srgbClr>
            </a:solidFill>
            <a:prstDash val="solid"/>
          </a:ln>
        </p:spPr>
      </p:sp>
      <p:sp>
        <p:nvSpPr>
          <p:cNvPr id="41" name="Text 39"/>
          <p:cNvSpPr/>
          <p:nvPr/>
        </p:nvSpPr>
        <p:spPr>
          <a:xfrm>
            <a:off x="6117336" y="3410712"/>
            <a:ext cx="502920" cy="411480"/>
          </a:xfrm>
          <a:prstGeom prst="rect">
            <a:avLst/>
          </a:prstGeom>
          <a:noFill/>
          <a:ln/>
        </p:spPr>
        <p:txBody>
          <a:bodyPr wrap="square" rtlCol="0" anchor="ctr"/>
          <a:lstStyle/>
          <a:p>
            <a:pPr algn="ctr" indent="0" marL="0">
              <a:buNone/>
            </a:pPr>
            <a:r>
              <a:rPr lang="en-US" sz="1600" b="1" dirty="0">
                <a:solidFill>
                  <a:srgbClr val="07090F"/>
                </a:solidFill>
              </a:rPr>
              <a:t>⑥</a:t>
            </a:r>
            <a:endParaRPr lang="en-US" sz="1600" dirty="0"/>
          </a:p>
        </p:txBody>
      </p:sp>
      <p:sp>
        <p:nvSpPr>
          <p:cNvPr id="42" name="Text 40"/>
          <p:cNvSpPr/>
          <p:nvPr/>
        </p:nvSpPr>
        <p:spPr>
          <a:xfrm>
            <a:off x="6711696" y="2953512"/>
            <a:ext cx="2057400" cy="411480"/>
          </a:xfrm>
          <a:prstGeom prst="rect">
            <a:avLst/>
          </a:prstGeom>
          <a:noFill/>
          <a:ln/>
        </p:spPr>
        <p:txBody>
          <a:bodyPr wrap="square" rtlCol="0" anchor="ctr"/>
          <a:lstStyle/>
          <a:p>
            <a:pPr indent="0" marL="0">
              <a:buNone/>
            </a:pPr>
            <a:r>
              <a:rPr lang="en-US" sz="1200" b="1" dirty="0">
                <a:solidFill>
                  <a:srgbClr val="00D4A1"/>
                </a:solidFill>
              </a:rPr>
              <a:t>Inverse DWT → RGB</a:t>
            </a:r>
            <a:endParaRPr lang="en-US" sz="1200" dirty="0"/>
          </a:p>
        </p:txBody>
      </p:sp>
      <p:sp>
        <p:nvSpPr>
          <p:cNvPr id="43" name="Text 41"/>
          <p:cNvSpPr/>
          <p:nvPr/>
        </p:nvSpPr>
        <p:spPr>
          <a:xfrm>
            <a:off x="6711696" y="3364992"/>
            <a:ext cx="2057400" cy="822960"/>
          </a:xfrm>
          <a:prstGeom prst="rect">
            <a:avLst/>
          </a:prstGeom>
          <a:noFill/>
          <a:ln/>
        </p:spPr>
        <p:txBody>
          <a:bodyPr wrap="square" rtlCol="0" anchor="ctr"/>
          <a:lstStyle/>
          <a:p>
            <a:pPr indent="0" marL="0">
              <a:buNone/>
            </a:pPr>
            <a:r>
              <a:rPr lang="en-US" sz="850" dirty="0">
                <a:solidFill>
                  <a:srgbClr val="CBD5E1"/>
                </a:solidFill>
              </a:rPr>
              <a:t>Reconstruct image</a:t>
            </a:r>
            <a:endParaRPr lang="en-US" sz="850" dirty="0"/>
          </a:p>
          <a:p>
            <a:pPr indent="0" marL="0">
              <a:buNone/>
            </a:pPr>
            <a:r>
              <a:rPr lang="en-US" sz="850" dirty="0">
                <a:solidFill>
                  <a:srgbClr val="CBD5E1"/>
                </a:solidFill>
              </a:rPr>
              <a:t>YUV → RGB conversion</a:t>
            </a:r>
            <a:endParaRPr lang="en-US" sz="850" dirty="0"/>
          </a:p>
          <a:p>
            <a:pPr indent="0" marL="0">
              <a:buNone/>
            </a:pPr>
            <a:r>
              <a:rPr lang="en-US" sz="850" dirty="0">
                <a:solidFill>
                  <a:srgbClr val="CBD5E1"/>
                </a:solidFill>
              </a:rPr>
              <a:t>Return stego image</a:t>
            </a:r>
            <a:endParaRPr lang="en-US" sz="850" dirty="0"/>
          </a:p>
        </p:txBody>
      </p:sp>
      <p:sp>
        <p:nvSpPr>
          <p:cNvPr id="44" name="Shape 42"/>
          <p:cNvSpPr/>
          <p:nvPr/>
        </p:nvSpPr>
        <p:spPr>
          <a:xfrm>
            <a:off x="228600" y="4572000"/>
            <a:ext cx="8686800" cy="384048"/>
          </a:xfrm>
          <a:prstGeom prst="roundRect">
            <a:avLst>
              <a:gd name="adj" fmla="val 14286"/>
            </a:avLst>
          </a:prstGeom>
          <a:solidFill>
            <a:srgbClr val="112233"/>
          </a:solidFill>
          <a:ln w="12700">
            <a:solidFill>
              <a:srgbClr val="00E5FF"/>
            </a:solidFill>
            <a:prstDash val="solid"/>
          </a:ln>
        </p:spPr>
      </p:sp>
      <p:sp>
        <p:nvSpPr>
          <p:cNvPr id="45" name="Text 43"/>
          <p:cNvSpPr/>
          <p:nvPr/>
        </p:nvSpPr>
        <p:spPr>
          <a:xfrm>
            <a:off x="365760" y="4590288"/>
            <a:ext cx="8321040" cy="329184"/>
          </a:xfrm>
          <a:prstGeom prst="rect">
            <a:avLst/>
          </a:prstGeom>
          <a:noFill/>
          <a:ln/>
        </p:spPr>
        <p:txBody>
          <a:bodyPr wrap="square" rtlCol="0" anchor="ctr"/>
          <a:lstStyle/>
          <a:p>
            <a:pPr algn="ctr" indent="0" marL="0">
              <a:buNone/>
            </a:pPr>
            <a:r>
              <a:rPr lang="en-US" sz="900" dirty="0">
                <a:solidFill>
                  <a:srgbClr val="00E5FF"/>
                </a:solidFill>
                <a:latin typeface="Consolas" pitchFamily="34" charset="0"/>
                <a:ea typeface="Consolas" pitchFamily="34" charset="-122"/>
                <a:cs typeface="Consolas" pitchFamily="34" charset="-120"/>
              </a:rPr>
              <a:t>Cost: ρ[i] = 1 / ( |c[i]|^1.0 + 1e-10 )   ·   Wavelet: Daubechies-8  ·  Subbands: LH, HL, HH only  ·  β = 1.0 fixed</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w="12700">
            <a:solidFill>
              <a:srgbClr val="0B1220"/>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457200" y="256032"/>
            <a:ext cx="1463040" cy="256032"/>
          </a:xfrm>
          <a:prstGeom prst="rect">
            <a:avLst/>
          </a:prstGeom>
          <a:solidFill>
            <a:srgbClr val="00E5FF"/>
          </a:solidFill>
          <a:ln w="12700">
            <a:solidFill>
              <a:srgbClr val="00E5FF"/>
            </a:solidFill>
            <a:prstDash val="solid"/>
          </a:ln>
        </p:spPr>
      </p:sp>
      <p:sp>
        <p:nvSpPr>
          <p:cNvPr id="5" name="Text 3"/>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ML PIPELINE</a:t>
            </a:r>
            <a:endParaRPr lang="en-US" sz="900" dirty="0"/>
          </a:p>
        </p:txBody>
      </p:sp>
      <p:sp>
        <p:nvSpPr>
          <p:cNvPr id="6" name="Text 4"/>
          <p:cNvSpPr/>
          <p:nvPr/>
        </p:nvSpPr>
        <p:spPr>
          <a:xfrm>
            <a:off x="2103120" y="182880"/>
            <a:ext cx="6583680" cy="43891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ML Detection Pipeline</a:t>
            </a:r>
            <a:endParaRPr lang="en-US" sz="2600" dirty="0"/>
          </a:p>
        </p:txBody>
      </p:sp>
      <p:sp>
        <p:nvSpPr>
          <p:cNvPr id="7" name="Shape 5"/>
          <p:cNvSpPr/>
          <p:nvPr/>
        </p:nvSpPr>
        <p:spPr>
          <a:xfrm>
            <a:off x="182880" y="777240"/>
            <a:ext cx="1554480" cy="1371600"/>
          </a:xfrm>
          <a:prstGeom prst="roundRect">
            <a:avLst>
              <a:gd name="adj" fmla="val 6667"/>
            </a:avLst>
          </a:prstGeom>
          <a:solidFill>
            <a:srgbClr val="0F1E35"/>
          </a:solidFill>
          <a:ln w="19050">
            <a:solidFill>
              <a:srgbClr val="1A8CFF"/>
            </a:solidFill>
            <a:prstDash val="solid"/>
          </a:ln>
          <a:effectLst>
            <a:outerShdw sx="100000" sy="100000" kx="0" ky="0" algn="bl" rotWithShape="0" blurRad="101600" dist="38100" dir="8100000">
              <a:srgbClr val="000000">
                <a:alpha val="30000"/>
              </a:srgbClr>
            </a:outerShdw>
          </a:effectLst>
        </p:spPr>
      </p:sp>
      <p:pic>
        <p:nvPicPr>
          <p:cNvPr id="8" name="Image 0" descr="preencoded.png">    </p:cNvPr>
          <p:cNvPicPr>
            <a:picLocks noChangeAspect="1"/>
          </p:cNvPicPr>
          <p:nvPr/>
        </p:nvPicPr>
        <p:blipFill>
          <a:blip r:embed="rId1"/>
          <a:stretch>
            <a:fillRect/>
          </a:stretch>
        </p:blipFill>
        <p:spPr>
          <a:xfrm>
            <a:off x="640080" y="886968"/>
            <a:ext cx="548640" cy="548640"/>
          </a:xfrm>
          <a:prstGeom prst="rect">
            <a:avLst/>
          </a:prstGeom>
        </p:spPr>
      </p:pic>
      <p:sp>
        <p:nvSpPr>
          <p:cNvPr id="9" name="Text 6"/>
          <p:cNvSpPr/>
          <p:nvPr/>
        </p:nvSpPr>
        <p:spPr>
          <a:xfrm>
            <a:off x="182880" y="1463040"/>
            <a:ext cx="1554480" cy="365760"/>
          </a:xfrm>
          <a:prstGeom prst="rect">
            <a:avLst/>
          </a:prstGeom>
          <a:noFill/>
          <a:ln/>
        </p:spPr>
        <p:txBody>
          <a:bodyPr wrap="square" rtlCol="0" anchor="ctr"/>
          <a:lstStyle/>
          <a:p>
            <a:pPr algn="ctr" indent="0" marL="0">
              <a:buNone/>
            </a:pPr>
            <a:r>
              <a:rPr lang="en-US" sz="900" b="1" dirty="0">
                <a:solidFill>
                  <a:srgbClr val="1A8CFF"/>
                </a:solidFill>
              </a:rPr>
              <a:t>ALASKA2</a:t>
            </a:r>
            <a:endParaRPr lang="en-US" sz="900" dirty="0"/>
          </a:p>
          <a:p>
            <a:pPr algn="ctr" indent="0" marL="0">
              <a:buNone/>
            </a:pPr>
            <a:r>
              <a:rPr lang="en-US" sz="900" b="1" dirty="0">
                <a:solidFill>
                  <a:srgbClr val="1A8CFF"/>
                </a:solidFill>
              </a:rPr>
              <a:t>Dataset</a:t>
            </a:r>
            <a:endParaRPr lang="en-US" sz="900" dirty="0"/>
          </a:p>
        </p:txBody>
      </p:sp>
      <p:sp>
        <p:nvSpPr>
          <p:cNvPr id="10" name="Text 7"/>
          <p:cNvSpPr/>
          <p:nvPr/>
        </p:nvSpPr>
        <p:spPr>
          <a:xfrm>
            <a:off x="182880" y="1810512"/>
            <a:ext cx="1554480" cy="310896"/>
          </a:xfrm>
          <a:prstGeom prst="rect">
            <a:avLst/>
          </a:prstGeom>
          <a:noFill/>
          <a:ln/>
        </p:spPr>
        <p:txBody>
          <a:bodyPr wrap="square" rtlCol="0" anchor="ctr"/>
          <a:lstStyle/>
          <a:p>
            <a:pPr algn="ctr" indent="0" marL="0">
              <a:buNone/>
            </a:pPr>
            <a:r>
              <a:rPr lang="en-US" sz="750" dirty="0">
                <a:solidFill>
                  <a:srgbClr val="CBD5E1"/>
                </a:solidFill>
              </a:rPr>
              <a:t>75,000+ images</a:t>
            </a:r>
            <a:endParaRPr lang="en-US" sz="750" dirty="0"/>
          </a:p>
          <a:p>
            <a:pPr algn="ctr" indent="0" marL="0">
              <a:buNone/>
            </a:pPr>
            <a:r>
              <a:rPr lang="en-US" sz="750" dirty="0">
                <a:solidFill>
                  <a:srgbClr val="CBD5E1"/>
                </a:solidFill>
              </a:rPr>
              <a:t>50% clean/stego</a:t>
            </a:r>
            <a:endParaRPr lang="en-US" sz="750" dirty="0"/>
          </a:p>
        </p:txBody>
      </p:sp>
      <p:sp>
        <p:nvSpPr>
          <p:cNvPr id="11" name="Shape 8"/>
          <p:cNvSpPr/>
          <p:nvPr/>
        </p:nvSpPr>
        <p:spPr>
          <a:xfrm>
            <a:off x="1737360" y="1463040"/>
            <a:ext cx="274320" cy="0"/>
          </a:xfrm>
          <a:prstGeom prst="line">
            <a:avLst/>
          </a:prstGeom>
          <a:noFill/>
          <a:ln w="25400">
            <a:solidFill>
              <a:srgbClr val="00E5FF"/>
            </a:solidFill>
            <a:prstDash val="solid"/>
            <a:tailEnd type="triangle"/>
          </a:ln>
        </p:spPr>
      </p:sp>
      <p:sp>
        <p:nvSpPr>
          <p:cNvPr id="12" name="Shape 9"/>
          <p:cNvSpPr/>
          <p:nvPr/>
        </p:nvSpPr>
        <p:spPr>
          <a:xfrm>
            <a:off x="2057400" y="777240"/>
            <a:ext cx="1554480" cy="1371600"/>
          </a:xfrm>
          <a:prstGeom prst="roundRect">
            <a:avLst>
              <a:gd name="adj" fmla="val 6667"/>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pic>
        <p:nvPicPr>
          <p:cNvPr id="13" name="Image 1" descr="preencoded.png">    </p:cNvPr>
          <p:cNvPicPr>
            <a:picLocks noChangeAspect="1"/>
          </p:cNvPicPr>
          <p:nvPr/>
        </p:nvPicPr>
        <p:blipFill>
          <a:blip r:embed="rId2"/>
          <a:stretch>
            <a:fillRect/>
          </a:stretch>
        </p:blipFill>
        <p:spPr>
          <a:xfrm>
            <a:off x="2514600" y="886968"/>
            <a:ext cx="548640" cy="548640"/>
          </a:xfrm>
          <a:prstGeom prst="rect">
            <a:avLst/>
          </a:prstGeom>
        </p:spPr>
      </p:pic>
      <p:sp>
        <p:nvSpPr>
          <p:cNvPr id="14" name="Text 10"/>
          <p:cNvSpPr/>
          <p:nvPr/>
        </p:nvSpPr>
        <p:spPr>
          <a:xfrm>
            <a:off x="2057400" y="1463040"/>
            <a:ext cx="1554480" cy="320040"/>
          </a:xfrm>
          <a:prstGeom prst="rect">
            <a:avLst/>
          </a:prstGeom>
          <a:noFill/>
          <a:ln/>
        </p:spPr>
        <p:txBody>
          <a:bodyPr wrap="square" rtlCol="0" anchor="ctr"/>
          <a:lstStyle/>
          <a:p>
            <a:pPr algn="ctr" indent="0" marL="0">
              <a:buNone/>
            </a:pPr>
            <a:r>
              <a:rPr lang="en-US" sz="900" b="1" dirty="0">
                <a:solidFill>
                  <a:srgbClr val="7B2FFF"/>
                </a:solidFill>
              </a:rPr>
              <a:t>Preprocessing</a:t>
            </a:r>
            <a:endParaRPr lang="en-US" sz="900" dirty="0"/>
          </a:p>
        </p:txBody>
      </p:sp>
      <p:sp>
        <p:nvSpPr>
          <p:cNvPr id="15" name="Text 11"/>
          <p:cNvSpPr/>
          <p:nvPr/>
        </p:nvSpPr>
        <p:spPr>
          <a:xfrm>
            <a:off x="2057400" y="1764792"/>
            <a:ext cx="1554480" cy="365760"/>
          </a:xfrm>
          <a:prstGeom prst="rect">
            <a:avLst/>
          </a:prstGeom>
          <a:noFill/>
          <a:ln/>
        </p:spPr>
        <p:txBody>
          <a:bodyPr wrap="square" rtlCol="0" anchor="ctr"/>
          <a:lstStyle/>
          <a:p>
            <a:pPr algn="ctr" indent="0" marL="0">
              <a:buNone/>
            </a:pPr>
            <a:r>
              <a:rPr lang="en-US" sz="750" dirty="0">
                <a:solidFill>
                  <a:srgbClr val="CBD5E1"/>
                </a:solidFill>
              </a:rPr>
              <a:t>256×256 resize</a:t>
            </a:r>
            <a:endParaRPr lang="en-US" sz="750" dirty="0"/>
          </a:p>
          <a:p>
            <a:pPr algn="ctr" indent="0" marL="0">
              <a:buNone/>
            </a:pPr>
            <a:r>
              <a:rPr lang="en-US" sz="750" dirty="0">
                <a:solidFill>
                  <a:srgbClr val="CBD5E1"/>
                </a:solidFill>
              </a:rPr>
              <a:t>Normalize [0,1]</a:t>
            </a:r>
            <a:endParaRPr lang="en-US" sz="750" dirty="0"/>
          </a:p>
          <a:p>
            <a:pPr algn="ctr" indent="0" marL="0">
              <a:buNone/>
            </a:pPr>
            <a:r>
              <a:rPr lang="en-US" sz="750" dirty="0">
                <a:solidFill>
                  <a:srgbClr val="CBD5E1"/>
                </a:solidFill>
              </a:rPr>
              <a:t>70/15/15 split</a:t>
            </a:r>
            <a:endParaRPr lang="en-US" sz="750" dirty="0"/>
          </a:p>
        </p:txBody>
      </p:sp>
      <p:sp>
        <p:nvSpPr>
          <p:cNvPr id="16" name="Shape 12"/>
          <p:cNvSpPr/>
          <p:nvPr/>
        </p:nvSpPr>
        <p:spPr>
          <a:xfrm>
            <a:off x="3611880" y="1463040"/>
            <a:ext cx="274320" cy="0"/>
          </a:xfrm>
          <a:prstGeom prst="line">
            <a:avLst/>
          </a:prstGeom>
          <a:noFill/>
          <a:ln w="25400">
            <a:solidFill>
              <a:srgbClr val="00E5FF"/>
            </a:solidFill>
            <a:prstDash val="solid"/>
            <a:tailEnd type="triangle"/>
          </a:ln>
        </p:spPr>
      </p:sp>
      <p:sp>
        <p:nvSpPr>
          <p:cNvPr id="17" name="Shape 13"/>
          <p:cNvSpPr/>
          <p:nvPr/>
        </p:nvSpPr>
        <p:spPr>
          <a:xfrm>
            <a:off x="3931920" y="685800"/>
            <a:ext cx="3246120" cy="2194560"/>
          </a:xfrm>
          <a:prstGeom prst="roundRect">
            <a:avLst>
              <a:gd name="adj" fmla="val 5833"/>
            </a:avLst>
          </a:prstGeom>
          <a:solidFill>
            <a:srgbClr val="091420"/>
          </a:solidFill>
          <a:ln w="25400">
            <a:solidFill>
              <a:srgbClr val="00E5FF"/>
            </a:solidFill>
            <a:prstDash val="dash"/>
          </a:ln>
        </p:spPr>
      </p:sp>
      <p:sp>
        <p:nvSpPr>
          <p:cNvPr id="18" name="Text 14"/>
          <p:cNvSpPr/>
          <p:nvPr/>
        </p:nvSpPr>
        <p:spPr>
          <a:xfrm>
            <a:off x="4069080" y="713232"/>
            <a:ext cx="2971800" cy="274320"/>
          </a:xfrm>
          <a:prstGeom prst="rect">
            <a:avLst/>
          </a:prstGeom>
          <a:noFill/>
          <a:ln/>
        </p:spPr>
        <p:txBody>
          <a:bodyPr wrap="square" rtlCol="0" anchor="ctr"/>
          <a:lstStyle/>
          <a:p>
            <a:pPr indent="0" marL="0">
              <a:buNone/>
            </a:pPr>
            <a:r>
              <a:rPr lang="en-US" sz="950" b="1" dirty="0">
                <a:solidFill>
                  <a:srgbClr val="00E5FF"/>
                </a:solidFill>
              </a:rPr>
              <a:t>Optimization Loop</a:t>
            </a:r>
            <a:endParaRPr lang="en-US" sz="950" dirty="0"/>
          </a:p>
        </p:txBody>
      </p:sp>
      <p:sp>
        <p:nvSpPr>
          <p:cNvPr id="19" name="Shape 15"/>
          <p:cNvSpPr/>
          <p:nvPr/>
        </p:nvSpPr>
        <p:spPr>
          <a:xfrm>
            <a:off x="4069080" y="1024128"/>
            <a:ext cx="1371600" cy="1645920"/>
          </a:xfrm>
          <a:prstGeom prst="roundRect">
            <a:avLst>
              <a:gd name="adj" fmla="val 6667"/>
            </a:avLst>
          </a:prstGeom>
          <a:solidFill>
            <a:srgbClr val="0F1E35"/>
          </a:solidFill>
          <a:ln w="19050">
            <a:solidFill>
              <a:srgbClr val="00E5FF"/>
            </a:solidFill>
            <a:prstDash val="solid"/>
          </a:ln>
        </p:spPr>
      </p:sp>
      <p:pic>
        <p:nvPicPr>
          <p:cNvPr id="20" name="Image 2" descr="preencoded.png">    </p:cNvPr>
          <p:cNvPicPr>
            <a:picLocks noChangeAspect="1"/>
          </p:cNvPicPr>
          <p:nvPr/>
        </p:nvPicPr>
        <p:blipFill>
          <a:blip r:embed="rId3"/>
          <a:stretch>
            <a:fillRect/>
          </a:stretch>
        </p:blipFill>
        <p:spPr>
          <a:xfrm>
            <a:off x="4526280" y="1143000"/>
            <a:ext cx="438912" cy="438912"/>
          </a:xfrm>
          <a:prstGeom prst="rect">
            <a:avLst/>
          </a:prstGeom>
        </p:spPr>
      </p:pic>
      <p:sp>
        <p:nvSpPr>
          <p:cNvPr id="21" name="Text 16"/>
          <p:cNvSpPr/>
          <p:nvPr/>
        </p:nvSpPr>
        <p:spPr>
          <a:xfrm>
            <a:off x="4069080" y="1618488"/>
            <a:ext cx="1371600" cy="329184"/>
          </a:xfrm>
          <a:prstGeom prst="rect">
            <a:avLst/>
          </a:prstGeom>
          <a:noFill/>
          <a:ln/>
        </p:spPr>
        <p:txBody>
          <a:bodyPr wrap="square" rtlCol="0" anchor="ctr"/>
          <a:lstStyle/>
          <a:p>
            <a:pPr algn="ctr" indent="0" marL="0">
              <a:buNone/>
            </a:pPr>
            <a:r>
              <a:rPr lang="en-US" sz="900" b="1" dirty="0">
                <a:solidFill>
                  <a:srgbClr val="00E5FF"/>
                </a:solidFill>
              </a:rPr>
              <a:t>CNN</a:t>
            </a:r>
            <a:endParaRPr lang="en-US" sz="900" dirty="0"/>
          </a:p>
          <a:p>
            <a:pPr algn="ctr" indent="0" marL="0">
              <a:buNone/>
            </a:pPr>
            <a:r>
              <a:rPr lang="en-US" sz="900" b="1" dirty="0">
                <a:solidFill>
                  <a:srgbClr val="00E5FF"/>
                </a:solidFill>
              </a:rPr>
              <a:t>PyTorch</a:t>
            </a:r>
            <a:endParaRPr lang="en-US" sz="900" dirty="0"/>
          </a:p>
        </p:txBody>
      </p:sp>
      <p:sp>
        <p:nvSpPr>
          <p:cNvPr id="22" name="Text 17"/>
          <p:cNvSpPr/>
          <p:nvPr/>
        </p:nvSpPr>
        <p:spPr>
          <a:xfrm>
            <a:off x="4069080" y="1938528"/>
            <a:ext cx="1371600" cy="685800"/>
          </a:xfrm>
          <a:prstGeom prst="rect">
            <a:avLst/>
          </a:prstGeom>
          <a:noFill/>
          <a:ln/>
        </p:spPr>
        <p:txBody>
          <a:bodyPr wrap="square" rtlCol="0" anchor="ctr"/>
          <a:lstStyle/>
          <a:p>
            <a:pPr algn="ctr" indent="0" marL="0">
              <a:buNone/>
            </a:pPr>
            <a:r>
              <a:rPr lang="en-US" sz="750" dirty="0">
                <a:solidFill>
                  <a:srgbClr val="CBD5E1"/>
                </a:solidFill>
              </a:rPr>
              <a:t>4-layer</a:t>
            </a:r>
            <a:endParaRPr lang="en-US" sz="750" dirty="0"/>
          </a:p>
          <a:p>
            <a:pPr algn="ctr" indent="0" marL="0">
              <a:buNone/>
            </a:pPr>
            <a:r>
              <a:rPr lang="en-US" sz="750" dirty="0">
                <a:solidFill>
                  <a:srgbClr val="CBD5E1"/>
                </a:solidFill>
              </a:rPr>
              <a:t>batch=64</a:t>
            </a:r>
            <a:endParaRPr lang="en-US" sz="750" dirty="0"/>
          </a:p>
          <a:p>
            <a:pPr algn="ctr" indent="0" marL="0">
              <a:buNone/>
            </a:pPr>
            <a:r>
              <a:rPr lang="en-US" sz="750" dirty="0">
                <a:solidFill>
                  <a:srgbClr val="CBD5E1"/>
                </a:solidFill>
              </a:rPr>
              <a:t>AdamW</a:t>
            </a:r>
            <a:endParaRPr lang="en-US" sz="750" dirty="0"/>
          </a:p>
        </p:txBody>
      </p:sp>
      <p:sp>
        <p:nvSpPr>
          <p:cNvPr id="23" name="Shape 18"/>
          <p:cNvSpPr/>
          <p:nvPr/>
        </p:nvSpPr>
        <p:spPr>
          <a:xfrm>
            <a:off x="5577840" y="1024128"/>
            <a:ext cx="1463040" cy="1645920"/>
          </a:xfrm>
          <a:prstGeom prst="roundRect">
            <a:avLst>
              <a:gd name="adj" fmla="val 6250"/>
            </a:avLst>
          </a:prstGeom>
          <a:solidFill>
            <a:srgbClr val="0F1E35"/>
          </a:solidFill>
          <a:ln w="19050">
            <a:solidFill>
              <a:srgbClr val="7B2FFF"/>
            </a:solidFill>
            <a:prstDash val="solid"/>
          </a:ln>
        </p:spPr>
      </p:sp>
      <p:pic>
        <p:nvPicPr>
          <p:cNvPr id="24" name="Image 3" descr="preencoded.png">    </p:cNvPr>
          <p:cNvPicPr>
            <a:picLocks noChangeAspect="1"/>
          </p:cNvPicPr>
          <p:nvPr/>
        </p:nvPicPr>
        <p:blipFill>
          <a:blip r:embed="rId4"/>
          <a:stretch>
            <a:fillRect/>
          </a:stretch>
        </p:blipFill>
        <p:spPr>
          <a:xfrm>
            <a:off x="6035040" y="1143000"/>
            <a:ext cx="438912" cy="438912"/>
          </a:xfrm>
          <a:prstGeom prst="rect">
            <a:avLst/>
          </a:prstGeom>
        </p:spPr>
      </p:pic>
      <p:sp>
        <p:nvSpPr>
          <p:cNvPr id="25" name="Text 19"/>
          <p:cNvSpPr/>
          <p:nvPr/>
        </p:nvSpPr>
        <p:spPr>
          <a:xfrm>
            <a:off x="5577840" y="1618488"/>
            <a:ext cx="1463040" cy="329184"/>
          </a:xfrm>
          <a:prstGeom prst="rect">
            <a:avLst/>
          </a:prstGeom>
          <a:noFill/>
          <a:ln/>
        </p:spPr>
        <p:txBody>
          <a:bodyPr wrap="square" rtlCol="0" anchor="ctr"/>
          <a:lstStyle/>
          <a:p>
            <a:pPr algn="ctr" indent="0" marL="0">
              <a:buNone/>
            </a:pPr>
            <a:r>
              <a:rPr lang="en-US" sz="900" b="1" dirty="0">
                <a:solidFill>
                  <a:srgbClr val="7B2FFF"/>
                </a:solidFill>
              </a:rPr>
              <a:t>Optuna</a:t>
            </a:r>
            <a:endParaRPr lang="en-US" sz="900" dirty="0"/>
          </a:p>
          <a:p>
            <a:pPr algn="ctr" indent="0" marL="0">
              <a:buNone/>
            </a:pPr>
            <a:r>
              <a:rPr lang="en-US" sz="900" b="1" dirty="0">
                <a:solidFill>
                  <a:srgbClr val="7B2FFF"/>
                </a:solidFill>
              </a:rPr>
              <a:t>HPO</a:t>
            </a:r>
            <a:endParaRPr lang="en-US" sz="900" dirty="0"/>
          </a:p>
        </p:txBody>
      </p:sp>
      <p:sp>
        <p:nvSpPr>
          <p:cNvPr id="26" name="Text 20"/>
          <p:cNvSpPr/>
          <p:nvPr/>
        </p:nvSpPr>
        <p:spPr>
          <a:xfrm>
            <a:off x="5577840" y="1938528"/>
            <a:ext cx="1463040" cy="685800"/>
          </a:xfrm>
          <a:prstGeom prst="rect">
            <a:avLst/>
          </a:prstGeom>
          <a:noFill/>
          <a:ln/>
        </p:spPr>
        <p:txBody>
          <a:bodyPr wrap="square" rtlCol="0" anchor="ctr"/>
          <a:lstStyle/>
          <a:p>
            <a:pPr algn="ctr" indent="0" marL="0">
              <a:buNone/>
            </a:pPr>
            <a:r>
              <a:rPr lang="en-US" sz="750" dirty="0">
                <a:solidFill>
                  <a:srgbClr val="CBD5E1"/>
                </a:solidFill>
              </a:rPr>
              <a:t>lr, dropout</a:t>
            </a:r>
            <a:endParaRPr lang="en-US" sz="750" dirty="0"/>
          </a:p>
          <a:p>
            <a:pPr algn="ctr" indent="0" marL="0">
              <a:buNone/>
            </a:pPr>
            <a:r>
              <a:rPr lang="en-US" sz="750" dirty="0">
                <a:solidFill>
                  <a:srgbClr val="CBD5E1"/>
                </a:solidFill>
              </a:rPr>
              <a:t>batch, layers</a:t>
            </a:r>
            <a:endParaRPr lang="en-US" sz="750" dirty="0"/>
          </a:p>
          <a:p>
            <a:pPr algn="ctr" indent="0" marL="0">
              <a:buNone/>
            </a:pPr>
            <a:r>
              <a:rPr lang="en-US" sz="750" dirty="0">
                <a:solidFill>
                  <a:srgbClr val="CBD5E1"/>
                </a:solidFill>
              </a:rPr>
              <a:t>optimizer</a:t>
            </a:r>
            <a:endParaRPr lang="en-US" sz="750" dirty="0"/>
          </a:p>
        </p:txBody>
      </p:sp>
      <p:sp>
        <p:nvSpPr>
          <p:cNvPr id="27" name="Shape 21"/>
          <p:cNvSpPr/>
          <p:nvPr/>
        </p:nvSpPr>
        <p:spPr>
          <a:xfrm>
            <a:off x="5440680" y="1828800"/>
            <a:ext cx="137160" cy="0"/>
          </a:xfrm>
          <a:prstGeom prst="line">
            <a:avLst/>
          </a:prstGeom>
          <a:noFill/>
          <a:ln w="25400">
            <a:solidFill>
              <a:srgbClr val="00E5FF"/>
            </a:solidFill>
            <a:prstDash val="solid"/>
            <a:tailEnd type="triangle"/>
          </a:ln>
        </p:spPr>
      </p:sp>
      <p:sp>
        <p:nvSpPr>
          <p:cNvPr id="28" name="Shape 22"/>
          <p:cNvSpPr/>
          <p:nvPr/>
        </p:nvSpPr>
        <p:spPr>
          <a:xfrm>
            <a:off x="5577840" y="1828800"/>
            <a:ext cx="-137160" cy="0"/>
          </a:xfrm>
          <a:prstGeom prst="line">
            <a:avLst/>
          </a:prstGeom>
          <a:noFill/>
          <a:ln w="25400">
            <a:solidFill>
              <a:srgbClr val="00E5FF"/>
            </a:solidFill>
            <a:prstDash val="solid"/>
            <a:tailEnd type="triangle"/>
          </a:ln>
        </p:spPr>
      </p:sp>
      <p:sp>
        <p:nvSpPr>
          <p:cNvPr id="29" name="Shape 23"/>
          <p:cNvSpPr/>
          <p:nvPr/>
        </p:nvSpPr>
        <p:spPr>
          <a:xfrm>
            <a:off x="7178040" y="1463040"/>
            <a:ext cx="274320" cy="0"/>
          </a:xfrm>
          <a:prstGeom prst="line">
            <a:avLst/>
          </a:prstGeom>
          <a:noFill/>
          <a:ln w="25400">
            <a:solidFill>
              <a:srgbClr val="00E5FF"/>
            </a:solidFill>
            <a:prstDash val="solid"/>
            <a:tailEnd type="triangle"/>
          </a:ln>
        </p:spPr>
      </p:sp>
      <p:sp>
        <p:nvSpPr>
          <p:cNvPr id="30" name="Shape 24"/>
          <p:cNvSpPr/>
          <p:nvPr/>
        </p:nvSpPr>
        <p:spPr>
          <a:xfrm>
            <a:off x="7498080" y="777240"/>
            <a:ext cx="1463040" cy="1371600"/>
          </a:xfrm>
          <a:prstGeom prst="roundRect">
            <a:avLst>
              <a:gd name="adj" fmla="val 6667"/>
            </a:avLst>
          </a:prstGeom>
          <a:solidFill>
            <a:srgbClr val="0F1E35"/>
          </a:solidFill>
          <a:ln w="19050">
            <a:solidFill>
              <a:srgbClr val="00D4A1"/>
            </a:solidFill>
            <a:prstDash val="solid"/>
          </a:ln>
          <a:effectLst>
            <a:outerShdw sx="100000" sy="100000" kx="0" ky="0" algn="bl" rotWithShape="0" blurRad="101600" dist="38100" dir="8100000">
              <a:srgbClr val="000000">
                <a:alpha val="30000"/>
              </a:srgbClr>
            </a:outerShdw>
          </a:effectLst>
        </p:spPr>
      </p:sp>
      <p:pic>
        <p:nvPicPr>
          <p:cNvPr id="31" name="Image 4" descr="preencoded.png">    </p:cNvPr>
          <p:cNvPicPr>
            <a:picLocks noChangeAspect="1"/>
          </p:cNvPicPr>
          <p:nvPr/>
        </p:nvPicPr>
        <p:blipFill>
          <a:blip r:embed="rId5"/>
          <a:stretch>
            <a:fillRect/>
          </a:stretch>
        </p:blipFill>
        <p:spPr>
          <a:xfrm>
            <a:off x="7955280" y="886968"/>
            <a:ext cx="530352" cy="530352"/>
          </a:xfrm>
          <a:prstGeom prst="rect">
            <a:avLst/>
          </a:prstGeom>
        </p:spPr>
      </p:pic>
      <p:sp>
        <p:nvSpPr>
          <p:cNvPr id="32" name="Text 25"/>
          <p:cNvSpPr/>
          <p:nvPr/>
        </p:nvSpPr>
        <p:spPr>
          <a:xfrm>
            <a:off x="7498080" y="1481328"/>
            <a:ext cx="1463040" cy="310896"/>
          </a:xfrm>
          <a:prstGeom prst="rect">
            <a:avLst/>
          </a:prstGeom>
          <a:noFill/>
          <a:ln/>
        </p:spPr>
        <p:txBody>
          <a:bodyPr wrap="square" rtlCol="0" anchor="ctr"/>
          <a:lstStyle/>
          <a:p>
            <a:pPr algn="ctr" indent="0" marL="0">
              <a:buNone/>
            </a:pPr>
            <a:r>
              <a:rPr lang="en-US" sz="900" b="1" dirty="0">
                <a:solidFill>
                  <a:srgbClr val="00D4A1"/>
                </a:solidFill>
              </a:rPr>
              <a:t>ONNX</a:t>
            </a:r>
            <a:endParaRPr lang="en-US" sz="900" dirty="0"/>
          </a:p>
          <a:p>
            <a:pPr algn="ctr" indent="0" marL="0">
              <a:buNone/>
            </a:pPr>
            <a:r>
              <a:rPr lang="en-US" sz="900" b="1" dirty="0">
                <a:solidFill>
                  <a:srgbClr val="00D4A1"/>
                </a:solidFill>
              </a:rPr>
              <a:t>Export</a:t>
            </a:r>
            <a:endParaRPr lang="en-US" sz="900" dirty="0"/>
          </a:p>
        </p:txBody>
      </p:sp>
      <p:sp>
        <p:nvSpPr>
          <p:cNvPr id="33" name="Text 26"/>
          <p:cNvSpPr/>
          <p:nvPr/>
        </p:nvSpPr>
        <p:spPr>
          <a:xfrm>
            <a:off x="7498080" y="1783080"/>
            <a:ext cx="1463040" cy="320040"/>
          </a:xfrm>
          <a:prstGeom prst="rect">
            <a:avLst/>
          </a:prstGeom>
          <a:noFill/>
          <a:ln/>
        </p:spPr>
        <p:txBody>
          <a:bodyPr wrap="square" rtlCol="0" anchor="ctr"/>
          <a:lstStyle/>
          <a:p>
            <a:pPr algn="ctr" indent="0" marL="0">
              <a:buNone/>
            </a:pPr>
            <a:r>
              <a:rPr lang="en-US" sz="750" dirty="0">
                <a:solidFill>
                  <a:srgbClr val="CBD5E1"/>
                </a:solidFill>
              </a:rPr>
              <a:t>model.onnx</a:t>
            </a:r>
            <a:endParaRPr lang="en-US" sz="750" dirty="0"/>
          </a:p>
          <a:p>
            <a:pPr algn="ctr" indent="0" marL="0">
              <a:buNone/>
            </a:pPr>
            <a:r>
              <a:rPr lang="en-US" sz="750" dirty="0">
                <a:solidFill>
                  <a:srgbClr val="CBD5E1"/>
                </a:solidFill>
              </a:rPr>
              <a:t>CPU inference</a:t>
            </a:r>
            <a:endParaRPr lang="en-US" sz="750" dirty="0"/>
          </a:p>
        </p:txBody>
      </p:sp>
      <p:sp>
        <p:nvSpPr>
          <p:cNvPr id="34" name="Shape 27"/>
          <p:cNvSpPr/>
          <p:nvPr/>
        </p:nvSpPr>
        <p:spPr>
          <a:xfrm>
            <a:off x="182880" y="3063240"/>
            <a:ext cx="8778240" cy="1481328"/>
          </a:xfrm>
          <a:prstGeom prst="roundRect">
            <a:avLst>
              <a:gd name="adj" fmla="val 6173"/>
            </a:avLst>
          </a:prstGeom>
          <a:solidFill>
            <a:srgbClr val="0F1E35"/>
          </a:solidFill>
          <a:ln w="12700">
            <a:solidFill>
              <a:srgbClr val="00E5FF"/>
            </a:solidFill>
            <a:prstDash val="solid"/>
          </a:ln>
        </p:spPr>
      </p:sp>
      <p:sp>
        <p:nvSpPr>
          <p:cNvPr id="35" name="Text 28"/>
          <p:cNvSpPr/>
          <p:nvPr/>
        </p:nvSpPr>
        <p:spPr>
          <a:xfrm>
            <a:off x="320040" y="3090672"/>
            <a:ext cx="8412480" cy="292608"/>
          </a:xfrm>
          <a:prstGeom prst="rect">
            <a:avLst/>
          </a:prstGeom>
          <a:noFill/>
          <a:ln/>
        </p:spPr>
        <p:txBody>
          <a:bodyPr wrap="square" rtlCol="0" anchor="ctr"/>
          <a:lstStyle/>
          <a:p>
            <a:pPr indent="0" marL="0">
              <a:buNone/>
            </a:pPr>
            <a:r>
              <a:rPr lang="en-US" sz="1100" b="1" dirty="0">
                <a:solidFill>
                  <a:srgbClr val="00E5FF"/>
                </a:solidFill>
              </a:rPr>
              <a:t>Target Performance Metrics</a:t>
            </a:r>
            <a:endParaRPr lang="en-US" sz="1100" dirty="0"/>
          </a:p>
        </p:txBody>
      </p:sp>
      <p:sp>
        <p:nvSpPr>
          <p:cNvPr id="36" name="Shape 29"/>
          <p:cNvSpPr/>
          <p:nvPr/>
        </p:nvSpPr>
        <p:spPr>
          <a:xfrm>
            <a:off x="320040" y="3429000"/>
            <a:ext cx="1325880" cy="868680"/>
          </a:xfrm>
          <a:prstGeom prst="roundRect">
            <a:avLst>
              <a:gd name="adj" fmla="val 8421"/>
            </a:avLst>
          </a:prstGeom>
          <a:solidFill>
            <a:srgbClr val="0B1220"/>
          </a:solidFill>
          <a:ln w="12700">
            <a:solidFill>
              <a:srgbClr val="00D4A1"/>
            </a:solidFill>
            <a:prstDash val="solid"/>
          </a:ln>
        </p:spPr>
      </p:sp>
      <p:sp>
        <p:nvSpPr>
          <p:cNvPr id="37" name="Text 30"/>
          <p:cNvSpPr/>
          <p:nvPr/>
        </p:nvSpPr>
        <p:spPr>
          <a:xfrm>
            <a:off x="320040" y="3456432"/>
            <a:ext cx="1325880" cy="256032"/>
          </a:xfrm>
          <a:prstGeom prst="rect">
            <a:avLst/>
          </a:prstGeom>
          <a:noFill/>
          <a:ln/>
        </p:spPr>
        <p:txBody>
          <a:bodyPr wrap="square" rtlCol="0" anchor="ctr"/>
          <a:lstStyle/>
          <a:p>
            <a:pPr algn="ctr" indent="0" marL="0">
              <a:buNone/>
            </a:pPr>
            <a:r>
              <a:rPr lang="en-US" sz="800" b="1" dirty="0">
                <a:solidFill>
                  <a:srgbClr val="00D4A1"/>
                </a:solidFill>
              </a:rPr>
              <a:t>Accuracy</a:t>
            </a:r>
            <a:endParaRPr lang="en-US" sz="800" dirty="0"/>
          </a:p>
        </p:txBody>
      </p:sp>
      <p:sp>
        <p:nvSpPr>
          <p:cNvPr id="38" name="Text 31"/>
          <p:cNvSpPr/>
          <p:nvPr/>
        </p:nvSpPr>
        <p:spPr>
          <a:xfrm>
            <a:off x="320040" y="3712464"/>
            <a:ext cx="1325880" cy="320040"/>
          </a:xfrm>
          <a:prstGeom prst="rect">
            <a:avLst/>
          </a:prstGeom>
          <a:noFill/>
          <a:ln/>
        </p:spPr>
        <p:txBody>
          <a:bodyPr wrap="square" rtlCol="0" anchor="ctr"/>
          <a:lstStyle/>
          <a:p>
            <a:pPr algn="ctr" indent="0" marL="0">
              <a:buNone/>
            </a:pPr>
            <a:r>
              <a:rPr lang="en-US" sz="1600" b="1" dirty="0">
                <a:solidFill>
                  <a:srgbClr val="FFFFFF"/>
                </a:solidFill>
              </a:rPr>
              <a:t>90%</a:t>
            </a:r>
            <a:endParaRPr lang="en-US" sz="1600" dirty="0"/>
          </a:p>
        </p:txBody>
      </p:sp>
      <p:sp>
        <p:nvSpPr>
          <p:cNvPr id="39" name="Text 32"/>
          <p:cNvSpPr/>
          <p:nvPr/>
        </p:nvSpPr>
        <p:spPr>
          <a:xfrm>
            <a:off x="320040" y="4023360"/>
            <a:ext cx="1325880" cy="201168"/>
          </a:xfrm>
          <a:prstGeom prst="rect">
            <a:avLst/>
          </a:prstGeom>
          <a:noFill/>
          <a:ln/>
        </p:spPr>
        <p:txBody>
          <a:bodyPr wrap="square" rtlCol="0" anchor="ctr"/>
          <a:lstStyle/>
          <a:p>
            <a:pPr algn="ctr" indent="0" marL="0">
              <a:buNone/>
            </a:pPr>
            <a:r>
              <a:rPr lang="en-US" sz="750" dirty="0">
                <a:solidFill>
                  <a:srgbClr val="64748B"/>
                </a:solidFill>
              </a:rPr>
              <a:t>min: 85%</a:t>
            </a:r>
            <a:endParaRPr lang="en-US" sz="750" dirty="0"/>
          </a:p>
        </p:txBody>
      </p:sp>
      <p:sp>
        <p:nvSpPr>
          <p:cNvPr id="40" name="Shape 33"/>
          <p:cNvSpPr/>
          <p:nvPr/>
        </p:nvSpPr>
        <p:spPr>
          <a:xfrm>
            <a:off x="1764792" y="3429000"/>
            <a:ext cx="1325880" cy="868680"/>
          </a:xfrm>
          <a:prstGeom prst="roundRect">
            <a:avLst>
              <a:gd name="adj" fmla="val 8421"/>
            </a:avLst>
          </a:prstGeom>
          <a:solidFill>
            <a:srgbClr val="0B1220"/>
          </a:solidFill>
          <a:ln w="12700">
            <a:solidFill>
              <a:srgbClr val="00E5FF"/>
            </a:solidFill>
            <a:prstDash val="solid"/>
          </a:ln>
        </p:spPr>
      </p:sp>
      <p:sp>
        <p:nvSpPr>
          <p:cNvPr id="41" name="Text 34"/>
          <p:cNvSpPr/>
          <p:nvPr/>
        </p:nvSpPr>
        <p:spPr>
          <a:xfrm>
            <a:off x="1764792" y="3456432"/>
            <a:ext cx="1325880" cy="256032"/>
          </a:xfrm>
          <a:prstGeom prst="rect">
            <a:avLst/>
          </a:prstGeom>
          <a:noFill/>
          <a:ln/>
        </p:spPr>
        <p:txBody>
          <a:bodyPr wrap="square" rtlCol="0" anchor="ctr"/>
          <a:lstStyle/>
          <a:p>
            <a:pPr algn="ctr" indent="0" marL="0">
              <a:buNone/>
            </a:pPr>
            <a:r>
              <a:rPr lang="en-US" sz="800" b="1" dirty="0">
                <a:solidFill>
                  <a:srgbClr val="00E5FF"/>
                </a:solidFill>
              </a:rPr>
              <a:t>AUC-ROC</a:t>
            </a:r>
            <a:endParaRPr lang="en-US" sz="800" dirty="0"/>
          </a:p>
        </p:txBody>
      </p:sp>
      <p:sp>
        <p:nvSpPr>
          <p:cNvPr id="42" name="Text 35"/>
          <p:cNvSpPr/>
          <p:nvPr/>
        </p:nvSpPr>
        <p:spPr>
          <a:xfrm>
            <a:off x="1764792" y="3712464"/>
            <a:ext cx="1325880" cy="320040"/>
          </a:xfrm>
          <a:prstGeom prst="rect">
            <a:avLst/>
          </a:prstGeom>
          <a:noFill/>
          <a:ln/>
        </p:spPr>
        <p:txBody>
          <a:bodyPr wrap="square" rtlCol="0" anchor="ctr"/>
          <a:lstStyle/>
          <a:p>
            <a:pPr algn="ctr" indent="0" marL="0">
              <a:buNone/>
            </a:pPr>
            <a:r>
              <a:rPr lang="en-US" sz="1600" b="1" dirty="0">
                <a:solidFill>
                  <a:srgbClr val="FFFFFF"/>
                </a:solidFill>
              </a:rPr>
              <a:t>0.95</a:t>
            </a:r>
            <a:endParaRPr lang="en-US" sz="1600" dirty="0"/>
          </a:p>
        </p:txBody>
      </p:sp>
      <p:sp>
        <p:nvSpPr>
          <p:cNvPr id="43" name="Text 36"/>
          <p:cNvSpPr/>
          <p:nvPr/>
        </p:nvSpPr>
        <p:spPr>
          <a:xfrm>
            <a:off x="1764792" y="4023360"/>
            <a:ext cx="1325880" cy="201168"/>
          </a:xfrm>
          <a:prstGeom prst="rect">
            <a:avLst/>
          </a:prstGeom>
          <a:noFill/>
          <a:ln/>
        </p:spPr>
        <p:txBody>
          <a:bodyPr wrap="square" rtlCol="0" anchor="ctr"/>
          <a:lstStyle/>
          <a:p>
            <a:pPr algn="ctr" indent="0" marL="0">
              <a:buNone/>
            </a:pPr>
            <a:r>
              <a:rPr lang="en-US" sz="750" dirty="0">
                <a:solidFill>
                  <a:srgbClr val="64748B"/>
                </a:solidFill>
              </a:rPr>
              <a:t>min: 0.90</a:t>
            </a:r>
            <a:endParaRPr lang="en-US" sz="750" dirty="0"/>
          </a:p>
        </p:txBody>
      </p:sp>
      <p:sp>
        <p:nvSpPr>
          <p:cNvPr id="44" name="Shape 37"/>
          <p:cNvSpPr/>
          <p:nvPr/>
        </p:nvSpPr>
        <p:spPr>
          <a:xfrm>
            <a:off x="3209544" y="3429000"/>
            <a:ext cx="1325880" cy="868680"/>
          </a:xfrm>
          <a:prstGeom prst="roundRect">
            <a:avLst>
              <a:gd name="adj" fmla="val 8421"/>
            </a:avLst>
          </a:prstGeom>
          <a:solidFill>
            <a:srgbClr val="0B1220"/>
          </a:solidFill>
          <a:ln w="12700">
            <a:solidFill>
              <a:srgbClr val="1A8CFF"/>
            </a:solidFill>
            <a:prstDash val="solid"/>
          </a:ln>
        </p:spPr>
      </p:sp>
      <p:sp>
        <p:nvSpPr>
          <p:cNvPr id="45" name="Text 38"/>
          <p:cNvSpPr/>
          <p:nvPr/>
        </p:nvSpPr>
        <p:spPr>
          <a:xfrm>
            <a:off x="3209544" y="3456432"/>
            <a:ext cx="1325880" cy="256032"/>
          </a:xfrm>
          <a:prstGeom prst="rect">
            <a:avLst/>
          </a:prstGeom>
          <a:noFill/>
          <a:ln/>
        </p:spPr>
        <p:txBody>
          <a:bodyPr wrap="square" rtlCol="0" anchor="ctr"/>
          <a:lstStyle/>
          <a:p>
            <a:pPr algn="ctr" indent="0" marL="0">
              <a:buNone/>
            </a:pPr>
            <a:r>
              <a:rPr lang="en-US" sz="800" b="1" dirty="0">
                <a:solidFill>
                  <a:srgbClr val="1A8CFF"/>
                </a:solidFill>
              </a:rPr>
              <a:t>Precision</a:t>
            </a:r>
            <a:endParaRPr lang="en-US" sz="800" dirty="0"/>
          </a:p>
        </p:txBody>
      </p:sp>
      <p:sp>
        <p:nvSpPr>
          <p:cNvPr id="46" name="Text 39"/>
          <p:cNvSpPr/>
          <p:nvPr/>
        </p:nvSpPr>
        <p:spPr>
          <a:xfrm>
            <a:off x="3209544" y="3712464"/>
            <a:ext cx="1325880" cy="320040"/>
          </a:xfrm>
          <a:prstGeom prst="rect">
            <a:avLst/>
          </a:prstGeom>
          <a:noFill/>
          <a:ln/>
        </p:spPr>
        <p:txBody>
          <a:bodyPr wrap="square" rtlCol="0" anchor="ctr"/>
          <a:lstStyle/>
          <a:p>
            <a:pPr algn="ctr" indent="0" marL="0">
              <a:buNone/>
            </a:pPr>
            <a:r>
              <a:rPr lang="en-US" sz="1600" b="1" dirty="0">
                <a:solidFill>
                  <a:srgbClr val="FFFFFF"/>
                </a:solidFill>
              </a:rPr>
              <a:t>0.91</a:t>
            </a:r>
            <a:endParaRPr lang="en-US" sz="1600" dirty="0"/>
          </a:p>
        </p:txBody>
      </p:sp>
      <p:sp>
        <p:nvSpPr>
          <p:cNvPr id="47" name="Text 40"/>
          <p:cNvSpPr/>
          <p:nvPr/>
        </p:nvSpPr>
        <p:spPr>
          <a:xfrm>
            <a:off x="3209544" y="4023360"/>
            <a:ext cx="1325880" cy="201168"/>
          </a:xfrm>
          <a:prstGeom prst="rect">
            <a:avLst/>
          </a:prstGeom>
          <a:noFill/>
          <a:ln/>
        </p:spPr>
        <p:txBody>
          <a:bodyPr wrap="square" rtlCol="0" anchor="ctr"/>
          <a:lstStyle/>
          <a:p>
            <a:pPr algn="ctr" indent="0" marL="0">
              <a:buNone/>
            </a:pPr>
            <a:r>
              <a:rPr lang="en-US" sz="750" dirty="0">
                <a:solidFill>
                  <a:srgbClr val="64748B"/>
                </a:solidFill>
              </a:rPr>
              <a:t>min: 0.85</a:t>
            </a:r>
            <a:endParaRPr lang="en-US" sz="750" dirty="0"/>
          </a:p>
        </p:txBody>
      </p:sp>
      <p:sp>
        <p:nvSpPr>
          <p:cNvPr id="48" name="Shape 41"/>
          <p:cNvSpPr/>
          <p:nvPr/>
        </p:nvSpPr>
        <p:spPr>
          <a:xfrm>
            <a:off x="4654296" y="3429000"/>
            <a:ext cx="1325880" cy="868680"/>
          </a:xfrm>
          <a:prstGeom prst="roundRect">
            <a:avLst>
              <a:gd name="adj" fmla="val 8421"/>
            </a:avLst>
          </a:prstGeom>
          <a:solidFill>
            <a:srgbClr val="0B1220"/>
          </a:solidFill>
          <a:ln w="12700">
            <a:solidFill>
              <a:srgbClr val="7B2FFF"/>
            </a:solidFill>
            <a:prstDash val="solid"/>
          </a:ln>
        </p:spPr>
      </p:sp>
      <p:sp>
        <p:nvSpPr>
          <p:cNvPr id="49" name="Text 42"/>
          <p:cNvSpPr/>
          <p:nvPr/>
        </p:nvSpPr>
        <p:spPr>
          <a:xfrm>
            <a:off x="4654296" y="3456432"/>
            <a:ext cx="1325880" cy="256032"/>
          </a:xfrm>
          <a:prstGeom prst="rect">
            <a:avLst/>
          </a:prstGeom>
          <a:noFill/>
          <a:ln/>
        </p:spPr>
        <p:txBody>
          <a:bodyPr wrap="square" rtlCol="0" anchor="ctr"/>
          <a:lstStyle/>
          <a:p>
            <a:pPr algn="ctr" indent="0" marL="0">
              <a:buNone/>
            </a:pPr>
            <a:r>
              <a:rPr lang="en-US" sz="800" b="1" dirty="0">
                <a:solidFill>
                  <a:srgbClr val="7B2FFF"/>
                </a:solidFill>
              </a:rPr>
              <a:t>Recall</a:t>
            </a:r>
            <a:endParaRPr lang="en-US" sz="800" dirty="0"/>
          </a:p>
        </p:txBody>
      </p:sp>
      <p:sp>
        <p:nvSpPr>
          <p:cNvPr id="50" name="Text 43"/>
          <p:cNvSpPr/>
          <p:nvPr/>
        </p:nvSpPr>
        <p:spPr>
          <a:xfrm>
            <a:off x="4654296" y="3712464"/>
            <a:ext cx="1325880" cy="320040"/>
          </a:xfrm>
          <a:prstGeom prst="rect">
            <a:avLst/>
          </a:prstGeom>
          <a:noFill/>
          <a:ln/>
        </p:spPr>
        <p:txBody>
          <a:bodyPr wrap="square" rtlCol="0" anchor="ctr"/>
          <a:lstStyle/>
          <a:p>
            <a:pPr algn="ctr" indent="0" marL="0">
              <a:buNone/>
            </a:pPr>
            <a:r>
              <a:rPr lang="en-US" sz="1600" b="1" dirty="0">
                <a:solidFill>
                  <a:srgbClr val="FFFFFF"/>
                </a:solidFill>
              </a:rPr>
              <a:t>0.93</a:t>
            </a:r>
            <a:endParaRPr lang="en-US" sz="1600" dirty="0"/>
          </a:p>
        </p:txBody>
      </p:sp>
      <p:sp>
        <p:nvSpPr>
          <p:cNvPr id="51" name="Text 44"/>
          <p:cNvSpPr/>
          <p:nvPr/>
        </p:nvSpPr>
        <p:spPr>
          <a:xfrm>
            <a:off x="4654296" y="4023360"/>
            <a:ext cx="1325880" cy="201168"/>
          </a:xfrm>
          <a:prstGeom prst="rect">
            <a:avLst/>
          </a:prstGeom>
          <a:noFill/>
          <a:ln/>
        </p:spPr>
        <p:txBody>
          <a:bodyPr wrap="square" rtlCol="0" anchor="ctr"/>
          <a:lstStyle/>
          <a:p>
            <a:pPr algn="ctr" indent="0" marL="0">
              <a:buNone/>
            </a:pPr>
            <a:r>
              <a:rPr lang="en-US" sz="750" dirty="0">
                <a:solidFill>
                  <a:srgbClr val="64748B"/>
                </a:solidFill>
              </a:rPr>
              <a:t>min: 0.87</a:t>
            </a:r>
            <a:endParaRPr lang="en-US" sz="750" dirty="0"/>
          </a:p>
        </p:txBody>
      </p:sp>
      <p:sp>
        <p:nvSpPr>
          <p:cNvPr id="52" name="Shape 45"/>
          <p:cNvSpPr/>
          <p:nvPr/>
        </p:nvSpPr>
        <p:spPr>
          <a:xfrm>
            <a:off x="6099048" y="3429000"/>
            <a:ext cx="1325880" cy="868680"/>
          </a:xfrm>
          <a:prstGeom prst="roundRect">
            <a:avLst>
              <a:gd name="adj" fmla="val 8421"/>
            </a:avLst>
          </a:prstGeom>
          <a:solidFill>
            <a:srgbClr val="0B1220"/>
          </a:solidFill>
          <a:ln w="12700">
            <a:solidFill>
              <a:srgbClr val="FF6B35"/>
            </a:solidFill>
            <a:prstDash val="solid"/>
          </a:ln>
        </p:spPr>
      </p:sp>
      <p:sp>
        <p:nvSpPr>
          <p:cNvPr id="53" name="Text 46"/>
          <p:cNvSpPr/>
          <p:nvPr/>
        </p:nvSpPr>
        <p:spPr>
          <a:xfrm>
            <a:off x="6099048" y="3456432"/>
            <a:ext cx="1325880" cy="256032"/>
          </a:xfrm>
          <a:prstGeom prst="rect">
            <a:avLst/>
          </a:prstGeom>
          <a:noFill/>
          <a:ln/>
        </p:spPr>
        <p:txBody>
          <a:bodyPr wrap="square" rtlCol="0" anchor="ctr"/>
          <a:lstStyle/>
          <a:p>
            <a:pPr algn="ctr" indent="0" marL="0">
              <a:buNone/>
            </a:pPr>
            <a:r>
              <a:rPr lang="en-US" sz="800" b="1" dirty="0">
                <a:solidFill>
                  <a:srgbClr val="FF6B35"/>
                </a:solidFill>
              </a:rPr>
              <a:t>F1-Score</a:t>
            </a:r>
            <a:endParaRPr lang="en-US" sz="800" dirty="0"/>
          </a:p>
        </p:txBody>
      </p:sp>
      <p:sp>
        <p:nvSpPr>
          <p:cNvPr id="54" name="Text 47"/>
          <p:cNvSpPr/>
          <p:nvPr/>
        </p:nvSpPr>
        <p:spPr>
          <a:xfrm>
            <a:off x="6099048" y="3712464"/>
            <a:ext cx="1325880" cy="320040"/>
          </a:xfrm>
          <a:prstGeom prst="rect">
            <a:avLst/>
          </a:prstGeom>
          <a:noFill/>
          <a:ln/>
        </p:spPr>
        <p:txBody>
          <a:bodyPr wrap="square" rtlCol="0" anchor="ctr"/>
          <a:lstStyle/>
          <a:p>
            <a:pPr algn="ctr" indent="0" marL="0">
              <a:buNone/>
            </a:pPr>
            <a:r>
              <a:rPr lang="en-US" sz="1600" b="1" dirty="0">
                <a:solidFill>
                  <a:srgbClr val="FFFFFF"/>
                </a:solidFill>
              </a:rPr>
              <a:t>0.92</a:t>
            </a:r>
            <a:endParaRPr lang="en-US" sz="1600" dirty="0"/>
          </a:p>
        </p:txBody>
      </p:sp>
      <p:sp>
        <p:nvSpPr>
          <p:cNvPr id="55" name="Text 48"/>
          <p:cNvSpPr/>
          <p:nvPr/>
        </p:nvSpPr>
        <p:spPr>
          <a:xfrm>
            <a:off x="6099048" y="4023360"/>
            <a:ext cx="1325880" cy="201168"/>
          </a:xfrm>
          <a:prstGeom prst="rect">
            <a:avLst/>
          </a:prstGeom>
          <a:noFill/>
          <a:ln/>
        </p:spPr>
        <p:txBody>
          <a:bodyPr wrap="square" rtlCol="0" anchor="ctr"/>
          <a:lstStyle/>
          <a:p>
            <a:pPr algn="ctr" indent="0" marL="0">
              <a:buNone/>
            </a:pPr>
            <a:r>
              <a:rPr lang="en-US" sz="750" dirty="0">
                <a:solidFill>
                  <a:srgbClr val="64748B"/>
                </a:solidFill>
              </a:rPr>
              <a:t>min: 0.86</a:t>
            </a:r>
            <a:endParaRPr lang="en-US" sz="750" dirty="0"/>
          </a:p>
        </p:txBody>
      </p:sp>
      <p:sp>
        <p:nvSpPr>
          <p:cNvPr id="56" name="Shape 49"/>
          <p:cNvSpPr/>
          <p:nvPr/>
        </p:nvSpPr>
        <p:spPr>
          <a:xfrm>
            <a:off x="7543800" y="3429000"/>
            <a:ext cx="1325880" cy="868680"/>
          </a:xfrm>
          <a:prstGeom prst="roundRect">
            <a:avLst>
              <a:gd name="adj" fmla="val 8421"/>
            </a:avLst>
          </a:prstGeom>
          <a:solidFill>
            <a:srgbClr val="0B1220"/>
          </a:solidFill>
          <a:ln w="12700">
            <a:solidFill>
              <a:srgbClr val="00D4A1"/>
            </a:solidFill>
            <a:prstDash val="solid"/>
          </a:ln>
        </p:spPr>
      </p:sp>
      <p:sp>
        <p:nvSpPr>
          <p:cNvPr id="57" name="Text 50"/>
          <p:cNvSpPr/>
          <p:nvPr/>
        </p:nvSpPr>
        <p:spPr>
          <a:xfrm>
            <a:off x="7543800" y="3456432"/>
            <a:ext cx="1325880" cy="256032"/>
          </a:xfrm>
          <a:prstGeom prst="rect">
            <a:avLst/>
          </a:prstGeom>
          <a:noFill/>
          <a:ln/>
        </p:spPr>
        <p:txBody>
          <a:bodyPr wrap="square" rtlCol="0" anchor="ctr"/>
          <a:lstStyle/>
          <a:p>
            <a:pPr algn="ctr" indent="0" marL="0">
              <a:buNone/>
            </a:pPr>
            <a:r>
              <a:rPr lang="en-US" sz="800" b="1" dirty="0">
                <a:solidFill>
                  <a:srgbClr val="00D4A1"/>
                </a:solidFill>
              </a:rPr>
              <a:t>ONNX Inference</a:t>
            </a:r>
            <a:endParaRPr lang="en-US" sz="800" dirty="0"/>
          </a:p>
        </p:txBody>
      </p:sp>
      <p:sp>
        <p:nvSpPr>
          <p:cNvPr id="58" name="Text 51"/>
          <p:cNvSpPr/>
          <p:nvPr/>
        </p:nvSpPr>
        <p:spPr>
          <a:xfrm>
            <a:off x="7543800" y="3712464"/>
            <a:ext cx="1325880" cy="320040"/>
          </a:xfrm>
          <a:prstGeom prst="rect">
            <a:avLst/>
          </a:prstGeom>
          <a:noFill/>
          <a:ln/>
        </p:spPr>
        <p:txBody>
          <a:bodyPr wrap="square" rtlCol="0" anchor="ctr"/>
          <a:lstStyle/>
          <a:p>
            <a:pPr algn="ctr" indent="0" marL="0">
              <a:buNone/>
            </a:pPr>
            <a:r>
              <a:rPr lang="en-US" sz="1600" b="1" dirty="0">
                <a:solidFill>
                  <a:srgbClr val="FFFFFF"/>
                </a:solidFill>
              </a:rPr>
              <a:t>35 ms</a:t>
            </a:r>
            <a:endParaRPr lang="en-US" sz="1600" dirty="0"/>
          </a:p>
        </p:txBody>
      </p:sp>
      <p:sp>
        <p:nvSpPr>
          <p:cNvPr id="59" name="Text 52"/>
          <p:cNvSpPr/>
          <p:nvPr/>
        </p:nvSpPr>
        <p:spPr>
          <a:xfrm>
            <a:off x="7543800" y="4023360"/>
            <a:ext cx="1325880" cy="201168"/>
          </a:xfrm>
          <a:prstGeom prst="rect">
            <a:avLst/>
          </a:prstGeom>
          <a:noFill/>
          <a:ln/>
        </p:spPr>
        <p:txBody>
          <a:bodyPr wrap="square" rtlCol="0" anchor="ctr"/>
          <a:lstStyle/>
          <a:p>
            <a:pPr algn="ctr" indent="0" marL="0">
              <a:buNone/>
            </a:pPr>
            <a:r>
              <a:rPr lang="en-US" sz="750" dirty="0">
                <a:solidFill>
                  <a:srgbClr val="64748B"/>
                </a:solidFill>
              </a:rPr>
              <a:t>min: 50 ms</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090F"/>
          </a:solidFill>
          <a:ln w="12700">
            <a:solidFill>
              <a:srgbClr val="07090F"/>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0" y="0"/>
            <a:ext cx="9144000" cy="5143500"/>
          </a:xfrm>
          <a:prstGeom prst="rect">
            <a:avLst/>
          </a:prstGeom>
          <a:solidFill>
            <a:srgbClr val="081428">
              <a:alpha val="40000"/>
            </a:srgbClr>
          </a:solidFill>
          <a:ln w="12700">
            <a:solidFill>
              <a:srgbClr val="081428">
                <a:alpha val="40000"/>
              </a:srgbClr>
            </a:solidFill>
            <a:prstDash val="solid"/>
          </a:ln>
        </p:spPr>
      </p:sp>
      <p:sp>
        <p:nvSpPr>
          <p:cNvPr id="5" name="Shape 3"/>
          <p:cNvSpPr/>
          <p:nvPr/>
        </p:nvSpPr>
        <p:spPr>
          <a:xfrm>
            <a:off x="457200" y="256032"/>
            <a:ext cx="1463040" cy="256032"/>
          </a:xfrm>
          <a:prstGeom prst="rect">
            <a:avLst/>
          </a:prstGeom>
          <a:solidFill>
            <a:srgbClr val="00E5FF"/>
          </a:solidFill>
          <a:ln w="12700">
            <a:solidFill>
              <a:srgbClr val="00E5FF"/>
            </a:solidFill>
            <a:prstDash val="solid"/>
          </a:ln>
        </p:spPr>
      </p:sp>
      <p:sp>
        <p:nvSpPr>
          <p:cNvPr id="6" name="Text 4"/>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API</a:t>
            </a:r>
            <a:endParaRPr lang="en-US" sz="900" dirty="0"/>
          </a:p>
        </p:txBody>
      </p:sp>
      <p:sp>
        <p:nvSpPr>
          <p:cNvPr id="7" name="Text 5"/>
          <p:cNvSpPr/>
          <p:nvPr/>
        </p:nvSpPr>
        <p:spPr>
          <a:xfrm>
            <a:off x="2103120" y="182880"/>
            <a:ext cx="6400800" cy="438912"/>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REST API Design</a:t>
            </a:r>
            <a:endParaRPr lang="en-US" sz="2800" dirty="0"/>
          </a:p>
        </p:txBody>
      </p:sp>
      <p:sp>
        <p:nvSpPr>
          <p:cNvPr id="8" name="Shape 6"/>
          <p:cNvSpPr/>
          <p:nvPr/>
        </p:nvSpPr>
        <p:spPr>
          <a:xfrm>
            <a:off x="228600" y="694944"/>
            <a:ext cx="8686800" cy="292608"/>
          </a:xfrm>
          <a:prstGeom prst="roundRect">
            <a:avLst>
              <a:gd name="adj" fmla="val 18750"/>
            </a:avLst>
          </a:prstGeom>
          <a:solidFill>
            <a:srgbClr val="112233"/>
          </a:solidFill>
          <a:ln w="12700">
            <a:solidFill>
              <a:srgbClr val="1A8CFF"/>
            </a:solidFill>
            <a:prstDash val="solid"/>
          </a:ln>
        </p:spPr>
      </p:sp>
      <p:sp>
        <p:nvSpPr>
          <p:cNvPr id="9" name="Text 7"/>
          <p:cNvSpPr/>
          <p:nvPr/>
        </p:nvSpPr>
        <p:spPr>
          <a:xfrm>
            <a:off x="320040" y="713232"/>
            <a:ext cx="8321040" cy="246888"/>
          </a:xfrm>
          <a:prstGeom prst="rect">
            <a:avLst/>
          </a:prstGeom>
          <a:noFill/>
          <a:ln/>
        </p:spPr>
        <p:txBody>
          <a:bodyPr wrap="square" rtlCol="0" anchor="ctr"/>
          <a:lstStyle/>
          <a:p>
            <a:pPr algn="ctr" indent="0" marL="0">
              <a:buNone/>
            </a:pPr>
            <a:r>
              <a:rPr lang="en-US" sz="850" dirty="0">
                <a:solidFill>
                  <a:srgbClr val="1A8CFF"/>
                </a:solidFill>
                <a:latin typeface="Consolas" pitchFamily="34" charset="0"/>
                <a:ea typeface="Consolas" pitchFamily="34" charset="-122"/>
                <a:cs typeface="Consolas" pitchFamily="34" charset="-120"/>
              </a:rPr>
              <a:t>Base URL: http://localhost:8000/api/v1   ·   Protocol: HTTP/1.1   ·   Format: JSON + multipart/form-data   ·   CORS: localhost:3000</a:t>
            </a:r>
            <a:endParaRPr lang="en-US" sz="850" dirty="0"/>
          </a:p>
        </p:txBody>
      </p:sp>
      <p:sp>
        <p:nvSpPr>
          <p:cNvPr id="10" name="Shape 8"/>
          <p:cNvSpPr/>
          <p:nvPr/>
        </p:nvSpPr>
        <p:spPr>
          <a:xfrm>
            <a:off x="228600" y="1078992"/>
            <a:ext cx="8686800" cy="877824"/>
          </a:xfrm>
          <a:prstGeom prst="roundRect">
            <a:avLst>
              <a:gd name="adj" fmla="val 10417"/>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320040" y="1170432"/>
            <a:ext cx="640080" cy="256032"/>
          </a:xfrm>
          <a:prstGeom prst="roundRect">
            <a:avLst>
              <a:gd name="adj" fmla="val 17857"/>
            </a:avLst>
          </a:prstGeom>
          <a:solidFill>
            <a:srgbClr val="00E5FF">
              <a:alpha val="90000"/>
            </a:srgbClr>
          </a:solidFill>
          <a:ln w="12700">
            <a:solidFill>
              <a:srgbClr val="00E5FF"/>
            </a:solidFill>
            <a:prstDash val="solid"/>
          </a:ln>
        </p:spPr>
      </p:sp>
      <p:sp>
        <p:nvSpPr>
          <p:cNvPr id="12" name="Text 10"/>
          <p:cNvSpPr/>
          <p:nvPr/>
        </p:nvSpPr>
        <p:spPr>
          <a:xfrm>
            <a:off x="320040" y="1170432"/>
            <a:ext cx="640080" cy="256032"/>
          </a:xfrm>
          <a:prstGeom prst="rect">
            <a:avLst/>
          </a:prstGeom>
          <a:noFill/>
          <a:ln/>
        </p:spPr>
        <p:txBody>
          <a:bodyPr wrap="square" rtlCol="0" anchor="ctr"/>
          <a:lstStyle/>
          <a:p>
            <a:pPr algn="ctr" indent="0" marL="0">
              <a:buNone/>
            </a:pPr>
            <a:r>
              <a:rPr lang="en-US" sz="850" b="1" dirty="0">
                <a:solidFill>
                  <a:srgbClr val="07090F"/>
                </a:solidFill>
              </a:rPr>
              <a:t>POST</a:t>
            </a:r>
            <a:endParaRPr lang="en-US" sz="850" dirty="0"/>
          </a:p>
        </p:txBody>
      </p:sp>
      <p:sp>
        <p:nvSpPr>
          <p:cNvPr id="13" name="Text 11"/>
          <p:cNvSpPr/>
          <p:nvPr/>
        </p:nvSpPr>
        <p:spPr>
          <a:xfrm>
            <a:off x="1024128" y="1170432"/>
            <a:ext cx="1828800" cy="256032"/>
          </a:xfrm>
          <a:prstGeom prst="rect">
            <a:avLst/>
          </a:prstGeom>
          <a:noFill/>
          <a:ln/>
        </p:spPr>
        <p:txBody>
          <a:bodyPr wrap="square" rtlCol="0" anchor="ctr"/>
          <a:lstStyle/>
          <a:p>
            <a:pPr indent="0" marL="0">
              <a:buNone/>
            </a:pPr>
            <a:r>
              <a:rPr lang="en-US" sz="1200" b="1" dirty="0">
                <a:solidFill>
                  <a:srgbClr val="00E5FF"/>
                </a:solidFill>
                <a:latin typeface="Consolas" pitchFamily="34" charset="0"/>
                <a:ea typeface="Consolas" pitchFamily="34" charset="-122"/>
                <a:cs typeface="Consolas" pitchFamily="34" charset="-120"/>
              </a:rPr>
              <a:t>/encode</a:t>
            </a:r>
            <a:endParaRPr lang="en-US" sz="1200" dirty="0"/>
          </a:p>
        </p:txBody>
      </p:sp>
      <p:sp>
        <p:nvSpPr>
          <p:cNvPr id="14" name="Text 12"/>
          <p:cNvSpPr/>
          <p:nvPr/>
        </p:nvSpPr>
        <p:spPr>
          <a:xfrm>
            <a:off x="320040" y="1481328"/>
            <a:ext cx="365760" cy="201168"/>
          </a:xfrm>
          <a:prstGeom prst="rect">
            <a:avLst/>
          </a:prstGeom>
          <a:noFill/>
          <a:ln/>
        </p:spPr>
        <p:txBody>
          <a:bodyPr wrap="square" rtlCol="0" anchor="ctr"/>
          <a:lstStyle/>
          <a:p>
            <a:pPr indent="0" marL="0">
              <a:buNone/>
            </a:pPr>
            <a:r>
              <a:rPr lang="en-US" sz="800" b="1" dirty="0">
                <a:solidFill>
                  <a:srgbClr val="64748B"/>
                </a:solidFill>
              </a:rPr>
              <a:t>IN:</a:t>
            </a:r>
            <a:endParaRPr lang="en-US" sz="800" dirty="0"/>
          </a:p>
        </p:txBody>
      </p:sp>
      <p:sp>
        <p:nvSpPr>
          <p:cNvPr id="15" name="Text 13"/>
          <p:cNvSpPr/>
          <p:nvPr/>
        </p:nvSpPr>
        <p:spPr>
          <a:xfrm>
            <a:off x="685800" y="1481328"/>
            <a:ext cx="4754880" cy="201168"/>
          </a:xfrm>
          <a:prstGeom prst="rect">
            <a:avLst/>
          </a:prstGeom>
          <a:noFill/>
          <a:ln/>
        </p:spPr>
        <p:txBody>
          <a:bodyPr wrap="square" rtlCol="0" anchor="ctr"/>
          <a:lstStyle/>
          <a:p>
            <a:pPr indent="0" marL="0">
              <a:buNone/>
            </a:pPr>
            <a:r>
              <a:rPr lang="en-US" sz="800" dirty="0">
                <a:solidFill>
                  <a:srgbClr val="CBD5E1"/>
                </a:solidFill>
                <a:latin typeface="Consolas" pitchFamily="34" charset="0"/>
                <a:ea typeface="Consolas" pitchFamily="34" charset="-122"/>
                <a:cs typeface="Consolas" pitchFamily="34" charset="-120"/>
              </a:rPr>
              <a:t>image: &lt;file&gt;  |  message: string  |  key: base64  |  payload: float</a:t>
            </a:r>
            <a:endParaRPr lang="en-US" sz="800" dirty="0"/>
          </a:p>
        </p:txBody>
      </p:sp>
      <p:sp>
        <p:nvSpPr>
          <p:cNvPr id="16" name="Text 14"/>
          <p:cNvSpPr/>
          <p:nvPr/>
        </p:nvSpPr>
        <p:spPr>
          <a:xfrm>
            <a:off x="320040" y="1664208"/>
            <a:ext cx="365760" cy="201168"/>
          </a:xfrm>
          <a:prstGeom prst="rect">
            <a:avLst/>
          </a:prstGeom>
          <a:noFill/>
          <a:ln/>
        </p:spPr>
        <p:txBody>
          <a:bodyPr wrap="square" rtlCol="0" anchor="ctr"/>
          <a:lstStyle/>
          <a:p>
            <a:pPr indent="0" marL="0">
              <a:buNone/>
            </a:pPr>
            <a:r>
              <a:rPr lang="en-US" sz="800" b="1" dirty="0">
                <a:solidFill>
                  <a:srgbClr val="00D4A1"/>
                </a:solidFill>
              </a:rPr>
              <a:t>OUT:</a:t>
            </a:r>
            <a:endParaRPr lang="en-US" sz="800" dirty="0"/>
          </a:p>
        </p:txBody>
      </p:sp>
      <p:sp>
        <p:nvSpPr>
          <p:cNvPr id="17" name="Text 15"/>
          <p:cNvSpPr/>
          <p:nvPr/>
        </p:nvSpPr>
        <p:spPr>
          <a:xfrm>
            <a:off x="685800" y="1664208"/>
            <a:ext cx="4754880" cy="201168"/>
          </a:xfrm>
          <a:prstGeom prst="rect">
            <a:avLst/>
          </a:prstGeom>
          <a:noFill/>
          <a:ln/>
        </p:spPr>
        <p:txBody>
          <a:bodyPr wrap="square" rtlCol="0" anchor="ctr"/>
          <a:lstStyle/>
          <a:p>
            <a:pPr indent="0" marL="0">
              <a:buNone/>
            </a:pPr>
            <a:r>
              <a:rPr lang="en-US" sz="800" dirty="0">
                <a:solidFill>
                  <a:srgbClr val="CBD5E1"/>
                </a:solidFill>
                <a:latin typeface="Consolas" pitchFamily="34" charset="0"/>
                <a:ea typeface="Consolas" pitchFamily="34" charset="-122"/>
                <a:cs typeface="Consolas" pitchFamily="34" charset="-120"/>
              </a:rPr>
              <a:t>stego_image (base64)  |  PSNR  |  payload_bpp  |  encoding_time_ms</a:t>
            </a:r>
            <a:endParaRPr lang="en-US" sz="800" dirty="0"/>
          </a:p>
        </p:txBody>
      </p:sp>
      <p:sp>
        <p:nvSpPr>
          <p:cNvPr id="18" name="Text 16"/>
          <p:cNvSpPr/>
          <p:nvPr/>
        </p:nvSpPr>
        <p:spPr>
          <a:xfrm>
            <a:off x="5577840" y="1170432"/>
            <a:ext cx="365760" cy="201168"/>
          </a:xfrm>
          <a:prstGeom prst="rect">
            <a:avLst/>
          </a:prstGeom>
          <a:noFill/>
          <a:ln/>
        </p:spPr>
        <p:txBody>
          <a:bodyPr wrap="square" rtlCol="0" anchor="ctr"/>
          <a:lstStyle/>
          <a:p>
            <a:pPr indent="0" marL="0">
              <a:buNone/>
            </a:pPr>
            <a:r>
              <a:rPr lang="en-US" sz="800" b="1" dirty="0">
                <a:solidFill>
                  <a:srgbClr val="FF3B5C"/>
                </a:solidFill>
              </a:rPr>
              <a:t>ERR:</a:t>
            </a:r>
            <a:endParaRPr lang="en-US" sz="800" dirty="0"/>
          </a:p>
        </p:txBody>
      </p:sp>
      <p:sp>
        <p:nvSpPr>
          <p:cNvPr id="19" name="Text 17"/>
          <p:cNvSpPr/>
          <p:nvPr/>
        </p:nvSpPr>
        <p:spPr>
          <a:xfrm>
            <a:off x="5943600" y="1170432"/>
            <a:ext cx="2834640" cy="640080"/>
          </a:xfrm>
          <a:prstGeom prst="rect">
            <a:avLst/>
          </a:prstGeom>
          <a:noFill/>
          <a:ln/>
        </p:spPr>
        <p:txBody>
          <a:bodyPr wrap="square" rtlCol="0" anchor="ctr"/>
          <a:lstStyle/>
          <a:p>
            <a:pPr indent="0" marL="0">
              <a:buNone/>
            </a:pPr>
            <a:r>
              <a:rPr lang="en-US" sz="750" dirty="0">
                <a:solidFill>
                  <a:srgbClr val="CBD5E1"/>
                </a:solidFill>
                <a:latin typeface="Consolas" pitchFamily="34" charset="0"/>
                <a:ea typeface="Consolas" pitchFamily="34" charset="-122"/>
                <a:cs typeface="Consolas" pitchFamily="34" charset="-120"/>
              </a:rPr>
              <a:t>400 INVALID_FORMAT · PAYLOAD_TOO_LARGE · INVALID_KEY  ·  500 ENCODING_FAILED</a:t>
            </a:r>
            <a:endParaRPr lang="en-US" sz="750" dirty="0"/>
          </a:p>
        </p:txBody>
      </p:sp>
      <p:sp>
        <p:nvSpPr>
          <p:cNvPr id="20" name="Shape 18"/>
          <p:cNvSpPr/>
          <p:nvPr/>
        </p:nvSpPr>
        <p:spPr>
          <a:xfrm>
            <a:off x="228600" y="2039112"/>
            <a:ext cx="8686800" cy="877824"/>
          </a:xfrm>
          <a:prstGeom prst="roundRect">
            <a:avLst>
              <a:gd name="adj" fmla="val 10417"/>
            </a:avLst>
          </a:prstGeom>
          <a:solidFill>
            <a:srgbClr val="0F1E35"/>
          </a:solidFill>
          <a:ln w="19050">
            <a:solidFill>
              <a:srgbClr val="FF6B35"/>
            </a:solidFill>
            <a:prstDash val="solid"/>
          </a:ln>
          <a:effectLst>
            <a:outerShdw sx="100000" sy="100000" kx="0" ky="0" algn="bl" rotWithShape="0" blurRad="101600" dist="38100" dir="8100000">
              <a:srgbClr val="000000">
                <a:alpha val="30000"/>
              </a:srgbClr>
            </a:outerShdw>
          </a:effectLst>
        </p:spPr>
      </p:sp>
      <p:sp>
        <p:nvSpPr>
          <p:cNvPr id="21" name="Shape 19"/>
          <p:cNvSpPr/>
          <p:nvPr/>
        </p:nvSpPr>
        <p:spPr>
          <a:xfrm>
            <a:off x="320040" y="2130552"/>
            <a:ext cx="640080" cy="256032"/>
          </a:xfrm>
          <a:prstGeom prst="roundRect">
            <a:avLst>
              <a:gd name="adj" fmla="val 17857"/>
            </a:avLst>
          </a:prstGeom>
          <a:solidFill>
            <a:srgbClr val="FF6B35">
              <a:alpha val="90000"/>
            </a:srgbClr>
          </a:solidFill>
          <a:ln w="12700">
            <a:solidFill>
              <a:srgbClr val="FF6B35"/>
            </a:solidFill>
            <a:prstDash val="solid"/>
          </a:ln>
        </p:spPr>
      </p:sp>
      <p:sp>
        <p:nvSpPr>
          <p:cNvPr id="22" name="Text 20"/>
          <p:cNvSpPr/>
          <p:nvPr/>
        </p:nvSpPr>
        <p:spPr>
          <a:xfrm>
            <a:off x="320040" y="2130552"/>
            <a:ext cx="640080" cy="256032"/>
          </a:xfrm>
          <a:prstGeom prst="rect">
            <a:avLst/>
          </a:prstGeom>
          <a:noFill/>
          <a:ln/>
        </p:spPr>
        <p:txBody>
          <a:bodyPr wrap="square" rtlCol="0" anchor="ctr"/>
          <a:lstStyle/>
          <a:p>
            <a:pPr algn="ctr" indent="0" marL="0">
              <a:buNone/>
            </a:pPr>
            <a:r>
              <a:rPr lang="en-US" sz="850" b="1" dirty="0">
                <a:solidFill>
                  <a:srgbClr val="07090F"/>
                </a:solidFill>
              </a:rPr>
              <a:t>POST</a:t>
            </a:r>
            <a:endParaRPr lang="en-US" sz="850" dirty="0"/>
          </a:p>
        </p:txBody>
      </p:sp>
      <p:sp>
        <p:nvSpPr>
          <p:cNvPr id="23" name="Text 21"/>
          <p:cNvSpPr/>
          <p:nvPr/>
        </p:nvSpPr>
        <p:spPr>
          <a:xfrm>
            <a:off x="1024128" y="2130552"/>
            <a:ext cx="1828800" cy="256032"/>
          </a:xfrm>
          <a:prstGeom prst="rect">
            <a:avLst/>
          </a:prstGeom>
          <a:noFill/>
          <a:ln/>
        </p:spPr>
        <p:txBody>
          <a:bodyPr wrap="square" rtlCol="0" anchor="ctr"/>
          <a:lstStyle/>
          <a:p>
            <a:pPr indent="0" marL="0">
              <a:buNone/>
            </a:pPr>
            <a:r>
              <a:rPr lang="en-US" sz="1200" b="1" dirty="0">
                <a:solidFill>
                  <a:srgbClr val="FF6B35"/>
                </a:solidFill>
                <a:latin typeface="Consolas" pitchFamily="34" charset="0"/>
                <a:ea typeface="Consolas" pitchFamily="34" charset="-122"/>
                <a:cs typeface="Consolas" pitchFamily="34" charset="-120"/>
              </a:rPr>
              <a:t>/decode</a:t>
            </a:r>
            <a:endParaRPr lang="en-US" sz="1200" dirty="0"/>
          </a:p>
        </p:txBody>
      </p:sp>
      <p:sp>
        <p:nvSpPr>
          <p:cNvPr id="24" name="Text 22"/>
          <p:cNvSpPr/>
          <p:nvPr/>
        </p:nvSpPr>
        <p:spPr>
          <a:xfrm>
            <a:off x="320040" y="2441448"/>
            <a:ext cx="365760" cy="201168"/>
          </a:xfrm>
          <a:prstGeom prst="rect">
            <a:avLst/>
          </a:prstGeom>
          <a:noFill/>
          <a:ln/>
        </p:spPr>
        <p:txBody>
          <a:bodyPr wrap="square" rtlCol="0" anchor="ctr"/>
          <a:lstStyle/>
          <a:p>
            <a:pPr indent="0" marL="0">
              <a:buNone/>
            </a:pPr>
            <a:r>
              <a:rPr lang="en-US" sz="800" b="1" dirty="0">
                <a:solidFill>
                  <a:srgbClr val="64748B"/>
                </a:solidFill>
              </a:rPr>
              <a:t>IN:</a:t>
            </a:r>
            <a:endParaRPr lang="en-US" sz="800" dirty="0"/>
          </a:p>
        </p:txBody>
      </p:sp>
      <p:sp>
        <p:nvSpPr>
          <p:cNvPr id="25" name="Text 23"/>
          <p:cNvSpPr/>
          <p:nvPr/>
        </p:nvSpPr>
        <p:spPr>
          <a:xfrm>
            <a:off x="685800" y="2441448"/>
            <a:ext cx="4754880" cy="201168"/>
          </a:xfrm>
          <a:prstGeom prst="rect">
            <a:avLst/>
          </a:prstGeom>
          <a:noFill/>
          <a:ln/>
        </p:spPr>
        <p:txBody>
          <a:bodyPr wrap="square" rtlCol="0" anchor="ctr"/>
          <a:lstStyle/>
          <a:p>
            <a:pPr indent="0" marL="0">
              <a:buNone/>
            </a:pPr>
            <a:r>
              <a:rPr lang="en-US" sz="800" dirty="0">
                <a:solidFill>
                  <a:srgbClr val="CBD5E1"/>
                </a:solidFill>
                <a:latin typeface="Consolas" pitchFamily="34" charset="0"/>
                <a:ea typeface="Consolas" pitchFamily="34" charset="-122"/>
                <a:cs typeface="Consolas" pitchFamily="34" charset="-120"/>
              </a:rPr>
              <a:t>image: &lt;file&gt;  |  key: string</a:t>
            </a:r>
            <a:endParaRPr lang="en-US" sz="800" dirty="0"/>
          </a:p>
        </p:txBody>
      </p:sp>
      <p:sp>
        <p:nvSpPr>
          <p:cNvPr id="26" name="Text 24"/>
          <p:cNvSpPr/>
          <p:nvPr/>
        </p:nvSpPr>
        <p:spPr>
          <a:xfrm>
            <a:off x="320040" y="2624328"/>
            <a:ext cx="365760" cy="201168"/>
          </a:xfrm>
          <a:prstGeom prst="rect">
            <a:avLst/>
          </a:prstGeom>
          <a:noFill/>
          <a:ln/>
        </p:spPr>
        <p:txBody>
          <a:bodyPr wrap="square" rtlCol="0" anchor="ctr"/>
          <a:lstStyle/>
          <a:p>
            <a:pPr indent="0" marL="0">
              <a:buNone/>
            </a:pPr>
            <a:r>
              <a:rPr lang="en-US" sz="800" b="1" dirty="0">
                <a:solidFill>
                  <a:srgbClr val="00D4A1"/>
                </a:solidFill>
              </a:rPr>
              <a:t>OUT:</a:t>
            </a:r>
            <a:endParaRPr lang="en-US" sz="800" dirty="0"/>
          </a:p>
        </p:txBody>
      </p:sp>
      <p:sp>
        <p:nvSpPr>
          <p:cNvPr id="27" name="Text 25"/>
          <p:cNvSpPr/>
          <p:nvPr/>
        </p:nvSpPr>
        <p:spPr>
          <a:xfrm>
            <a:off x="685800" y="2624328"/>
            <a:ext cx="4754880" cy="201168"/>
          </a:xfrm>
          <a:prstGeom prst="rect">
            <a:avLst/>
          </a:prstGeom>
          <a:noFill/>
          <a:ln/>
        </p:spPr>
        <p:txBody>
          <a:bodyPr wrap="square" rtlCol="0" anchor="ctr"/>
          <a:lstStyle/>
          <a:p>
            <a:pPr indent="0" marL="0">
              <a:buNone/>
            </a:pPr>
            <a:r>
              <a:rPr lang="en-US" sz="800" dirty="0">
                <a:solidFill>
                  <a:srgbClr val="CBD5E1"/>
                </a:solidFill>
                <a:latin typeface="Consolas" pitchFamily="34" charset="0"/>
                <a:ea typeface="Consolas" pitchFamily="34" charset="-122"/>
                <a:cs typeface="Consolas" pitchFamily="34" charset="-120"/>
              </a:rPr>
              <a:t>message (plaintext)  |  decoding_time_ms</a:t>
            </a:r>
            <a:endParaRPr lang="en-US" sz="800" dirty="0"/>
          </a:p>
        </p:txBody>
      </p:sp>
      <p:sp>
        <p:nvSpPr>
          <p:cNvPr id="28" name="Text 26"/>
          <p:cNvSpPr/>
          <p:nvPr/>
        </p:nvSpPr>
        <p:spPr>
          <a:xfrm>
            <a:off x="5577840" y="2130552"/>
            <a:ext cx="365760" cy="201168"/>
          </a:xfrm>
          <a:prstGeom prst="rect">
            <a:avLst/>
          </a:prstGeom>
          <a:noFill/>
          <a:ln/>
        </p:spPr>
        <p:txBody>
          <a:bodyPr wrap="square" rtlCol="0" anchor="ctr"/>
          <a:lstStyle/>
          <a:p>
            <a:pPr indent="0" marL="0">
              <a:buNone/>
            </a:pPr>
            <a:r>
              <a:rPr lang="en-US" sz="800" b="1" dirty="0">
                <a:solidFill>
                  <a:srgbClr val="FF3B5C"/>
                </a:solidFill>
              </a:rPr>
              <a:t>ERR:</a:t>
            </a:r>
            <a:endParaRPr lang="en-US" sz="800" dirty="0"/>
          </a:p>
        </p:txBody>
      </p:sp>
      <p:sp>
        <p:nvSpPr>
          <p:cNvPr id="29" name="Text 27"/>
          <p:cNvSpPr/>
          <p:nvPr/>
        </p:nvSpPr>
        <p:spPr>
          <a:xfrm>
            <a:off x="5943600" y="2130552"/>
            <a:ext cx="2834640" cy="640080"/>
          </a:xfrm>
          <a:prstGeom prst="rect">
            <a:avLst/>
          </a:prstGeom>
          <a:noFill/>
          <a:ln/>
        </p:spPr>
        <p:txBody>
          <a:bodyPr wrap="square" rtlCol="0" anchor="ctr"/>
          <a:lstStyle/>
          <a:p>
            <a:pPr indent="0" marL="0">
              <a:buNone/>
            </a:pPr>
            <a:r>
              <a:rPr lang="en-US" sz="750" dirty="0">
                <a:solidFill>
                  <a:srgbClr val="CBD5E1"/>
                </a:solidFill>
                <a:latin typeface="Consolas" pitchFamily="34" charset="0"/>
                <a:ea typeface="Consolas" pitchFamily="34" charset="-122"/>
                <a:cs typeface="Consolas" pitchFamily="34" charset="-120"/>
              </a:rPr>
              <a:t>400 DECRYPTION_FAILED · NO_DATA_FOUND · CORRUPTED_STEGO</a:t>
            </a:r>
            <a:endParaRPr lang="en-US" sz="750" dirty="0"/>
          </a:p>
        </p:txBody>
      </p:sp>
      <p:sp>
        <p:nvSpPr>
          <p:cNvPr id="30" name="Shape 28"/>
          <p:cNvSpPr/>
          <p:nvPr/>
        </p:nvSpPr>
        <p:spPr>
          <a:xfrm>
            <a:off x="228600" y="2999232"/>
            <a:ext cx="8686800" cy="877824"/>
          </a:xfrm>
          <a:prstGeom prst="roundRect">
            <a:avLst>
              <a:gd name="adj" fmla="val 10417"/>
            </a:avLst>
          </a:prstGeom>
          <a:solidFill>
            <a:srgbClr val="0F1E35"/>
          </a:solidFill>
          <a:ln w="19050">
            <a:solidFill>
              <a:srgbClr val="00D4A1"/>
            </a:solidFill>
            <a:prstDash val="solid"/>
          </a:ln>
          <a:effectLst>
            <a:outerShdw sx="100000" sy="100000" kx="0" ky="0" algn="bl" rotWithShape="0" blurRad="101600" dist="38100" dir="8100000">
              <a:srgbClr val="000000">
                <a:alpha val="30000"/>
              </a:srgbClr>
            </a:outerShdw>
          </a:effectLst>
        </p:spPr>
      </p:sp>
      <p:sp>
        <p:nvSpPr>
          <p:cNvPr id="31" name="Shape 29"/>
          <p:cNvSpPr/>
          <p:nvPr/>
        </p:nvSpPr>
        <p:spPr>
          <a:xfrm>
            <a:off x="320040" y="3090672"/>
            <a:ext cx="640080" cy="256032"/>
          </a:xfrm>
          <a:prstGeom prst="roundRect">
            <a:avLst>
              <a:gd name="adj" fmla="val 17857"/>
            </a:avLst>
          </a:prstGeom>
          <a:solidFill>
            <a:srgbClr val="00D4A1">
              <a:alpha val="90000"/>
            </a:srgbClr>
          </a:solidFill>
          <a:ln w="12700">
            <a:solidFill>
              <a:srgbClr val="00D4A1"/>
            </a:solidFill>
            <a:prstDash val="solid"/>
          </a:ln>
        </p:spPr>
      </p:sp>
      <p:sp>
        <p:nvSpPr>
          <p:cNvPr id="32" name="Text 30"/>
          <p:cNvSpPr/>
          <p:nvPr/>
        </p:nvSpPr>
        <p:spPr>
          <a:xfrm>
            <a:off x="320040" y="3090672"/>
            <a:ext cx="640080" cy="256032"/>
          </a:xfrm>
          <a:prstGeom prst="rect">
            <a:avLst/>
          </a:prstGeom>
          <a:noFill/>
          <a:ln/>
        </p:spPr>
        <p:txBody>
          <a:bodyPr wrap="square" rtlCol="0" anchor="ctr"/>
          <a:lstStyle/>
          <a:p>
            <a:pPr algn="ctr" indent="0" marL="0">
              <a:buNone/>
            </a:pPr>
            <a:r>
              <a:rPr lang="en-US" sz="850" b="1" dirty="0">
                <a:solidFill>
                  <a:srgbClr val="07090F"/>
                </a:solidFill>
              </a:rPr>
              <a:t>POST</a:t>
            </a:r>
            <a:endParaRPr lang="en-US" sz="850" dirty="0"/>
          </a:p>
        </p:txBody>
      </p:sp>
      <p:sp>
        <p:nvSpPr>
          <p:cNvPr id="33" name="Text 31"/>
          <p:cNvSpPr/>
          <p:nvPr/>
        </p:nvSpPr>
        <p:spPr>
          <a:xfrm>
            <a:off x="1024128" y="3090672"/>
            <a:ext cx="1828800" cy="256032"/>
          </a:xfrm>
          <a:prstGeom prst="rect">
            <a:avLst/>
          </a:prstGeom>
          <a:noFill/>
          <a:ln/>
        </p:spPr>
        <p:txBody>
          <a:bodyPr wrap="square" rtlCol="0" anchor="ctr"/>
          <a:lstStyle/>
          <a:p>
            <a:pPr indent="0" marL="0">
              <a:buNone/>
            </a:pPr>
            <a:r>
              <a:rPr lang="en-US" sz="1200" b="1" dirty="0">
                <a:solidFill>
                  <a:srgbClr val="00D4A1"/>
                </a:solidFill>
                <a:latin typeface="Consolas" pitchFamily="34" charset="0"/>
                <a:ea typeface="Consolas" pitchFamily="34" charset="-122"/>
                <a:cs typeface="Consolas" pitchFamily="34" charset="-120"/>
              </a:rPr>
              <a:t>/detect</a:t>
            </a:r>
            <a:endParaRPr lang="en-US" sz="1200" dirty="0"/>
          </a:p>
        </p:txBody>
      </p:sp>
      <p:sp>
        <p:nvSpPr>
          <p:cNvPr id="34" name="Text 32"/>
          <p:cNvSpPr/>
          <p:nvPr/>
        </p:nvSpPr>
        <p:spPr>
          <a:xfrm>
            <a:off x="320040" y="3401568"/>
            <a:ext cx="365760" cy="201168"/>
          </a:xfrm>
          <a:prstGeom prst="rect">
            <a:avLst/>
          </a:prstGeom>
          <a:noFill/>
          <a:ln/>
        </p:spPr>
        <p:txBody>
          <a:bodyPr wrap="square" rtlCol="0" anchor="ctr"/>
          <a:lstStyle/>
          <a:p>
            <a:pPr indent="0" marL="0">
              <a:buNone/>
            </a:pPr>
            <a:r>
              <a:rPr lang="en-US" sz="800" b="1" dirty="0">
                <a:solidFill>
                  <a:srgbClr val="64748B"/>
                </a:solidFill>
              </a:rPr>
              <a:t>IN:</a:t>
            </a:r>
            <a:endParaRPr lang="en-US" sz="800" dirty="0"/>
          </a:p>
        </p:txBody>
      </p:sp>
      <p:sp>
        <p:nvSpPr>
          <p:cNvPr id="35" name="Text 33"/>
          <p:cNvSpPr/>
          <p:nvPr/>
        </p:nvSpPr>
        <p:spPr>
          <a:xfrm>
            <a:off x="685800" y="3401568"/>
            <a:ext cx="4754880" cy="201168"/>
          </a:xfrm>
          <a:prstGeom prst="rect">
            <a:avLst/>
          </a:prstGeom>
          <a:noFill/>
          <a:ln/>
        </p:spPr>
        <p:txBody>
          <a:bodyPr wrap="square" rtlCol="0" anchor="ctr"/>
          <a:lstStyle/>
          <a:p>
            <a:pPr indent="0" marL="0">
              <a:buNone/>
            </a:pPr>
            <a:r>
              <a:rPr lang="en-US" sz="800" dirty="0">
                <a:solidFill>
                  <a:srgbClr val="CBD5E1"/>
                </a:solidFill>
                <a:latin typeface="Consolas" pitchFamily="34" charset="0"/>
                <a:ea typeface="Consolas" pitchFamily="34" charset="-122"/>
                <a:cs typeface="Consolas" pitchFamily="34" charset="-120"/>
              </a:rPr>
              <a:t>image: &lt;file&gt;  |  confidence_threshold: float (default 0.5)</a:t>
            </a:r>
            <a:endParaRPr lang="en-US" sz="800" dirty="0"/>
          </a:p>
        </p:txBody>
      </p:sp>
      <p:sp>
        <p:nvSpPr>
          <p:cNvPr id="36" name="Text 34"/>
          <p:cNvSpPr/>
          <p:nvPr/>
        </p:nvSpPr>
        <p:spPr>
          <a:xfrm>
            <a:off x="320040" y="3584448"/>
            <a:ext cx="365760" cy="201168"/>
          </a:xfrm>
          <a:prstGeom prst="rect">
            <a:avLst/>
          </a:prstGeom>
          <a:noFill/>
          <a:ln/>
        </p:spPr>
        <p:txBody>
          <a:bodyPr wrap="square" rtlCol="0" anchor="ctr"/>
          <a:lstStyle/>
          <a:p>
            <a:pPr indent="0" marL="0">
              <a:buNone/>
            </a:pPr>
            <a:r>
              <a:rPr lang="en-US" sz="800" b="1" dirty="0">
                <a:solidFill>
                  <a:srgbClr val="00D4A1"/>
                </a:solidFill>
              </a:rPr>
              <a:t>OUT:</a:t>
            </a:r>
            <a:endParaRPr lang="en-US" sz="800" dirty="0"/>
          </a:p>
        </p:txBody>
      </p:sp>
      <p:sp>
        <p:nvSpPr>
          <p:cNvPr id="37" name="Text 35"/>
          <p:cNvSpPr/>
          <p:nvPr/>
        </p:nvSpPr>
        <p:spPr>
          <a:xfrm>
            <a:off x="685800" y="3584448"/>
            <a:ext cx="4754880" cy="201168"/>
          </a:xfrm>
          <a:prstGeom prst="rect">
            <a:avLst/>
          </a:prstGeom>
          <a:noFill/>
          <a:ln/>
        </p:spPr>
        <p:txBody>
          <a:bodyPr wrap="square" rtlCol="0" anchor="ctr"/>
          <a:lstStyle/>
          <a:p>
            <a:pPr indent="0" marL="0">
              <a:buNone/>
            </a:pPr>
            <a:r>
              <a:rPr lang="en-US" sz="800" dirty="0">
                <a:solidFill>
                  <a:srgbClr val="CBD5E1"/>
                </a:solidFill>
                <a:latin typeface="Consolas" pitchFamily="34" charset="0"/>
                <a:ea typeface="Consolas" pitchFamily="34" charset="-122"/>
                <a:cs typeface="Consolas" pitchFamily="34" charset="-120"/>
              </a:rPr>
              <a:t>prediction: CLEAN|STEGO  |  confidence  |  probabilities{clean, stego}  |  inference_time_ms</a:t>
            </a:r>
            <a:endParaRPr lang="en-US" sz="800" dirty="0"/>
          </a:p>
        </p:txBody>
      </p:sp>
      <p:sp>
        <p:nvSpPr>
          <p:cNvPr id="38" name="Text 36"/>
          <p:cNvSpPr/>
          <p:nvPr/>
        </p:nvSpPr>
        <p:spPr>
          <a:xfrm>
            <a:off x="5577840" y="3090672"/>
            <a:ext cx="365760" cy="201168"/>
          </a:xfrm>
          <a:prstGeom prst="rect">
            <a:avLst/>
          </a:prstGeom>
          <a:noFill/>
          <a:ln/>
        </p:spPr>
        <p:txBody>
          <a:bodyPr wrap="square" rtlCol="0" anchor="ctr"/>
          <a:lstStyle/>
          <a:p>
            <a:pPr indent="0" marL="0">
              <a:buNone/>
            </a:pPr>
            <a:r>
              <a:rPr lang="en-US" sz="800" b="1" dirty="0">
                <a:solidFill>
                  <a:srgbClr val="FF3B5C"/>
                </a:solidFill>
              </a:rPr>
              <a:t>ERR:</a:t>
            </a:r>
            <a:endParaRPr lang="en-US" sz="800" dirty="0"/>
          </a:p>
        </p:txBody>
      </p:sp>
      <p:sp>
        <p:nvSpPr>
          <p:cNvPr id="39" name="Text 37"/>
          <p:cNvSpPr/>
          <p:nvPr/>
        </p:nvSpPr>
        <p:spPr>
          <a:xfrm>
            <a:off x="5943600" y="3090672"/>
            <a:ext cx="2834640" cy="640080"/>
          </a:xfrm>
          <a:prstGeom prst="rect">
            <a:avLst/>
          </a:prstGeom>
          <a:noFill/>
          <a:ln/>
        </p:spPr>
        <p:txBody>
          <a:bodyPr wrap="square" rtlCol="0" anchor="ctr"/>
          <a:lstStyle/>
          <a:p>
            <a:pPr indent="0" marL="0">
              <a:buNone/>
            </a:pPr>
            <a:r>
              <a:rPr lang="en-US" sz="750" dirty="0">
                <a:solidFill>
                  <a:srgbClr val="CBD5E1"/>
                </a:solidFill>
                <a:latin typeface="Consolas" pitchFamily="34" charset="0"/>
                <a:ea typeface="Consolas" pitchFamily="34" charset="-122"/>
                <a:cs typeface="Consolas" pitchFamily="34" charset="-120"/>
              </a:rPr>
              <a:t>503 MODEL_NOT_LOADED  ·  400 PREPROCESSING_FAILED</a:t>
            </a:r>
            <a:endParaRPr lang="en-US" sz="750" dirty="0"/>
          </a:p>
        </p:txBody>
      </p:sp>
      <p:sp>
        <p:nvSpPr>
          <p:cNvPr id="40" name="Shape 38"/>
          <p:cNvSpPr/>
          <p:nvPr/>
        </p:nvSpPr>
        <p:spPr>
          <a:xfrm>
            <a:off x="228600" y="3959352"/>
            <a:ext cx="8686800" cy="877824"/>
          </a:xfrm>
          <a:prstGeom prst="roundRect">
            <a:avLst>
              <a:gd name="adj" fmla="val 10417"/>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sp>
        <p:nvSpPr>
          <p:cNvPr id="41" name="Shape 39"/>
          <p:cNvSpPr/>
          <p:nvPr/>
        </p:nvSpPr>
        <p:spPr>
          <a:xfrm>
            <a:off x="320040" y="4050792"/>
            <a:ext cx="640080" cy="256032"/>
          </a:xfrm>
          <a:prstGeom prst="roundRect">
            <a:avLst>
              <a:gd name="adj" fmla="val 17857"/>
            </a:avLst>
          </a:prstGeom>
          <a:solidFill>
            <a:srgbClr val="7B2FFF">
              <a:alpha val="90000"/>
            </a:srgbClr>
          </a:solidFill>
          <a:ln w="12700">
            <a:solidFill>
              <a:srgbClr val="7B2FFF"/>
            </a:solidFill>
            <a:prstDash val="solid"/>
          </a:ln>
        </p:spPr>
      </p:sp>
      <p:sp>
        <p:nvSpPr>
          <p:cNvPr id="42" name="Text 40"/>
          <p:cNvSpPr/>
          <p:nvPr/>
        </p:nvSpPr>
        <p:spPr>
          <a:xfrm>
            <a:off x="320040" y="4050792"/>
            <a:ext cx="640080" cy="256032"/>
          </a:xfrm>
          <a:prstGeom prst="rect">
            <a:avLst/>
          </a:prstGeom>
          <a:noFill/>
          <a:ln/>
        </p:spPr>
        <p:txBody>
          <a:bodyPr wrap="square" rtlCol="0" anchor="ctr"/>
          <a:lstStyle/>
          <a:p>
            <a:pPr algn="ctr" indent="0" marL="0">
              <a:buNone/>
            </a:pPr>
            <a:r>
              <a:rPr lang="en-US" sz="850" b="1" dirty="0">
                <a:solidFill>
                  <a:srgbClr val="07090F"/>
                </a:solidFill>
              </a:rPr>
              <a:t>POST</a:t>
            </a:r>
            <a:endParaRPr lang="en-US" sz="850" dirty="0"/>
          </a:p>
        </p:txBody>
      </p:sp>
      <p:sp>
        <p:nvSpPr>
          <p:cNvPr id="43" name="Text 41"/>
          <p:cNvSpPr/>
          <p:nvPr/>
        </p:nvSpPr>
        <p:spPr>
          <a:xfrm>
            <a:off x="1024128" y="4050792"/>
            <a:ext cx="1828800" cy="256032"/>
          </a:xfrm>
          <a:prstGeom prst="rect">
            <a:avLst/>
          </a:prstGeom>
          <a:noFill/>
          <a:ln/>
        </p:spPr>
        <p:txBody>
          <a:bodyPr wrap="square" rtlCol="0" anchor="ctr"/>
          <a:lstStyle/>
          <a:p>
            <a:pPr indent="0" marL="0">
              <a:buNone/>
            </a:pPr>
            <a:r>
              <a:rPr lang="en-US" sz="1200" b="1" dirty="0">
                <a:solidFill>
                  <a:srgbClr val="7B2FFF"/>
                </a:solidFill>
                <a:latin typeface="Consolas" pitchFamily="34" charset="0"/>
                <a:ea typeface="Consolas" pitchFamily="34" charset="-122"/>
                <a:cs typeface="Consolas" pitchFamily="34" charset="-120"/>
              </a:rPr>
              <a:t>/attack</a:t>
            </a:r>
            <a:endParaRPr lang="en-US" sz="1200" dirty="0"/>
          </a:p>
        </p:txBody>
      </p:sp>
      <p:sp>
        <p:nvSpPr>
          <p:cNvPr id="44" name="Text 42"/>
          <p:cNvSpPr/>
          <p:nvPr/>
        </p:nvSpPr>
        <p:spPr>
          <a:xfrm>
            <a:off x="320040" y="4361688"/>
            <a:ext cx="365760" cy="201168"/>
          </a:xfrm>
          <a:prstGeom prst="rect">
            <a:avLst/>
          </a:prstGeom>
          <a:noFill/>
          <a:ln/>
        </p:spPr>
        <p:txBody>
          <a:bodyPr wrap="square" rtlCol="0" anchor="ctr"/>
          <a:lstStyle/>
          <a:p>
            <a:pPr indent="0" marL="0">
              <a:buNone/>
            </a:pPr>
            <a:r>
              <a:rPr lang="en-US" sz="800" b="1" dirty="0">
                <a:solidFill>
                  <a:srgbClr val="64748B"/>
                </a:solidFill>
              </a:rPr>
              <a:t>IN:</a:t>
            </a:r>
            <a:endParaRPr lang="en-US" sz="800" dirty="0"/>
          </a:p>
        </p:txBody>
      </p:sp>
      <p:sp>
        <p:nvSpPr>
          <p:cNvPr id="45" name="Text 43"/>
          <p:cNvSpPr/>
          <p:nvPr/>
        </p:nvSpPr>
        <p:spPr>
          <a:xfrm>
            <a:off x="685800" y="4361688"/>
            <a:ext cx="4754880" cy="201168"/>
          </a:xfrm>
          <a:prstGeom prst="rect">
            <a:avLst/>
          </a:prstGeom>
          <a:noFill/>
          <a:ln/>
        </p:spPr>
        <p:txBody>
          <a:bodyPr wrap="square" rtlCol="0" anchor="ctr"/>
          <a:lstStyle/>
          <a:p>
            <a:pPr indent="0" marL="0">
              <a:buNone/>
            </a:pPr>
            <a:r>
              <a:rPr lang="en-US" sz="800" dirty="0">
                <a:solidFill>
                  <a:srgbClr val="CBD5E1"/>
                </a:solidFill>
                <a:latin typeface="Consolas" pitchFamily="34" charset="0"/>
                <a:ea typeface="Consolas" pitchFamily="34" charset="-122"/>
                <a:cs typeface="Consolas" pitchFamily="34" charset="-120"/>
              </a:rPr>
              <a:t>image: &lt;file&gt;  |  attack_type: string  |  attack_params: object</a:t>
            </a:r>
            <a:endParaRPr lang="en-US" sz="800" dirty="0"/>
          </a:p>
        </p:txBody>
      </p:sp>
      <p:sp>
        <p:nvSpPr>
          <p:cNvPr id="46" name="Text 44"/>
          <p:cNvSpPr/>
          <p:nvPr/>
        </p:nvSpPr>
        <p:spPr>
          <a:xfrm>
            <a:off x="320040" y="4544568"/>
            <a:ext cx="365760" cy="201168"/>
          </a:xfrm>
          <a:prstGeom prst="rect">
            <a:avLst/>
          </a:prstGeom>
          <a:noFill/>
          <a:ln/>
        </p:spPr>
        <p:txBody>
          <a:bodyPr wrap="square" rtlCol="0" anchor="ctr"/>
          <a:lstStyle/>
          <a:p>
            <a:pPr indent="0" marL="0">
              <a:buNone/>
            </a:pPr>
            <a:r>
              <a:rPr lang="en-US" sz="800" b="1" dirty="0">
                <a:solidFill>
                  <a:srgbClr val="00D4A1"/>
                </a:solidFill>
              </a:rPr>
              <a:t>OUT:</a:t>
            </a:r>
            <a:endParaRPr lang="en-US" sz="800" dirty="0"/>
          </a:p>
        </p:txBody>
      </p:sp>
      <p:sp>
        <p:nvSpPr>
          <p:cNvPr id="47" name="Text 45"/>
          <p:cNvSpPr/>
          <p:nvPr/>
        </p:nvSpPr>
        <p:spPr>
          <a:xfrm>
            <a:off x="685800" y="4544568"/>
            <a:ext cx="4754880" cy="201168"/>
          </a:xfrm>
          <a:prstGeom prst="rect">
            <a:avLst/>
          </a:prstGeom>
          <a:noFill/>
          <a:ln/>
        </p:spPr>
        <p:txBody>
          <a:bodyPr wrap="square" rtlCol="0" anchor="ctr"/>
          <a:lstStyle/>
          <a:p>
            <a:pPr indent="0" marL="0">
              <a:buNone/>
            </a:pPr>
            <a:r>
              <a:rPr lang="en-US" sz="800" dirty="0">
                <a:solidFill>
                  <a:srgbClr val="CBD5E1"/>
                </a:solidFill>
                <a:latin typeface="Consolas" pitchFamily="34" charset="0"/>
                <a:ea typeface="Consolas" pitchFamily="34" charset="-122"/>
                <a:cs typeface="Consolas" pitchFamily="34" charset="-120"/>
              </a:rPr>
              <a:t>bit_error_rate  |  character_accuracy  |  full_recovery  |  PSNR/SSIM after attack</a:t>
            </a:r>
            <a:endParaRPr lang="en-US" sz="800" dirty="0"/>
          </a:p>
        </p:txBody>
      </p:sp>
      <p:sp>
        <p:nvSpPr>
          <p:cNvPr id="48" name="Text 46"/>
          <p:cNvSpPr/>
          <p:nvPr/>
        </p:nvSpPr>
        <p:spPr>
          <a:xfrm>
            <a:off x="5577840" y="4050792"/>
            <a:ext cx="365760" cy="201168"/>
          </a:xfrm>
          <a:prstGeom prst="rect">
            <a:avLst/>
          </a:prstGeom>
          <a:noFill/>
          <a:ln/>
        </p:spPr>
        <p:txBody>
          <a:bodyPr wrap="square" rtlCol="0" anchor="ctr"/>
          <a:lstStyle/>
          <a:p>
            <a:pPr indent="0" marL="0">
              <a:buNone/>
            </a:pPr>
            <a:r>
              <a:rPr lang="en-US" sz="800" b="1" dirty="0">
                <a:solidFill>
                  <a:srgbClr val="FF3B5C"/>
                </a:solidFill>
              </a:rPr>
              <a:t>ERR:</a:t>
            </a:r>
            <a:endParaRPr lang="en-US" sz="800" dirty="0"/>
          </a:p>
        </p:txBody>
      </p:sp>
      <p:sp>
        <p:nvSpPr>
          <p:cNvPr id="49" name="Text 47"/>
          <p:cNvSpPr/>
          <p:nvPr/>
        </p:nvSpPr>
        <p:spPr>
          <a:xfrm>
            <a:off x="5943600" y="4050792"/>
            <a:ext cx="2834640" cy="640080"/>
          </a:xfrm>
          <a:prstGeom prst="rect">
            <a:avLst/>
          </a:prstGeom>
          <a:noFill/>
          <a:ln/>
        </p:spPr>
        <p:txBody>
          <a:bodyPr wrap="square" rtlCol="0" anchor="ctr"/>
          <a:lstStyle/>
          <a:p>
            <a:pPr indent="0" marL="0">
              <a:buNone/>
            </a:pPr>
            <a:r>
              <a:rPr lang="en-US" sz="750" dirty="0">
                <a:solidFill>
                  <a:srgbClr val="CBD5E1"/>
                </a:solidFill>
                <a:latin typeface="Consolas" pitchFamily="34" charset="0"/>
                <a:ea typeface="Consolas" pitchFamily="34" charset="-122"/>
                <a:cs typeface="Consolas" pitchFamily="34" charset="-120"/>
              </a:rPr>
              <a:t>400 INVALID_ATTACK_TYPE  ·  422 MISSING_PARAMS</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w="12700">
            <a:solidFill>
              <a:srgbClr val="0B1220"/>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457200" y="256032"/>
            <a:ext cx="1463040" cy="256032"/>
          </a:xfrm>
          <a:prstGeom prst="rect">
            <a:avLst/>
          </a:prstGeom>
          <a:solidFill>
            <a:srgbClr val="00E5FF"/>
          </a:solidFill>
          <a:ln w="12700">
            <a:solidFill>
              <a:srgbClr val="00E5FF"/>
            </a:solidFill>
            <a:prstDash val="solid"/>
          </a:ln>
        </p:spPr>
      </p:sp>
      <p:sp>
        <p:nvSpPr>
          <p:cNvPr id="5" name="Text 3"/>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FRONTEND</a:t>
            </a:r>
            <a:endParaRPr lang="en-US" sz="900" dirty="0"/>
          </a:p>
        </p:txBody>
      </p:sp>
      <p:sp>
        <p:nvSpPr>
          <p:cNvPr id="6" name="Text 4"/>
          <p:cNvSpPr/>
          <p:nvPr/>
        </p:nvSpPr>
        <p:spPr>
          <a:xfrm>
            <a:off x="2103120" y="182880"/>
            <a:ext cx="6400800" cy="438912"/>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React Frontend Design</a:t>
            </a:r>
            <a:endParaRPr lang="en-US" sz="2600" dirty="0"/>
          </a:p>
        </p:txBody>
      </p:sp>
      <p:sp>
        <p:nvSpPr>
          <p:cNvPr id="7" name="Shape 5"/>
          <p:cNvSpPr/>
          <p:nvPr/>
        </p:nvSpPr>
        <p:spPr>
          <a:xfrm>
            <a:off x="228600" y="749808"/>
            <a:ext cx="3840480" cy="4206240"/>
          </a:xfrm>
          <a:prstGeom prst="roundRect">
            <a:avLst>
              <a:gd name="adj" fmla="val 2857"/>
            </a:avLst>
          </a:prstGeom>
          <a:solidFill>
            <a:srgbClr val="0F1E35"/>
          </a:solidFill>
          <a:ln w="19050">
            <a:solidFill>
              <a:srgbClr val="1A8CFF"/>
            </a:solidFill>
            <a:prstDash val="solid"/>
          </a:ln>
          <a:effectLst>
            <a:outerShdw sx="100000" sy="100000" kx="0" ky="0" algn="bl" rotWithShape="0" blurRad="101600" dist="38100" dir="8100000">
              <a:srgbClr val="000000">
                <a:alpha val="30000"/>
              </a:srgbClr>
            </a:outerShdw>
          </a:effectLst>
        </p:spPr>
      </p:sp>
      <p:sp>
        <p:nvSpPr>
          <p:cNvPr id="8" name="Shape 6"/>
          <p:cNvSpPr/>
          <p:nvPr/>
        </p:nvSpPr>
        <p:spPr>
          <a:xfrm>
            <a:off x="228600" y="749808"/>
            <a:ext cx="3840480" cy="320040"/>
          </a:xfrm>
          <a:prstGeom prst="rect">
            <a:avLst/>
          </a:prstGeom>
          <a:solidFill>
            <a:srgbClr val="1A8CFF">
              <a:alpha val="80000"/>
            </a:srgbClr>
          </a:solidFill>
          <a:ln w="12700">
            <a:solidFill>
              <a:srgbClr val="1A8CFF">
                <a:alpha val="80000"/>
              </a:srgbClr>
            </a:solidFill>
            <a:prstDash val="solid"/>
          </a:ln>
        </p:spPr>
      </p:sp>
      <p:pic>
        <p:nvPicPr>
          <p:cNvPr id="9" name="Image 0" descr="preencoded.png">    </p:cNvPr>
          <p:cNvPicPr>
            <a:picLocks noChangeAspect="1"/>
          </p:cNvPicPr>
          <p:nvPr/>
        </p:nvPicPr>
        <p:blipFill>
          <a:blip r:embed="rId1"/>
          <a:stretch>
            <a:fillRect/>
          </a:stretch>
        </p:blipFill>
        <p:spPr>
          <a:xfrm>
            <a:off x="347472" y="795528"/>
            <a:ext cx="228600" cy="228600"/>
          </a:xfrm>
          <a:prstGeom prst="rect">
            <a:avLst/>
          </a:prstGeom>
        </p:spPr>
      </p:pic>
      <p:sp>
        <p:nvSpPr>
          <p:cNvPr id="10" name="Text 7"/>
          <p:cNvSpPr/>
          <p:nvPr/>
        </p:nvSpPr>
        <p:spPr>
          <a:xfrm>
            <a:off x="621792" y="768096"/>
            <a:ext cx="3337560" cy="274320"/>
          </a:xfrm>
          <a:prstGeom prst="rect">
            <a:avLst/>
          </a:prstGeom>
          <a:noFill/>
          <a:ln/>
        </p:spPr>
        <p:txBody>
          <a:bodyPr wrap="square" rtlCol="0" anchor="ctr"/>
          <a:lstStyle/>
          <a:p>
            <a:pPr indent="0" marL="0">
              <a:buNone/>
            </a:pPr>
            <a:r>
              <a:rPr lang="en-US" sz="1000" b="1" dirty="0">
                <a:solidFill>
                  <a:srgbClr val="FFFFFF"/>
                </a:solidFill>
              </a:rPr>
              <a:t>React 18 Application Structure</a:t>
            </a:r>
            <a:endParaRPr lang="en-US" sz="1000" dirty="0"/>
          </a:p>
        </p:txBody>
      </p:sp>
      <p:sp>
        <p:nvSpPr>
          <p:cNvPr id="11" name="Text 8"/>
          <p:cNvSpPr/>
          <p:nvPr/>
        </p:nvSpPr>
        <p:spPr>
          <a:xfrm>
            <a:off x="411480" y="1143000"/>
            <a:ext cx="3520440" cy="219456"/>
          </a:xfrm>
          <a:prstGeom prst="rect">
            <a:avLst/>
          </a:prstGeom>
          <a:noFill/>
          <a:ln/>
        </p:spPr>
        <p:txBody>
          <a:bodyPr wrap="square" rtlCol="0" anchor="ctr"/>
          <a:lstStyle/>
          <a:p>
            <a:pPr indent="0" marL="0">
              <a:buNone/>
            </a:pPr>
            <a:r>
              <a:rPr lang="en-US" sz="850" b="1" dirty="0">
                <a:solidFill>
                  <a:srgbClr val="00E5FF"/>
                </a:solidFill>
              </a:rPr>
              <a:t>src/</a:t>
            </a:r>
            <a:endParaRPr lang="en-US" sz="850" dirty="0"/>
          </a:p>
        </p:txBody>
      </p:sp>
      <p:sp>
        <p:nvSpPr>
          <p:cNvPr id="12" name="Text 9"/>
          <p:cNvSpPr/>
          <p:nvPr/>
        </p:nvSpPr>
        <p:spPr>
          <a:xfrm>
            <a:off x="685800" y="1380744"/>
            <a:ext cx="3520440" cy="219456"/>
          </a:xfrm>
          <a:prstGeom prst="rect">
            <a:avLst/>
          </a:prstGeom>
          <a:noFill/>
          <a:ln/>
        </p:spPr>
        <p:txBody>
          <a:bodyPr wrap="square" rtlCol="0" anchor="ctr"/>
          <a:lstStyle/>
          <a:p>
            <a:pPr indent="0" marL="0">
              <a:buNone/>
            </a:pPr>
            <a:r>
              <a:rPr lang="en-US" sz="850" b="1" dirty="0">
                <a:solidFill>
                  <a:srgbClr val="1A8CFF"/>
                </a:solidFill>
              </a:rPr>
              <a:t>pages/</a:t>
            </a:r>
            <a:endParaRPr lang="en-US" sz="850" dirty="0"/>
          </a:p>
        </p:txBody>
      </p:sp>
      <p:sp>
        <p:nvSpPr>
          <p:cNvPr id="13" name="Text 10"/>
          <p:cNvSpPr/>
          <p:nvPr/>
        </p:nvSpPr>
        <p:spPr>
          <a:xfrm>
            <a:off x="960120" y="1618488"/>
            <a:ext cx="3520440" cy="219456"/>
          </a:xfrm>
          <a:prstGeom prst="rect">
            <a:avLst/>
          </a:prstGeom>
          <a:noFill/>
          <a:ln/>
        </p:spPr>
        <p:txBody>
          <a:bodyPr wrap="square" rtlCol="0" anchor="ctr"/>
          <a:lstStyle/>
          <a:p>
            <a:pPr indent="0" marL="0">
              <a:buNone/>
            </a:pPr>
            <a:r>
              <a:rPr lang="en-US" sz="850" dirty="0">
                <a:solidFill>
                  <a:srgbClr val="CBD5E1"/>
                </a:solidFill>
              </a:rPr>
              <a:t>EncodePage.jsx  —  Upload, key, payload slider</a:t>
            </a:r>
            <a:endParaRPr lang="en-US" sz="850" dirty="0"/>
          </a:p>
        </p:txBody>
      </p:sp>
      <p:sp>
        <p:nvSpPr>
          <p:cNvPr id="14" name="Text 11"/>
          <p:cNvSpPr/>
          <p:nvPr/>
        </p:nvSpPr>
        <p:spPr>
          <a:xfrm>
            <a:off x="960120" y="1856232"/>
            <a:ext cx="3520440" cy="219456"/>
          </a:xfrm>
          <a:prstGeom prst="rect">
            <a:avLst/>
          </a:prstGeom>
          <a:noFill/>
          <a:ln/>
        </p:spPr>
        <p:txBody>
          <a:bodyPr wrap="square" rtlCol="0" anchor="ctr"/>
          <a:lstStyle/>
          <a:p>
            <a:pPr indent="0" marL="0">
              <a:buNone/>
            </a:pPr>
            <a:r>
              <a:rPr lang="en-US" sz="850" dirty="0">
                <a:solidFill>
                  <a:srgbClr val="CBD5E1"/>
                </a:solidFill>
              </a:rPr>
              <a:t>DecodePage.jsx  —  Stego image + key input</a:t>
            </a:r>
            <a:endParaRPr lang="en-US" sz="850" dirty="0"/>
          </a:p>
        </p:txBody>
      </p:sp>
      <p:sp>
        <p:nvSpPr>
          <p:cNvPr id="15" name="Text 12"/>
          <p:cNvSpPr/>
          <p:nvPr/>
        </p:nvSpPr>
        <p:spPr>
          <a:xfrm>
            <a:off x="960120" y="2093976"/>
            <a:ext cx="3520440" cy="219456"/>
          </a:xfrm>
          <a:prstGeom prst="rect">
            <a:avLst/>
          </a:prstGeom>
          <a:noFill/>
          <a:ln/>
        </p:spPr>
        <p:txBody>
          <a:bodyPr wrap="square" rtlCol="0" anchor="ctr"/>
          <a:lstStyle/>
          <a:p>
            <a:pPr indent="0" marL="0">
              <a:buNone/>
            </a:pPr>
            <a:r>
              <a:rPr lang="en-US" sz="850" dirty="0">
                <a:solidFill>
                  <a:srgbClr val="CBD5E1"/>
                </a:solidFill>
              </a:rPr>
              <a:t>DetectPage.jsx  —  Image upload, confidence bar</a:t>
            </a:r>
            <a:endParaRPr lang="en-US" sz="850" dirty="0"/>
          </a:p>
        </p:txBody>
      </p:sp>
      <p:sp>
        <p:nvSpPr>
          <p:cNvPr id="16" name="Text 13"/>
          <p:cNvSpPr/>
          <p:nvPr/>
        </p:nvSpPr>
        <p:spPr>
          <a:xfrm>
            <a:off x="960120" y="2331720"/>
            <a:ext cx="3520440" cy="219456"/>
          </a:xfrm>
          <a:prstGeom prst="rect">
            <a:avLst/>
          </a:prstGeom>
          <a:noFill/>
          <a:ln/>
        </p:spPr>
        <p:txBody>
          <a:bodyPr wrap="square" rtlCol="0" anchor="ctr"/>
          <a:lstStyle/>
          <a:p>
            <a:pPr indent="0" marL="0">
              <a:buNone/>
            </a:pPr>
            <a:r>
              <a:rPr lang="en-US" sz="850" dirty="0">
                <a:solidFill>
                  <a:srgbClr val="CBD5E1"/>
                </a:solidFill>
              </a:rPr>
              <a:t>AttackPage.jsx  —  Attack type selector + params</a:t>
            </a:r>
            <a:endParaRPr lang="en-US" sz="850" dirty="0"/>
          </a:p>
        </p:txBody>
      </p:sp>
      <p:sp>
        <p:nvSpPr>
          <p:cNvPr id="17" name="Text 14"/>
          <p:cNvSpPr/>
          <p:nvPr/>
        </p:nvSpPr>
        <p:spPr>
          <a:xfrm>
            <a:off x="685800" y="2569464"/>
            <a:ext cx="3520440" cy="219456"/>
          </a:xfrm>
          <a:prstGeom prst="rect">
            <a:avLst/>
          </a:prstGeom>
          <a:noFill/>
          <a:ln/>
        </p:spPr>
        <p:txBody>
          <a:bodyPr wrap="square" rtlCol="0" anchor="ctr"/>
          <a:lstStyle/>
          <a:p>
            <a:pPr indent="0" marL="0">
              <a:buNone/>
            </a:pPr>
            <a:r>
              <a:rPr lang="en-US" sz="850" b="1" dirty="0">
                <a:solidFill>
                  <a:srgbClr val="1A8CFF"/>
                </a:solidFill>
              </a:rPr>
              <a:t>components/</a:t>
            </a:r>
            <a:endParaRPr lang="en-US" sz="850" dirty="0"/>
          </a:p>
        </p:txBody>
      </p:sp>
      <p:sp>
        <p:nvSpPr>
          <p:cNvPr id="18" name="Text 15"/>
          <p:cNvSpPr/>
          <p:nvPr/>
        </p:nvSpPr>
        <p:spPr>
          <a:xfrm>
            <a:off x="960120" y="2807208"/>
            <a:ext cx="3520440" cy="219456"/>
          </a:xfrm>
          <a:prstGeom prst="rect">
            <a:avLst/>
          </a:prstGeom>
          <a:noFill/>
          <a:ln/>
        </p:spPr>
        <p:txBody>
          <a:bodyPr wrap="square" rtlCol="0" anchor="ctr"/>
          <a:lstStyle/>
          <a:p>
            <a:pPr indent="0" marL="0">
              <a:buNone/>
            </a:pPr>
            <a:r>
              <a:rPr lang="en-US" sz="850" dirty="0">
                <a:solidFill>
                  <a:srgbClr val="CBD5E1"/>
                </a:solidFill>
              </a:rPr>
              <a:t>ImageUploader.jsx  (react-dropzone 14.2)</a:t>
            </a:r>
            <a:endParaRPr lang="en-US" sz="850" dirty="0"/>
          </a:p>
        </p:txBody>
      </p:sp>
      <p:sp>
        <p:nvSpPr>
          <p:cNvPr id="19" name="Text 16"/>
          <p:cNvSpPr/>
          <p:nvPr/>
        </p:nvSpPr>
        <p:spPr>
          <a:xfrm>
            <a:off x="960120" y="3044952"/>
            <a:ext cx="3520440" cy="219456"/>
          </a:xfrm>
          <a:prstGeom prst="rect">
            <a:avLst/>
          </a:prstGeom>
          <a:noFill/>
          <a:ln/>
        </p:spPr>
        <p:txBody>
          <a:bodyPr wrap="square" rtlCol="0" anchor="ctr"/>
          <a:lstStyle/>
          <a:p>
            <a:pPr indent="0" marL="0">
              <a:buNone/>
            </a:pPr>
            <a:r>
              <a:rPr lang="en-US" sz="850" dirty="0">
                <a:solidFill>
                  <a:srgbClr val="CBD5E1"/>
                </a:solidFill>
              </a:rPr>
              <a:t>ResultDisplay.jsx  (stego preview + metrics)</a:t>
            </a:r>
            <a:endParaRPr lang="en-US" sz="850" dirty="0"/>
          </a:p>
        </p:txBody>
      </p:sp>
      <p:sp>
        <p:nvSpPr>
          <p:cNvPr id="20" name="Text 17"/>
          <p:cNvSpPr/>
          <p:nvPr/>
        </p:nvSpPr>
        <p:spPr>
          <a:xfrm>
            <a:off x="960120" y="3282696"/>
            <a:ext cx="3520440" cy="219456"/>
          </a:xfrm>
          <a:prstGeom prst="rect">
            <a:avLst/>
          </a:prstGeom>
          <a:noFill/>
          <a:ln/>
        </p:spPr>
        <p:txBody>
          <a:bodyPr wrap="square" rtlCol="0" anchor="ctr"/>
          <a:lstStyle/>
          <a:p>
            <a:pPr indent="0" marL="0">
              <a:buNone/>
            </a:pPr>
            <a:r>
              <a:rPr lang="en-US" sz="850" dirty="0">
                <a:solidFill>
                  <a:srgbClr val="CBD5E1"/>
                </a:solidFill>
              </a:rPr>
              <a:t>ConfidenceBar.jsx  (detection result widget)</a:t>
            </a:r>
            <a:endParaRPr lang="en-US" sz="850" dirty="0"/>
          </a:p>
        </p:txBody>
      </p:sp>
      <p:sp>
        <p:nvSpPr>
          <p:cNvPr id="21" name="Text 18"/>
          <p:cNvSpPr/>
          <p:nvPr/>
        </p:nvSpPr>
        <p:spPr>
          <a:xfrm>
            <a:off x="685800" y="3520440"/>
            <a:ext cx="3520440" cy="219456"/>
          </a:xfrm>
          <a:prstGeom prst="rect">
            <a:avLst/>
          </a:prstGeom>
          <a:noFill/>
          <a:ln/>
        </p:spPr>
        <p:txBody>
          <a:bodyPr wrap="square" rtlCol="0" anchor="ctr"/>
          <a:lstStyle/>
          <a:p>
            <a:pPr indent="0" marL="0">
              <a:buNone/>
            </a:pPr>
            <a:r>
              <a:rPr lang="en-US" sz="850" b="1" dirty="0">
                <a:solidFill>
                  <a:srgbClr val="1A8CFF"/>
                </a:solidFill>
              </a:rPr>
              <a:t>services/</a:t>
            </a:r>
            <a:endParaRPr lang="en-US" sz="850" dirty="0"/>
          </a:p>
        </p:txBody>
      </p:sp>
      <p:sp>
        <p:nvSpPr>
          <p:cNvPr id="22" name="Text 19"/>
          <p:cNvSpPr/>
          <p:nvPr/>
        </p:nvSpPr>
        <p:spPr>
          <a:xfrm>
            <a:off x="960120" y="3758184"/>
            <a:ext cx="3520440" cy="219456"/>
          </a:xfrm>
          <a:prstGeom prst="rect">
            <a:avLst/>
          </a:prstGeom>
          <a:noFill/>
          <a:ln/>
        </p:spPr>
        <p:txBody>
          <a:bodyPr wrap="square" rtlCol="0" anchor="ctr"/>
          <a:lstStyle/>
          <a:p>
            <a:pPr indent="0" marL="0">
              <a:buNone/>
            </a:pPr>
            <a:r>
              <a:rPr lang="en-US" sz="850" dirty="0">
                <a:solidFill>
                  <a:srgbClr val="CBD5E1"/>
                </a:solidFill>
              </a:rPr>
              <a:t>api.js  —  Axios instance → localhost:8000</a:t>
            </a:r>
            <a:endParaRPr lang="en-US" sz="850" dirty="0"/>
          </a:p>
        </p:txBody>
      </p:sp>
      <p:sp>
        <p:nvSpPr>
          <p:cNvPr id="23" name="Text 20"/>
          <p:cNvSpPr/>
          <p:nvPr/>
        </p:nvSpPr>
        <p:spPr>
          <a:xfrm>
            <a:off x="685800" y="3995928"/>
            <a:ext cx="3520440" cy="219456"/>
          </a:xfrm>
          <a:prstGeom prst="rect">
            <a:avLst/>
          </a:prstGeom>
          <a:noFill/>
          <a:ln/>
        </p:spPr>
        <p:txBody>
          <a:bodyPr wrap="square" rtlCol="0" anchor="ctr"/>
          <a:lstStyle/>
          <a:p>
            <a:pPr indent="0" marL="0">
              <a:buNone/>
            </a:pPr>
            <a:r>
              <a:rPr lang="en-US" sz="850" dirty="0">
                <a:solidFill>
                  <a:srgbClr val="00E5FF"/>
                </a:solidFill>
              </a:rPr>
              <a:t>App.jsx  —  React Router + navigation</a:t>
            </a:r>
            <a:endParaRPr lang="en-US" sz="850" dirty="0"/>
          </a:p>
        </p:txBody>
      </p:sp>
      <p:sp>
        <p:nvSpPr>
          <p:cNvPr id="24" name="Shape 21"/>
          <p:cNvSpPr/>
          <p:nvPr/>
        </p:nvSpPr>
        <p:spPr>
          <a:xfrm>
            <a:off x="4251960" y="749808"/>
            <a:ext cx="4663440" cy="1234440"/>
          </a:xfrm>
          <a:prstGeom prst="roundRect">
            <a:avLst>
              <a:gd name="adj" fmla="val 7407"/>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25" name="Shape 22"/>
          <p:cNvSpPr/>
          <p:nvPr/>
        </p:nvSpPr>
        <p:spPr>
          <a:xfrm>
            <a:off x="4251960" y="749808"/>
            <a:ext cx="4663440" cy="274320"/>
          </a:xfrm>
          <a:prstGeom prst="rect">
            <a:avLst/>
          </a:prstGeom>
          <a:solidFill>
            <a:srgbClr val="00E5FF">
              <a:alpha val="80000"/>
            </a:srgbClr>
          </a:solidFill>
          <a:ln w="12700">
            <a:solidFill>
              <a:srgbClr val="00E5FF">
                <a:alpha val="80000"/>
              </a:srgbClr>
            </a:solidFill>
            <a:prstDash val="solid"/>
          </a:ln>
        </p:spPr>
      </p:sp>
      <p:sp>
        <p:nvSpPr>
          <p:cNvPr id="26" name="Text 23"/>
          <p:cNvSpPr/>
          <p:nvPr/>
        </p:nvSpPr>
        <p:spPr>
          <a:xfrm>
            <a:off x="4361688" y="786384"/>
            <a:ext cx="4480560" cy="228600"/>
          </a:xfrm>
          <a:prstGeom prst="rect">
            <a:avLst/>
          </a:prstGeom>
          <a:noFill/>
          <a:ln/>
        </p:spPr>
        <p:txBody>
          <a:bodyPr wrap="square" rtlCol="0" anchor="ctr"/>
          <a:lstStyle/>
          <a:p>
            <a:pPr indent="0" marL="0">
              <a:buNone/>
            </a:pPr>
            <a:r>
              <a:rPr lang="en-US" sz="1000" b="1" dirty="0">
                <a:solidFill>
                  <a:srgbClr val="FFFFFF"/>
                </a:solidFill>
              </a:rPr>
              <a:t>Tech Stack</a:t>
            </a:r>
            <a:endParaRPr lang="en-US" sz="1000" dirty="0"/>
          </a:p>
        </p:txBody>
      </p:sp>
      <p:pic>
        <p:nvPicPr>
          <p:cNvPr id="27" name="Image 1" descr="preencoded.png">    </p:cNvPr>
          <p:cNvPicPr>
            <a:picLocks noChangeAspect="1"/>
          </p:cNvPicPr>
          <p:nvPr/>
        </p:nvPicPr>
        <p:blipFill>
          <a:blip r:embed="rId2"/>
          <a:stretch>
            <a:fillRect/>
          </a:stretch>
        </p:blipFill>
        <p:spPr>
          <a:xfrm>
            <a:off x="4361688" y="1097280"/>
            <a:ext cx="182880" cy="182880"/>
          </a:xfrm>
          <a:prstGeom prst="rect">
            <a:avLst/>
          </a:prstGeom>
        </p:spPr>
      </p:pic>
      <p:sp>
        <p:nvSpPr>
          <p:cNvPr id="28" name="Text 24"/>
          <p:cNvSpPr/>
          <p:nvPr/>
        </p:nvSpPr>
        <p:spPr>
          <a:xfrm>
            <a:off x="4599432" y="1069848"/>
            <a:ext cx="4206240" cy="256032"/>
          </a:xfrm>
          <a:prstGeom prst="rect">
            <a:avLst/>
          </a:prstGeom>
          <a:noFill/>
          <a:ln/>
        </p:spPr>
        <p:txBody>
          <a:bodyPr wrap="square" rtlCol="0" anchor="ctr"/>
          <a:lstStyle/>
          <a:p>
            <a:pPr indent="0" marL="0">
              <a:buNone/>
            </a:pPr>
            <a:r>
              <a:rPr lang="en-US" sz="900" dirty="0">
                <a:solidFill>
                  <a:srgbClr val="CBD5E1"/>
                </a:solidFill>
              </a:rPr>
              <a:t>React 18.2 + React Router 6.20</a:t>
            </a:r>
            <a:endParaRPr lang="en-US" sz="900" dirty="0"/>
          </a:p>
        </p:txBody>
      </p:sp>
      <p:pic>
        <p:nvPicPr>
          <p:cNvPr id="29" name="Image 2" descr="preencoded.png">    </p:cNvPr>
          <p:cNvPicPr>
            <a:picLocks noChangeAspect="1"/>
          </p:cNvPicPr>
          <p:nvPr/>
        </p:nvPicPr>
        <p:blipFill>
          <a:blip r:embed="rId3"/>
          <a:stretch>
            <a:fillRect/>
          </a:stretch>
        </p:blipFill>
        <p:spPr>
          <a:xfrm>
            <a:off x="4361688" y="1380744"/>
            <a:ext cx="182880" cy="182880"/>
          </a:xfrm>
          <a:prstGeom prst="rect">
            <a:avLst/>
          </a:prstGeom>
        </p:spPr>
      </p:pic>
      <p:sp>
        <p:nvSpPr>
          <p:cNvPr id="30" name="Text 25"/>
          <p:cNvSpPr/>
          <p:nvPr/>
        </p:nvSpPr>
        <p:spPr>
          <a:xfrm>
            <a:off x="4599432" y="1353312"/>
            <a:ext cx="4206240" cy="256032"/>
          </a:xfrm>
          <a:prstGeom prst="rect">
            <a:avLst/>
          </a:prstGeom>
          <a:noFill/>
          <a:ln/>
        </p:spPr>
        <p:txBody>
          <a:bodyPr wrap="square" rtlCol="0" anchor="ctr"/>
          <a:lstStyle/>
          <a:p>
            <a:pPr indent="0" marL="0">
              <a:buNone/>
            </a:pPr>
            <a:r>
              <a:rPr lang="en-US" sz="900" dirty="0">
                <a:solidFill>
                  <a:srgbClr val="CBD5E1"/>
                </a:solidFill>
              </a:rPr>
              <a:t>Axios 1.6  ·  React Dropzone 14.2</a:t>
            </a:r>
            <a:endParaRPr lang="en-US" sz="900" dirty="0"/>
          </a:p>
        </p:txBody>
      </p:sp>
      <p:pic>
        <p:nvPicPr>
          <p:cNvPr id="31" name="Image 3" descr="preencoded.png">    </p:cNvPr>
          <p:cNvPicPr>
            <a:picLocks noChangeAspect="1"/>
          </p:cNvPicPr>
          <p:nvPr/>
        </p:nvPicPr>
        <p:blipFill>
          <a:blip r:embed="rId4"/>
          <a:stretch>
            <a:fillRect/>
          </a:stretch>
        </p:blipFill>
        <p:spPr>
          <a:xfrm>
            <a:off x="4361688" y="1664208"/>
            <a:ext cx="182880" cy="182880"/>
          </a:xfrm>
          <a:prstGeom prst="rect">
            <a:avLst/>
          </a:prstGeom>
        </p:spPr>
      </p:pic>
      <p:sp>
        <p:nvSpPr>
          <p:cNvPr id="32" name="Text 26"/>
          <p:cNvSpPr/>
          <p:nvPr/>
        </p:nvSpPr>
        <p:spPr>
          <a:xfrm>
            <a:off x="4599432" y="1636776"/>
            <a:ext cx="4206240" cy="256032"/>
          </a:xfrm>
          <a:prstGeom prst="rect">
            <a:avLst/>
          </a:prstGeom>
          <a:noFill/>
          <a:ln/>
        </p:spPr>
        <p:txBody>
          <a:bodyPr wrap="square" rtlCol="0" anchor="ctr"/>
          <a:lstStyle/>
          <a:p>
            <a:pPr indent="0" marL="0">
              <a:buNone/>
            </a:pPr>
            <a:r>
              <a:rPr lang="en-US" sz="900" dirty="0">
                <a:solidFill>
                  <a:srgbClr val="CBD5E1"/>
                </a:solidFill>
              </a:rPr>
              <a:t>Tailwind CSS 3.3  ·  Material-UI 5.14</a:t>
            </a:r>
            <a:endParaRPr lang="en-US" sz="900" dirty="0"/>
          </a:p>
        </p:txBody>
      </p:sp>
      <p:sp>
        <p:nvSpPr>
          <p:cNvPr id="33" name="Shape 27"/>
          <p:cNvSpPr/>
          <p:nvPr/>
        </p:nvSpPr>
        <p:spPr>
          <a:xfrm>
            <a:off x="4251960" y="2084832"/>
            <a:ext cx="4663440" cy="1234440"/>
          </a:xfrm>
          <a:prstGeom prst="roundRect">
            <a:avLst>
              <a:gd name="adj" fmla="val 7407"/>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sp>
        <p:nvSpPr>
          <p:cNvPr id="34" name="Shape 28"/>
          <p:cNvSpPr/>
          <p:nvPr/>
        </p:nvSpPr>
        <p:spPr>
          <a:xfrm>
            <a:off x="4251960" y="2084832"/>
            <a:ext cx="4663440" cy="274320"/>
          </a:xfrm>
          <a:prstGeom prst="rect">
            <a:avLst/>
          </a:prstGeom>
          <a:solidFill>
            <a:srgbClr val="7B2FFF">
              <a:alpha val="80000"/>
            </a:srgbClr>
          </a:solidFill>
          <a:ln w="12700">
            <a:solidFill>
              <a:srgbClr val="7B2FFF">
                <a:alpha val="80000"/>
              </a:srgbClr>
            </a:solidFill>
            <a:prstDash val="solid"/>
          </a:ln>
        </p:spPr>
      </p:sp>
      <p:sp>
        <p:nvSpPr>
          <p:cNvPr id="35" name="Text 29"/>
          <p:cNvSpPr/>
          <p:nvPr/>
        </p:nvSpPr>
        <p:spPr>
          <a:xfrm>
            <a:off x="4361688" y="2121408"/>
            <a:ext cx="4480560" cy="228600"/>
          </a:xfrm>
          <a:prstGeom prst="rect">
            <a:avLst/>
          </a:prstGeom>
          <a:noFill/>
          <a:ln/>
        </p:spPr>
        <p:txBody>
          <a:bodyPr wrap="square" rtlCol="0" anchor="ctr"/>
          <a:lstStyle/>
          <a:p>
            <a:pPr indent="0" marL="0">
              <a:buNone/>
            </a:pPr>
            <a:r>
              <a:rPr lang="en-US" sz="1000" b="1" dirty="0">
                <a:solidFill>
                  <a:srgbClr val="FFFFFF"/>
                </a:solidFill>
              </a:rPr>
              <a:t>Key UI Features</a:t>
            </a:r>
            <a:endParaRPr lang="en-US" sz="1000" dirty="0"/>
          </a:p>
        </p:txBody>
      </p:sp>
      <p:pic>
        <p:nvPicPr>
          <p:cNvPr id="36" name="Image 4" descr="preencoded.png">    </p:cNvPr>
          <p:cNvPicPr>
            <a:picLocks noChangeAspect="1"/>
          </p:cNvPicPr>
          <p:nvPr/>
        </p:nvPicPr>
        <p:blipFill>
          <a:blip r:embed="rId5"/>
          <a:stretch>
            <a:fillRect/>
          </a:stretch>
        </p:blipFill>
        <p:spPr>
          <a:xfrm>
            <a:off x="4361688" y="2432304"/>
            <a:ext cx="182880" cy="182880"/>
          </a:xfrm>
          <a:prstGeom prst="rect">
            <a:avLst/>
          </a:prstGeom>
        </p:spPr>
      </p:pic>
      <p:sp>
        <p:nvSpPr>
          <p:cNvPr id="37" name="Text 30"/>
          <p:cNvSpPr/>
          <p:nvPr/>
        </p:nvSpPr>
        <p:spPr>
          <a:xfrm>
            <a:off x="4599432" y="2404872"/>
            <a:ext cx="4206240" cy="256032"/>
          </a:xfrm>
          <a:prstGeom prst="rect">
            <a:avLst/>
          </a:prstGeom>
          <a:noFill/>
          <a:ln/>
        </p:spPr>
        <p:txBody>
          <a:bodyPr wrap="square" rtlCol="0" anchor="ctr"/>
          <a:lstStyle/>
          <a:p>
            <a:pPr indent="0" marL="0">
              <a:buNone/>
            </a:pPr>
            <a:r>
              <a:rPr lang="en-US" sz="900" dirty="0">
                <a:solidFill>
                  <a:srgbClr val="CBD5E1"/>
                </a:solidFill>
              </a:rPr>
              <a:t>Drag-and-drop image upload (all pages)</a:t>
            </a:r>
            <a:endParaRPr lang="en-US" sz="900" dirty="0"/>
          </a:p>
        </p:txBody>
      </p:sp>
      <p:pic>
        <p:nvPicPr>
          <p:cNvPr id="38" name="Image 5" descr="preencoded.png">    </p:cNvPr>
          <p:cNvPicPr>
            <a:picLocks noChangeAspect="1"/>
          </p:cNvPicPr>
          <p:nvPr/>
        </p:nvPicPr>
        <p:blipFill>
          <a:blip r:embed="rId6"/>
          <a:stretch>
            <a:fillRect/>
          </a:stretch>
        </p:blipFill>
        <p:spPr>
          <a:xfrm>
            <a:off x="4361688" y="2715768"/>
            <a:ext cx="182880" cy="182880"/>
          </a:xfrm>
          <a:prstGeom prst="rect">
            <a:avLst/>
          </a:prstGeom>
        </p:spPr>
      </p:pic>
      <p:sp>
        <p:nvSpPr>
          <p:cNvPr id="39" name="Text 31"/>
          <p:cNvSpPr/>
          <p:nvPr/>
        </p:nvSpPr>
        <p:spPr>
          <a:xfrm>
            <a:off x="4599432" y="2688336"/>
            <a:ext cx="4206240" cy="256032"/>
          </a:xfrm>
          <a:prstGeom prst="rect">
            <a:avLst/>
          </a:prstGeom>
          <a:noFill/>
          <a:ln/>
        </p:spPr>
        <p:txBody>
          <a:bodyPr wrap="square" rtlCol="0" anchor="ctr"/>
          <a:lstStyle/>
          <a:p>
            <a:pPr indent="0" marL="0">
              <a:buNone/>
            </a:pPr>
            <a:r>
              <a:rPr lang="en-US" sz="900" dirty="0">
                <a:solidFill>
                  <a:srgbClr val="CBD5E1"/>
                </a:solidFill>
              </a:rPr>
              <a:t>Base64 stego image preview + download link</a:t>
            </a:r>
            <a:endParaRPr lang="en-US" sz="900" dirty="0"/>
          </a:p>
        </p:txBody>
      </p:sp>
      <p:pic>
        <p:nvPicPr>
          <p:cNvPr id="40" name="Image 6" descr="preencoded.png">    </p:cNvPr>
          <p:cNvPicPr>
            <a:picLocks noChangeAspect="1"/>
          </p:cNvPicPr>
          <p:nvPr/>
        </p:nvPicPr>
        <p:blipFill>
          <a:blip r:embed="rId7"/>
          <a:stretch>
            <a:fillRect/>
          </a:stretch>
        </p:blipFill>
        <p:spPr>
          <a:xfrm>
            <a:off x="4361688" y="2999232"/>
            <a:ext cx="182880" cy="182880"/>
          </a:xfrm>
          <a:prstGeom prst="rect">
            <a:avLst/>
          </a:prstGeom>
        </p:spPr>
      </p:pic>
      <p:sp>
        <p:nvSpPr>
          <p:cNvPr id="41" name="Text 32"/>
          <p:cNvSpPr/>
          <p:nvPr/>
        </p:nvSpPr>
        <p:spPr>
          <a:xfrm>
            <a:off x="4599432" y="2971800"/>
            <a:ext cx="4206240" cy="256032"/>
          </a:xfrm>
          <a:prstGeom prst="rect">
            <a:avLst/>
          </a:prstGeom>
          <a:noFill/>
          <a:ln/>
        </p:spPr>
        <p:txBody>
          <a:bodyPr wrap="square" rtlCol="0" anchor="ctr"/>
          <a:lstStyle/>
          <a:p>
            <a:pPr indent="0" marL="0">
              <a:buNone/>
            </a:pPr>
            <a:r>
              <a:rPr lang="en-US" sz="900" dirty="0">
                <a:solidFill>
                  <a:srgbClr val="CBD5E1"/>
                </a:solidFill>
              </a:rPr>
              <a:t>Real-time confidence bar for detection results</a:t>
            </a:r>
            <a:endParaRPr lang="en-US" sz="900" dirty="0"/>
          </a:p>
        </p:txBody>
      </p:sp>
      <p:sp>
        <p:nvSpPr>
          <p:cNvPr id="42" name="Shape 33"/>
          <p:cNvSpPr/>
          <p:nvPr/>
        </p:nvSpPr>
        <p:spPr>
          <a:xfrm>
            <a:off x="4251960" y="3419856"/>
            <a:ext cx="4663440" cy="1234440"/>
          </a:xfrm>
          <a:prstGeom prst="roundRect">
            <a:avLst>
              <a:gd name="adj" fmla="val 7407"/>
            </a:avLst>
          </a:prstGeom>
          <a:solidFill>
            <a:srgbClr val="0F1E35"/>
          </a:solidFill>
          <a:ln w="19050">
            <a:solidFill>
              <a:srgbClr val="00D4A1"/>
            </a:solidFill>
            <a:prstDash val="solid"/>
          </a:ln>
          <a:effectLst>
            <a:outerShdw sx="100000" sy="100000" kx="0" ky="0" algn="bl" rotWithShape="0" blurRad="101600" dist="38100" dir="8100000">
              <a:srgbClr val="000000">
                <a:alpha val="30000"/>
              </a:srgbClr>
            </a:outerShdw>
          </a:effectLst>
        </p:spPr>
      </p:sp>
      <p:sp>
        <p:nvSpPr>
          <p:cNvPr id="43" name="Shape 34"/>
          <p:cNvSpPr/>
          <p:nvPr/>
        </p:nvSpPr>
        <p:spPr>
          <a:xfrm>
            <a:off x="4251960" y="3419856"/>
            <a:ext cx="4663440" cy="274320"/>
          </a:xfrm>
          <a:prstGeom prst="rect">
            <a:avLst/>
          </a:prstGeom>
          <a:solidFill>
            <a:srgbClr val="00D4A1">
              <a:alpha val="80000"/>
            </a:srgbClr>
          </a:solidFill>
          <a:ln w="12700">
            <a:solidFill>
              <a:srgbClr val="00D4A1">
                <a:alpha val="80000"/>
              </a:srgbClr>
            </a:solidFill>
            <a:prstDash val="solid"/>
          </a:ln>
        </p:spPr>
      </p:sp>
      <p:sp>
        <p:nvSpPr>
          <p:cNvPr id="44" name="Text 35"/>
          <p:cNvSpPr/>
          <p:nvPr/>
        </p:nvSpPr>
        <p:spPr>
          <a:xfrm>
            <a:off x="4361688" y="3456432"/>
            <a:ext cx="4480560" cy="228600"/>
          </a:xfrm>
          <a:prstGeom prst="rect">
            <a:avLst/>
          </a:prstGeom>
          <a:noFill/>
          <a:ln/>
        </p:spPr>
        <p:txBody>
          <a:bodyPr wrap="square" rtlCol="0" anchor="ctr"/>
          <a:lstStyle/>
          <a:p>
            <a:pPr indent="0" marL="0">
              <a:buNone/>
            </a:pPr>
            <a:r>
              <a:rPr lang="en-US" sz="1000" b="1" dirty="0">
                <a:solidFill>
                  <a:srgbClr val="FFFFFF"/>
                </a:solidFill>
              </a:rPr>
              <a:t>API Communication</a:t>
            </a:r>
            <a:endParaRPr lang="en-US" sz="1000" dirty="0"/>
          </a:p>
        </p:txBody>
      </p:sp>
      <p:pic>
        <p:nvPicPr>
          <p:cNvPr id="45" name="Image 7" descr="preencoded.png">    </p:cNvPr>
          <p:cNvPicPr>
            <a:picLocks noChangeAspect="1"/>
          </p:cNvPicPr>
          <p:nvPr/>
        </p:nvPicPr>
        <p:blipFill>
          <a:blip r:embed="rId8"/>
          <a:stretch>
            <a:fillRect/>
          </a:stretch>
        </p:blipFill>
        <p:spPr>
          <a:xfrm>
            <a:off x="4361688" y="3767328"/>
            <a:ext cx="182880" cy="182880"/>
          </a:xfrm>
          <a:prstGeom prst="rect">
            <a:avLst/>
          </a:prstGeom>
        </p:spPr>
      </p:pic>
      <p:sp>
        <p:nvSpPr>
          <p:cNvPr id="46" name="Text 36"/>
          <p:cNvSpPr/>
          <p:nvPr/>
        </p:nvSpPr>
        <p:spPr>
          <a:xfrm>
            <a:off x="4599432" y="3739896"/>
            <a:ext cx="4206240" cy="256032"/>
          </a:xfrm>
          <a:prstGeom prst="rect">
            <a:avLst/>
          </a:prstGeom>
          <a:noFill/>
          <a:ln/>
        </p:spPr>
        <p:txBody>
          <a:bodyPr wrap="square" rtlCol="0" anchor="ctr"/>
          <a:lstStyle/>
          <a:p>
            <a:pPr indent="0" marL="0">
              <a:buNone/>
            </a:pPr>
            <a:r>
              <a:rPr lang="en-US" sz="900" dirty="0">
                <a:solidFill>
                  <a:srgbClr val="CBD5E1"/>
                </a:solidFill>
              </a:rPr>
              <a:t>Axios service layer → all four endpoints</a:t>
            </a:r>
            <a:endParaRPr lang="en-US" sz="900" dirty="0"/>
          </a:p>
        </p:txBody>
      </p:sp>
      <p:pic>
        <p:nvPicPr>
          <p:cNvPr id="47" name="Image 8" descr="preencoded.png">    </p:cNvPr>
          <p:cNvPicPr>
            <a:picLocks noChangeAspect="1"/>
          </p:cNvPicPr>
          <p:nvPr/>
        </p:nvPicPr>
        <p:blipFill>
          <a:blip r:embed="rId9"/>
          <a:stretch>
            <a:fillRect/>
          </a:stretch>
        </p:blipFill>
        <p:spPr>
          <a:xfrm>
            <a:off x="4361688" y="4050792"/>
            <a:ext cx="182880" cy="182880"/>
          </a:xfrm>
          <a:prstGeom prst="rect">
            <a:avLst/>
          </a:prstGeom>
        </p:spPr>
      </p:pic>
      <p:sp>
        <p:nvSpPr>
          <p:cNvPr id="48" name="Text 37"/>
          <p:cNvSpPr/>
          <p:nvPr/>
        </p:nvSpPr>
        <p:spPr>
          <a:xfrm>
            <a:off x="4599432" y="4023360"/>
            <a:ext cx="4206240" cy="256032"/>
          </a:xfrm>
          <a:prstGeom prst="rect">
            <a:avLst/>
          </a:prstGeom>
          <a:noFill/>
          <a:ln/>
        </p:spPr>
        <p:txBody>
          <a:bodyPr wrap="square" rtlCol="0" anchor="ctr"/>
          <a:lstStyle/>
          <a:p>
            <a:pPr indent="0" marL="0">
              <a:buNone/>
            </a:pPr>
            <a:r>
              <a:rPr lang="en-US" sz="900" dirty="0">
                <a:solidFill>
                  <a:srgbClr val="CBD5E1"/>
                </a:solidFill>
              </a:rPr>
              <a:t>Error handling: specific HTTP codes displayed</a:t>
            </a:r>
            <a:endParaRPr lang="en-US" sz="900" dirty="0"/>
          </a:p>
        </p:txBody>
      </p:sp>
      <p:pic>
        <p:nvPicPr>
          <p:cNvPr id="49" name="Image 9" descr="preencoded.png">    </p:cNvPr>
          <p:cNvPicPr>
            <a:picLocks noChangeAspect="1"/>
          </p:cNvPicPr>
          <p:nvPr/>
        </p:nvPicPr>
        <p:blipFill>
          <a:blip r:embed="rId10"/>
          <a:stretch>
            <a:fillRect/>
          </a:stretch>
        </p:blipFill>
        <p:spPr>
          <a:xfrm>
            <a:off x="4361688" y="4334256"/>
            <a:ext cx="182880" cy="182880"/>
          </a:xfrm>
          <a:prstGeom prst="rect">
            <a:avLst/>
          </a:prstGeom>
        </p:spPr>
      </p:pic>
      <p:sp>
        <p:nvSpPr>
          <p:cNvPr id="50" name="Text 38"/>
          <p:cNvSpPr/>
          <p:nvPr/>
        </p:nvSpPr>
        <p:spPr>
          <a:xfrm>
            <a:off x="4599432" y="4306824"/>
            <a:ext cx="4206240" cy="256032"/>
          </a:xfrm>
          <a:prstGeom prst="rect">
            <a:avLst/>
          </a:prstGeom>
          <a:noFill/>
          <a:ln/>
        </p:spPr>
        <p:txBody>
          <a:bodyPr wrap="square" rtlCol="0" anchor="ctr"/>
          <a:lstStyle/>
          <a:p>
            <a:pPr indent="0" marL="0">
              <a:buNone/>
            </a:pPr>
            <a:r>
              <a:rPr lang="en-US" sz="900" dirty="0">
                <a:solidFill>
                  <a:srgbClr val="CBD5E1"/>
                </a:solidFill>
              </a:rPr>
              <a:t>CORS: localhost:3000 ↔ localhost:8000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090F"/>
          </a:solidFill>
          <a:ln w="12700">
            <a:solidFill>
              <a:srgbClr val="07090F"/>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0" y="0"/>
            <a:ext cx="9144000" cy="5143500"/>
          </a:xfrm>
          <a:prstGeom prst="rect">
            <a:avLst/>
          </a:prstGeom>
          <a:solidFill>
            <a:srgbClr val="081428">
              <a:alpha val="40000"/>
            </a:srgbClr>
          </a:solidFill>
          <a:ln w="12700">
            <a:solidFill>
              <a:srgbClr val="081428">
                <a:alpha val="40000"/>
              </a:srgbClr>
            </a:solidFill>
            <a:prstDash val="solid"/>
          </a:ln>
        </p:spPr>
      </p:sp>
      <p:sp>
        <p:nvSpPr>
          <p:cNvPr id="5" name="Shape 3"/>
          <p:cNvSpPr/>
          <p:nvPr/>
        </p:nvSpPr>
        <p:spPr>
          <a:xfrm>
            <a:off x="457200" y="256032"/>
            <a:ext cx="1463040" cy="256032"/>
          </a:xfrm>
          <a:prstGeom prst="rect">
            <a:avLst/>
          </a:prstGeom>
          <a:solidFill>
            <a:srgbClr val="00E5FF"/>
          </a:solidFill>
          <a:ln w="12700">
            <a:solidFill>
              <a:srgbClr val="00E5FF"/>
            </a:solidFill>
            <a:prstDash val="solid"/>
          </a:ln>
        </p:spPr>
      </p:sp>
      <p:sp>
        <p:nvSpPr>
          <p:cNvPr id="6" name="Text 4"/>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TESTING &amp; DEPLOY</a:t>
            </a:r>
            <a:endParaRPr lang="en-US" sz="900" dirty="0"/>
          </a:p>
        </p:txBody>
      </p:sp>
      <p:sp>
        <p:nvSpPr>
          <p:cNvPr id="7" name="Text 5"/>
          <p:cNvSpPr/>
          <p:nvPr/>
        </p:nvSpPr>
        <p:spPr>
          <a:xfrm>
            <a:off x="2103120" y="182880"/>
            <a:ext cx="6675120" cy="438912"/>
          </a:xfrm>
          <a:prstGeom prst="rect">
            <a:avLst/>
          </a:prstGeom>
          <a:noFill/>
          <a:ln/>
        </p:spPr>
        <p:txBody>
          <a:bodyPr wrap="square" rtlCol="0" anchor="ctr"/>
          <a:lstStyle/>
          <a:p>
            <a:pPr indent="0" marL="0">
              <a:buNone/>
            </a:pPr>
            <a:r>
              <a:rPr lang="en-US" sz="2300" b="1" dirty="0">
                <a:solidFill>
                  <a:srgbClr val="FFFFFF"/>
                </a:solidFill>
                <a:latin typeface="Arial Black" pitchFamily="34" charset="0"/>
                <a:ea typeface="Arial Black" pitchFamily="34" charset="-122"/>
                <a:cs typeface="Arial Black" pitchFamily="34" charset="-120"/>
              </a:rPr>
              <a:t>Testing, Performance &amp; Deployment</a:t>
            </a:r>
            <a:endParaRPr lang="en-US" sz="2300" dirty="0"/>
          </a:p>
        </p:txBody>
      </p:sp>
      <p:sp>
        <p:nvSpPr>
          <p:cNvPr id="8" name="Shape 6"/>
          <p:cNvSpPr/>
          <p:nvPr/>
        </p:nvSpPr>
        <p:spPr>
          <a:xfrm>
            <a:off x="228600" y="749808"/>
            <a:ext cx="4160520" cy="2194560"/>
          </a:xfrm>
          <a:prstGeom prst="roundRect">
            <a:avLst>
              <a:gd name="adj" fmla="val 4167"/>
            </a:avLst>
          </a:prstGeom>
          <a:solidFill>
            <a:srgbClr val="0F1E35"/>
          </a:solidFill>
          <a:ln w="19050">
            <a:solidFill>
              <a:srgbClr val="00E5FF"/>
            </a:solidFill>
            <a:prstDash val="solid"/>
          </a:ln>
          <a:effectLst>
            <a:outerShdw sx="100000" sy="100000" kx="0" ky="0" algn="bl" rotWithShape="0" blurRad="101600" dist="38100" dir="8100000">
              <a:srgbClr val="000000">
                <a:alpha val="30000"/>
              </a:srgbClr>
            </a:outerShdw>
          </a:effectLst>
        </p:spPr>
      </p:sp>
      <p:sp>
        <p:nvSpPr>
          <p:cNvPr id="9" name="Shape 7"/>
          <p:cNvSpPr/>
          <p:nvPr/>
        </p:nvSpPr>
        <p:spPr>
          <a:xfrm>
            <a:off x="228600" y="749808"/>
            <a:ext cx="4160520" cy="274320"/>
          </a:xfrm>
          <a:prstGeom prst="rect">
            <a:avLst/>
          </a:prstGeom>
          <a:solidFill>
            <a:srgbClr val="00E5FF">
              <a:alpha val="80000"/>
            </a:srgbClr>
          </a:solidFill>
          <a:ln w="12700">
            <a:solidFill>
              <a:srgbClr val="00E5FF">
                <a:alpha val="80000"/>
              </a:srgbClr>
            </a:solidFill>
            <a:prstDash val="solid"/>
          </a:ln>
        </p:spPr>
      </p:sp>
      <p:sp>
        <p:nvSpPr>
          <p:cNvPr id="10" name="Text 8"/>
          <p:cNvSpPr/>
          <p:nvPr/>
        </p:nvSpPr>
        <p:spPr>
          <a:xfrm>
            <a:off x="347472" y="768096"/>
            <a:ext cx="3931920" cy="246888"/>
          </a:xfrm>
          <a:prstGeom prst="rect">
            <a:avLst/>
          </a:prstGeom>
          <a:noFill/>
          <a:ln/>
        </p:spPr>
        <p:txBody>
          <a:bodyPr wrap="square" rtlCol="0" anchor="ctr"/>
          <a:lstStyle/>
          <a:p>
            <a:pPr indent="0" marL="0">
              <a:buNone/>
            </a:pPr>
            <a:r>
              <a:rPr lang="en-US" sz="1100" b="1" dirty="0">
                <a:solidFill>
                  <a:srgbClr val="FFFFFF"/>
                </a:solidFill>
              </a:rPr>
              <a:t>Testing Strategy</a:t>
            </a:r>
            <a:endParaRPr lang="en-US" sz="1100" dirty="0"/>
          </a:p>
        </p:txBody>
      </p:sp>
      <p:sp>
        <p:nvSpPr>
          <p:cNvPr id="11" name="Shape 9"/>
          <p:cNvSpPr/>
          <p:nvPr/>
        </p:nvSpPr>
        <p:spPr>
          <a:xfrm>
            <a:off x="347472" y="1078992"/>
            <a:ext cx="1188720" cy="274320"/>
          </a:xfrm>
          <a:prstGeom prst="roundRect">
            <a:avLst>
              <a:gd name="adj" fmla="val 13333"/>
            </a:avLst>
          </a:prstGeom>
          <a:solidFill>
            <a:srgbClr val="00E5FF">
              <a:alpha val="40000"/>
            </a:srgbClr>
          </a:solidFill>
          <a:ln w="6350">
            <a:solidFill>
              <a:srgbClr val="00E5FF"/>
            </a:solidFill>
            <a:prstDash val="solid"/>
          </a:ln>
        </p:spPr>
      </p:sp>
      <p:sp>
        <p:nvSpPr>
          <p:cNvPr id="12" name="Text 10"/>
          <p:cNvSpPr/>
          <p:nvPr/>
        </p:nvSpPr>
        <p:spPr>
          <a:xfrm>
            <a:off x="347472" y="1078992"/>
            <a:ext cx="1188720" cy="274320"/>
          </a:xfrm>
          <a:prstGeom prst="rect">
            <a:avLst/>
          </a:prstGeom>
          <a:noFill/>
          <a:ln/>
        </p:spPr>
        <p:txBody>
          <a:bodyPr wrap="square" rtlCol="0" anchor="ctr"/>
          <a:lstStyle/>
          <a:p>
            <a:pPr algn="ctr" indent="0" marL="0">
              <a:buNone/>
            </a:pPr>
            <a:r>
              <a:rPr lang="en-US" sz="850" b="1" dirty="0">
                <a:solidFill>
                  <a:srgbClr val="00E5FF"/>
                </a:solidFill>
              </a:rPr>
              <a:t>Pytest</a:t>
            </a:r>
            <a:endParaRPr lang="en-US" sz="850" dirty="0"/>
          </a:p>
        </p:txBody>
      </p:sp>
      <p:sp>
        <p:nvSpPr>
          <p:cNvPr id="13" name="Text 11"/>
          <p:cNvSpPr/>
          <p:nvPr/>
        </p:nvSpPr>
        <p:spPr>
          <a:xfrm>
            <a:off x="1591056" y="1097280"/>
            <a:ext cx="2697480" cy="256032"/>
          </a:xfrm>
          <a:prstGeom prst="rect">
            <a:avLst/>
          </a:prstGeom>
          <a:noFill/>
          <a:ln/>
        </p:spPr>
        <p:txBody>
          <a:bodyPr wrap="square" rtlCol="0" anchor="ctr"/>
          <a:lstStyle/>
          <a:p>
            <a:pPr indent="0" marL="0">
              <a:buNone/>
            </a:pPr>
            <a:r>
              <a:rPr lang="en-US" sz="850" dirty="0">
                <a:solidFill>
                  <a:srgbClr val="CBD5E1"/>
                </a:solidFill>
              </a:rPr>
              <a:t>Unit — Crypto, JUNIWARD, ML modules</a:t>
            </a:r>
            <a:endParaRPr lang="en-US" sz="850" dirty="0"/>
          </a:p>
        </p:txBody>
      </p:sp>
      <p:sp>
        <p:nvSpPr>
          <p:cNvPr id="14" name="Shape 12"/>
          <p:cNvSpPr/>
          <p:nvPr/>
        </p:nvSpPr>
        <p:spPr>
          <a:xfrm>
            <a:off x="347472" y="1417320"/>
            <a:ext cx="1188720" cy="274320"/>
          </a:xfrm>
          <a:prstGeom prst="roundRect">
            <a:avLst>
              <a:gd name="adj" fmla="val 13333"/>
            </a:avLst>
          </a:prstGeom>
          <a:solidFill>
            <a:srgbClr val="00E5FF">
              <a:alpha val="40000"/>
            </a:srgbClr>
          </a:solidFill>
          <a:ln w="6350">
            <a:solidFill>
              <a:srgbClr val="00E5FF"/>
            </a:solidFill>
            <a:prstDash val="solid"/>
          </a:ln>
        </p:spPr>
      </p:sp>
      <p:sp>
        <p:nvSpPr>
          <p:cNvPr id="15" name="Text 13"/>
          <p:cNvSpPr/>
          <p:nvPr/>
        </p:nvSpPr>
        <p:spPr>
          <a:xfrm>
            <a:off x="347472" y="1417320"/>
            <a:ext cx="1188720" cy="274320"/>
          </a:xfrm>
          <a:prstGeom prst="rect">
            <a:avLst/>
          </a:prstGeom>
          <a:noFill/>
          <a:ln/>
        </p:spPr>
        <p:txBody>
          <a:bodyPr wrap="square" rtlCol="0" anchor="ctr"/>
          <a:lstStyle/>
          <a:p>
            <a:pPr algn="ctr" indent="0" marL="0">
              <a:buNone/>
            </a:pPr>
            <a:r>
              <a:rPr lang="en-US" sz="850" b="1" dirty="0">
                <a:solidFill>
                  <a:srgbClr val="00E5FF"/>
                </a:solidFill>
              </a:rPr>
              <a:t>Jest</a:t>
            </a:r>
            <a:endParaRPr lang="en-US" sz="850" dirty="0"/>
          </a:p>
        </p:txBody>
      </p:sp>
      <p:sp>
        <p:nvSpPr>
          <p:cNvPr id="16" name="Text 14"/>
          <p:cNvSpPr/>
          <p:nvPr/>
        </p:nvSpPr>
        <p:spPr>
          <a:xfrm>
            <a:off x="1591056" y="1435608"/>
            <a:ext cx="2697480" cy="256032"/>
          </a:xfrm>
          <a:prstGeom prst="rect">
            <a:avLst/>
          </a:prstGeom>
          <a:noFill/>
          <a:ln/>
        </p:spPr>
        <p:txBody>
          <a:bodyPr wrap="square" rtlCol="0" anchor="ctr"/>
          <a:lstStyle/>
          <a:p>
            <a:pPr indent="0" marL="0">
              <a:buNone/>
            </a:pPr>
            <a:r>
              <a:rPr lang="en-US" sz="850" dirty="0">
                <a:solidFill>
                  <a:srgbClr val="CBD5E1"/>
                </a:solidFill>
              </a:rPr>
              <a:t>Frontend — React component tests</a:t>
            </a:r>
            <a:endParaRPr lang="en-US" sz="850" dirty="0"/>
          </a:p>
        </p:txBody>
      </p:sp>
      <p:sp>
        <p:nvSpPr>
          <p:cNvPr id="17" name="Shape 15"/>
          <p:cNvSpPr/>
          <p:nvPr/>
        </p:nvSpPr>
        <p:spPr>
          <a:xfrm>
            <a:off x="347472" y="1755648"/>
            <a:ext cx="1188720" cy="274320"/>
          </a:xfrm>
          <a:prstGeom prst="roundRect">
            <a:avLst>
              <a:gd name="adj" fmla="val 13333"/>
            </a:avLst>
          </a:prstGeom>
          <a:solidFill>
            <a:srgbClr val="00E5FF">
              <a:alpha val="40000"/>
            </a:srgbClr>
          </a:solidFill>
          <a:ln w="6350">
            <a:solidFill>
              <a:srgbClr val="00E5FF"/>
            </a:solidFill>
            <a:prstDash val="solid"/>
          </a:ln>
        </p:spPr>
      </p:sp>
      <p:sp>
        <p:nvSpPr>
          <p:cNvPr id="18" name="Text 16"/>
          <p:cNvSpPr/>
          <p:nvPr/>
        </p:nvSpPr>
        <p:spPr>
          <a:xfrm>
            <a:off x="347472" y="1755648"/>
            <a:ext cx="1188720" cy="274320"/>
          </a:xfrm>
          <a:prstGeom prst="rect">
            <a:avLst/>
          </a:prstGeom>
          <a:noFill/>
          <a:ln/>
        </p:spPr>
        <p:txBody>
          <a:bodyPr wrap="square" rtlCol="0" anchor="ctr"/>
          <a:lstStyle/>
          <a:p>
            <a:pPr algn="ctr" indent="0" marL="0">
              <a:buNone/>
            </a:pPr>
            <a:r>
              <a:rPr lang="en-US" sz="850" b="1" dirty="0">
                <a:solidFill>
                  <a:srgbClr val="00E5FF"/>
                </a:solidFill>
              </a:rPr>
              <a:t>Cypress / Selenium</a:t>
            </a:r>
            <a:endParaRPr lang="en-US" sz="850" dirty="0"/>
          </a:p>
        </p:txBody>
      </p:sp>
      <p:sp>
        <p:nvSpPr>
          <p:cNvPr id="19" name="Text 17"/>
          <p:cNvSpPr/>
          <p:nvPr/>
        </p:nvSpPr>
        <p:spPr>
          <a:xfrm>
            <a:off x="1591056" y="1773936"/>
            <a:ext cx="2697480" cy="256032"/>
          </a:xfrm>
          <a:prstGeom prst="rect">
            <a:avLst/>
          </a:prstGeom>
          <a:noFill/>
          <a:ln/>
        </p:spPr>
        <p:txBody>
          <a:bodyPr wrap="square" rtlCol="0" anchor="ctr"/>
          <a:lstStyle/>
          <a:p>
            <a:pPr indent="0" marL="0">
              <a:buNone/>
            </a:pPr>
            <a:r>
              <a:rPr lang="en-US" sz="850" dirty="0">
                <a:solidFill>
                  <a:srgbClr val="CBD5E1"/>
                </a:solidFill>
              </a:rPr>
              <a:t>E2E — Full encode → detect workflow</a:t>
            </a:r>
            <a:endParaRPr lang="en-US" sz="850" dirty="0"/>
          </a:p>
        </p:txBody>
      </p:sp>
      <p:sp>
        <p:nvSpPr>
          <p:cNvPr id="20" name="Shape 18"/>
          <p:cNvSpPr/>
          <p:nvPr/>
        </p:nvSpPr>
        <p:spPr>
          <a:xfrm>
            <a:off x="347472" y="2093976"/>
            <a:ext cx="1188720" cy="274320"/>
          </a:xfrm>
          <a:prstGeom prst="roundRect">
            <a:avLst>
              <a:gd name="adj" fmla="val 13333"/>
            </a:avLst>
          </a:prstGeom>
          <a:solidFill>
            <a:srgbClr val="00E5FF">
              <a:alpha val="40000"/>
            </a:srgbClr>
          </a:solidFill>
          <a:ln w="6350">
            <a:solidFill>
              <a:srgbClr val="00E5FF"/>
            </a:solidFill>
            <a:prstDash val="solid"/>
          </a:ln>
        </p:spPr>
      </p:sp>
      <p:sp>
        <p:nvSpPr>
          <p:cNvPr id="21" name="Text 19"/>
          <p:cNvSpPr/>
          <p:nvPr/>
        </p:nvSpPr>
        <p:spPr>
          <a:xfrm>
            <a:off x="347472" y="2093976"/>
            <a:ext cx="1188720" cy="274320"/>
          </a:xfrm>
          <a:prstGeom prst="rect">
            <a:avLst/>
          </a:prstGeom>
          <a:noFill/>
          <a:ln/>
        </p:spPr>
        <p:txBody>
          <a:bodyPr wrap="square" rtlCol="0" anchor="ctr"/>
          <a:lstStyle/>
          <a:p>
            <a:pPr algn="ctr" indent="0" marL="0">
              <a:buNone/>
            </a:pPr>
            <a:r>
              <a:rPr lang="en-US" sz="850" b="1" dirty="0">
                <a:solidFill>
                  <a:srgbClr val="00E5FF"/>
                </a:solidFill>
              </a:rPr>
              <a:t>Locust / k6</a:t>
            </a:r>
            <a:endParaRPr lang="en-US" sz="850" dirty="0"/>
          </a:p>
        </p:txBody>
      </p:sp>
      <p:sp>
        <p:nvSpPr>
          <p:cNvPr id="22" name="Text 20"/>
          <p:cNvSpPr/>
          <p:nvPr/>
        </p:nvSpPr>
        <p:spPr>
          <a:xfrm>
            <a:off x="1591056" y="2112264"/>
            <a:ext cx="2697480" cy="256032"/>
          </a:xfrm>
          <a:prstGeom prst="rect">
            <a:avLst/>
          </a:prstGeom>
          <a:noFill/>
          <a:ln/>
        </p:spPr>
        <p:txBody>
          <a:bodyPr wrap="square" rtlCol="0" anchor="ctr"/>
          <a:lstStyle/>
          <a:p>
            <a:pPr indent="0" marL="0">
              <a:buNone/>
            </a:pPr>
            <a:r>
              <a:rPr lang="en-US" sz="850" dirty="0">
                <a:solidFill>
                  <a:srgbClr val="CBD5E1"/>
                </a:solidFill>
              </a:rPr>
              <a:t>Load — Concurrent API performance</a:t>
            </a:r>
            <a:endParaRPr lang="en-US" sz="850" dirty="0"/>
          </a:p>
        </p:txBody>
      </p:sp>
      <p:sp>
        <p:nvSpPr>
          <p:cNvPr id="23" name="Shape 21"/>
          <p:cNvSpPr/>
          <p:nvPr/>
        </p:nvSpPr>
        <p:spPr>
          <a:xfrm>
            <a:off x="347472" y="2432304"/>
            <a:ext cx="1188720" cy="274320"/>
          </a:xfrm>
          <a:prstGeom prst="roundRect">
            <a:avLst>
              <a:gd name="adj" fmla="val 13333"/>
            </a:avLst>
          </a:prstGeom>
          <a:solidFill>
            <a:srgbClr val="00E5FF">
              <a:alpha val="40000"/>
            </a:srgbClr>
          </a:solidFill>
          <a:ln w="6350">
            <a:solidFill>
              <a:srgbClr val="00E5FF"/>
            </a:solidFill>
            <a:prstDash val="solid"/>
          </a:ln>
        </p:spPr>
      </p:sp>
      <p:sp>
        <p:nvSpPr>
          <p:cNvPr id="24" name="Text 22"/>
          <p:cNvSpPr/>
          <p:nvPr/>
        </p:nvSpPr>
        <p:spPr>
          <a:xfrm>
            <a:off x="347472" y="2432304"/>
            <a:ext cx="1188720" cy="274320"/>
          </a:xfrm>
          <a:prstGeom prst="rect">
            <a:avLst/>
          </a:prstGeom>
          <a:noFill/>
          <a:ln/>
        </p:spPr>
        <p:txBody>
          <a:bodyPr wrap="square" rtlCol="0" anchor="ctr"/>
          <a:lstStyle/>
          <a:p>
            <a:pPr algn="ctr" indent="0" marL="0">
              <a:buNone/>
            </a:pPr>
            <a:r>
              <a:rPr lang="en-US" sz="850" b="1" dirty="0">
                <a:solidFill>
                  <a:srgbClr val="00E5FF"/>
                </a:solidFill>
              </a:rPr>
              <a:t>SciPy / NumPy</a:t>
            </a:r>
            <a:endParaRPr lang="en-US" sz="850" dirty="0"/>
          </a:p>
        </p:txBody>
      </p:sp>
      <p:sp>
        <p:nvSpPr>
          <p:cNvPr id="25" name="Text 23"/>
          <p:cNvSpPr/>
          <p:nvPr/>
        </p:nvSpPr>
        <p:spPr>
          <a:xfrm>
            <a:off x="1591056" y="2450592"/>
            <a:ext cx="2697480" cy="256032"/>
          </a:xfrm>
          <a:prstGeom prst="rect">
            <a:avLst/>
          </a:prstGeom>
          <a:noFill/>
          <a:ln/>
        </p:spPr>
        <p:txBody>
          <a:bodyPr wrap="square" rtlCol="0" anchor="ctr"/>
          <a:lstStyle/>
          <a:p>
            <a:pPr indent="0" marL="0">
              <a:buNone/>
            </a:pPr>
            <a:r>
              <a:rPr lang="en-US" sz="850" dirty="0">
                <a:solidFill>
                  <a:srgbClr val="CBD5E1"/>
                </a:solidFill>
              </a:rPr>
              <a:t>Statistical — PSNR, SSIM, BER metrics</a:t>
            </a:r>
            <a:endParaRPr lang="en-US" sz="850" dirty="0"/>
          </a:p>
        </p:txBody>
      </p:sp>
      <p:sp>
        <p:nvSpPr>
          <p:cNvPr id="26" name="Shape 24"/>
          <p:cNvSpPr/>
          <p:nvPr/>
        </p:nvSpPr>
        <p:spPr>
          <a:xfrm>
            <a:off x="228600" y="3035808"/>
            <a:ext cx="4160520" cy="1874520"/>
          </a:xfrm>
          <a:prstGeom prst="roundRect">
            <a:avLst>
              <a:gd name="adj" fmla="val 4878"/>
            </a:avLst>
          </a:prstGeom>
          <a:solidFill>
            <a:srgbClr val="0F1E35"/>
          </a:solidFill>
          <a:ln w="19050">
            <a:solidFill>
              <a:srgbClr val="00D4A1"/>
            </a:solidFill>
            <a:prstDash val="solid"/>
          </a:ln>
          <a:effectLst>
            <a:outerShdw sx="100000" sy="100000" kx="0" ky="0" algn="bl" rotWithShape="0" blurRad="101600" dist="38100" dir="8100000">
              <a:srgbClr val="000000">
                <a:alpha val="30000"/>
              </a:srgbClr>
            </a:outerShdw>
          </a:effectLst>
        </p:spPr>
      </p:sp>
      <p:sp>
        <p:nvSpPr>
          <p:cNvPr id="27" name="Shape 25"/>
          <p:cNvSpPr/>
          <p:nvPr/>
        </p:nvSpPr>
        <p:spPr>
          <a:xfrm>
            <a:off x="228600" y="3035808"/>
            <a:ext cx="4160520" cy="274320"/>
          </a:xfrm>
          <a:prstGeom prst="rect">
            <a:avLst/>
          </a:prstGeom>
          <a:solidFill>
            <a:srgbClr val="00D4A1">
              <a:alpha val="80000"/>
            </a:srgbClr>
          </a:solidFill>
          <a:ln w="12700">
            <a:solidFill>
              <a:srgbClr val="00D4A1">
                <a:alpha val="80000"/>
              </a:srgbClr>
            </a:solidFill>
            <a:prstDash val="solid"/>
          </a:ln>
        </p:spPr>
      </p:sp>
      <p:sp>
        <p:nvSpPr>
          <p:cNvPr id="28" name="Text 26"/>
          <p:cNvSpPr/>
          <p:nvPr/>
        </p:nvSpPr>
        <p:spPr>
          <a:xfrm>
            <a:off x="347472" y="3054096"/>
            <a:ext cx="3931920" cy="246888"/>
          </a:xfrm>
          <a:prstGeom prst="rect">
            <a:avLst/>
          </a:prstGeom>
          <a:noFill/>
          <a:ln/>
        </p:spPr>
        <p:txBody>
          <a:bodyPr wrap="square" rtlCol="0" anchor="ctr"/>
          <a:lstStyle/>
          <a:p>
            <a:pPr indent="0" marL="0">
              <a:buNone/>
            </a:pPr>
            <a:r>
              <a:rPr lang="en-US" sz="1100" b="1" dirty="0">
                <a:solidFill>
                  <a:srgbClr val="FFFFFF"/>
                </a:solidFill>
              </a:rPr>
              <a:t>Performance Targets</a:t>
            </a:r>
            <a:endParaRPr lang="en-US" sz="1100" dirty="0"/>
          </a:p>
        </p:txBody>
      </p:sp>
      <p:pic>
        <p:nvPicPr>
          <p:cNvPr id="29" name="Image 0" descr="preencoded.png">    </p:cNvPr>
          <p:cNvPicPr>
            <a:picLocks noChangeAspect="1"/>
          </p:cNvPicPr>
          <p:nvPr/>
        </p:nvPicPr>
        <p:blipFill>
          <a:blip r:embed="rId1"/>
          <a:stretch>
            <a:fillRect/>
          </a:stretch>
        </p:blipFill>
        <p:spPr>
          <a:xfrm>
            <a:off x="347472" y="3383280"/>
            <a:ext cx="182880" cy="182880"/>
          </a:xfrm>
          <a:prstGeom prst="rect">
            <a:avLst/>
          </a:prstGeom>
        </p:spPr>
      </p:pic>
      <p:sp>
        <p:nvSpPr>
          <p:cNvPr id="30" name="Text 27"/>
          <p:cNvSpPr/>
          <p:nvPr/>
        </p:nvSpPr>
        <p:spPr>
          <a:xfrm>
            <a:off x="566928" y="3364992"/>
            <a:ext cx="1325880" cy="256032"/>
          </a:xfrm>
          <a:prstGeom prst="rect">
            <a:avLst/>
          </a:prstGeom>
          <a:noFill/>
          <a:ln/>
        </p:spPr>
        <p:txBody>
          <a:bodyPr wrap="square" rtlCol="0" anchor="ctr"/>
          <a:lstStyle/>
          <a:p>
            <a:pPr indent="0" marL="0">
              <a:buNone/>
            </a:pPr>
            <a:r>
              <a:rPr lang="en-US" sz="850" b="1" dirty="0">
                <a:solidFill>
                  <a:srgbClr val="00D4A1"/>
                </a:solidFill>
              </a:rPr>
              <a:t>Encoding:  </a:t>
            </a:r>
            <a:endParaRPr lang="en-US" sz="850" dirty="0"/>
          </a:p>
        </p:txBody>
      </p:sp>
      <p:sp>
        <p:nvSpPr>
          <p:cNvPr id="31" name="Text 28"/>
          <p:cNvSpPr/>
          <p:nvPr/>
        </p:nvSpPr>
        <p:spPr>
          <a:xfrm>
            <a:off x="1892808" y="3364992"/>
            <a:ext cx="2377440" cy="256032"/>
          </a:xfrm>
          <a:prstGeom prst="rect">
            <a:avLst/>
          </a:prstGeom>
          <a:noFill/>
          <a:ln/>
        </p:spPr>
        <p:txBody>
          <a:bodyPr wrap="square" rtlCol="0" anchor="ctr"/>
          <a:lstStyle/>
          <a:p>
            <a:pPr indent="0" marL="0">
              <a:buNone/>
            </a:pPr>
            <a:r>
              <a:rPr lang="en-US" sz="850" dirty="0">
                <a:solidFill>
                  <a:srgbClr val="CBD5E1"/>
                </a:solidFill>
              </a:rPr>
              <a:t>&lt; 5 sec / image at 4K</a:t>
            </a:r>
            <a:endParaRPr lang="en-US" sz="850" dirty="0"/>
          </a:p>
        </p:txBody>
      </p:sp>
      <p:pic>
        <p:nvPicPr>
          <p:cNvPr id="32" name="Image 1" descr="preencoded.png">    </p:cNvPr>
          <p:cNvPicPr>
            <a:picLocks noChangeAspect="1"/>
          </p:cNvPicPr>
          <p:nvPr/>
        </p:nvPicPr>
        <p:blipFill>
          <a:blip r:embed="rId2"/>
          <a:stretch>
            <a:fillRect/>
          </a:stretch>
        </p:blipFill>
        <p:spPr>
          <a:xfrm>
            <a:off x="347472" y="3685032"/>
            <a:ext cx="182880" cy="182880"/>
          </a:xfrm>
          <a:prstGeom prst="rect">
            <a:avLst/>
          </a:prstGeom>
        </p:spPr>
      </p:pic>
      <p:sp>
        <p:nvSpPr>
          <p:cNvPr id="33" name="Text 29"/>
          <p:cNvSpPr/>
          <p:nvPr/>
        </p:nvSpPr>
        <p:spPr>
          <a:xfrm>
            <a:off x="566928" y="3666744"/>
            <a:ext cx="1325880" cy="256032"/>
          </a:xfrm>
          <a:prstGeom prst="rect">
            <a:avLst/>
          </a:prstGeom>
          <a:noFill/>
          <a:ln/>
        </p:spPr>
        <p:txBody>
          <a:bodyPr wrap="square" rtlCol="0" anchor="ctr"/>
          <a:lstStyle/>
          <a:p>
            <a:pPr indent="0" marL="0">
              <a:buNone/>
            </a:pPr>
            <a:r>
              <a:rPr lang="en-US" sz="850" b="1" dirty="0">
                <a:solidFill>
                  <a:srgbClr val="00D4A1"/>
                </a:solidFill>
              </a:rPr>
              <a:t>Decoding:  </a:t>
            </a:r>
            <a:endParaRPr lang="en-US" sz="850" dirty="0"/>
          </a:p>
        </p:txBody>
      </p:sp>
      <p:sp>
        <p:nvSpPr>
          <p:cNvPr id="34" name="Text 30"/>
          <p:cNvSpPr/>
          <p:nvPr/>
        </p:nvSpPr>
        <p:spPr>
          <a:xfrm>
            <a:off x="1892808" y="3666744"/>
            <a:ext cx="2377440" cy="256032"/>
          </a:xfrm>
          <a:prstGeom prst="rect">
            <a:avLst/>
          </a:prstGeom>
          <a:noFill/>
          <a:ln/>
        </p:spPr>
        <p:txBody>
          <a:bodyPr wrap="square" rtlCol="0" anchor="ctr"/>
          <a:lstStyle/>
          <a:p>
            <a:pPr indent="0" marL="0">
              <a:buNone/>
            </a:pPr>
            <a:r>
              <a:rPr lang="en-US" sz="850" dirty="0">
                <a:solidFill>
                  <a:srgbClr val="CBD5E1"/>
                </a:solidFill>
              </a:rPr>
              <a:t>&lt; 3 sec / image</a:t>
            </a:r>
            <a:endParaRPr lang="en-US" sz="850" dirty="0"/>
          </a:p>
        </p:txBody>
      </p:sp>
      <p:pic>
        <p:nvPicPr>
          <p:cNvPr id="35" name="Image 2" descr="preencoded.png">    </p:cNvPr>
          <p:cNvPicPr>
            <a:picLocks noChangeAspect="1"/>
          </p:cNvPicPr>
          <p:nvPr/>
        </p:nvPicPr>
        <p:blipFill>
          <a:blip r:embed="rId3"/>
          <a:stretch>
            <a:fillRect/>
          </a:stretch>
        </p:blipFill>
        <p:spPr>
          <a:xfrm>
            <a:off x="347472" y="3986784"/>
            <a:ext cx="182880" cy="182880"/>
          </a:xfrm>
          <a:prstGeom prst="rect">
            <a:avLst/>
          </a:prstGeom>
        </p:spPr>
      </p:pic>
      <p:sp>
        <p:nvSpPr>
          <p:cNvPr id="36" name="Text 31"/>
          <p:cNvSpPr/>
          <p:nvPr/>
        </p:nvSpPr>
        <p:spPr>
          <a:xfrm>
            <a:off x="566928" y="3968496"/>
            <a:ext cx="1325880" cy="256032"/>
          </a:xfrm>
          <a:prstGeom prst="rect">
            <a:avLst/>
          </a:prstGeom>
          <a:noFill/>
          <a:ln/>
        </p:spPr>
        <p:txBody>
          <a:bodyPr wrap="square" rtlCol="0" anchor="ctr"/>
          <a:lstStyle/>
          <a:p>
            <a:pPr indent="0" marL="0">
              <a:buNone/>
            </a:pPr>
            <a:r>
              <a:rPr lang="en-US" sz="850" b="1" dirty="0">
                <a:solidFill>
                  <a:srgbClr val="00D4A1"/>
                </a:solidFill>
              </a:rPr>
              <a:t>ONNX Inference:  </a:t>
            </a:r>
            <a:endParaRPr lang="en-US" sz="850" dirty="0"/>
          </a:p>
        </p:txBody>
      </p:sp>
      <p:sp>
        <p:nvSpPr>
          <p:cNvPr id="37" name="Text 32"/>
          <p:cNvSpPr/>
          <p:nvPr/>
        </p:nvSpPr>
        <p:spPr>
          <a:xfrm>
            <a:off x="1892808" y="3968496"/>
            <a:ext cx="2377440" cy="256032"/>
          </a:xfrm>
          <a:prstGeom prst="rect">
            <a:avLst/>
          </a:prstGeom>
          <a:noFill/>
          <a:ln/>
        </p:spPr>
        <p:txBody>
          <a:bodyPr wrap="square" rtlCol="0" anchor="ctr"/>
          <a:lstStyle/>
          <a:p>
            <a:pPr indent="0" marL="0">
              <a:buNone/>
            </a:pPr>
            <a:r>
              <a:rPr lang="en-US" sz="850" dirty="0">
                <a:solidFill>
                  <a:srgbClr val="CBD5E1"/>
                </a:solidFill>
              </a:rPr>
              <a:t>&lt; 50 ms on CPU (target 35 ms)</a:t>
            </a:r>
            <a:endParaRPr lang="en-US" sz="850" dirty="0"/>
          </a:p>
        </p:txBody>
      </p:sp>
      <p:pic>
        <p:nvPicPr>
          <p:cNvPr id="38" name="Image 3" descr="preencoded.png">    </p:cNvPr>
          <p:cNvPicPr>
            <a:picLocks noChangeAspect="1"/>
          </p:cNvPicPr>
          <p:nvPr/>
        </p:nvPicPr>
        <p:blipFill>
          <a:blip r:embed="rId4"/>
          <a:stretch>
            <a:fillRect/>
          </a:stretch>
        </p:blipFill>
        <p:spPr>
          <a:xfrm>
            <a:off x="347472" y="4288536"/>
            <a:ext cx="182880" cy="182880"/>
          </a:xfrm>
          <a:prstGeom prst="rect">
            <a:avLst/>
          </a:prstGeom>
        </p:spPr>
      </p:pic>
      <p:sp>
        <p:nvSpPr>
          <p:cNvPr id="39" name="Text 33"/>
          <p:cNvSpPr/>
          <p:nvPr/>
        </p:nvSpPr>
        <p:spPr>
          <a:xfrm>
            <a:off x="566928" y="4270248"/>
            <a:ext cx="1325880" cy="256032"/>
          </a:xfrm>
          <a:prstGeom prst="rect">
            <a:avLst/>
          </a:prstGeom>
          <a:noFill/>
          <a:ln/>
        </p:spPr>
        <p:txBody>
          <a:bodyPr wrap="square" rtlCol="0" anchor="ctr"/>
          <a:lstStyle/>
          <a:p>
            <a:pPr indent="0" marL="0">
              <a:buNone/>
            </a:pPr>
            <a:r>
              <a:rPr lang="en-US" sz="850" b="1" dirty="0">
                <a:solidFill>
                  <a:srgbClr val="00D4A1"/>
                </a:solidFill>
              </a:rPr>
              <a:t>PSNR:  </a:t>
            </a:r>
            <a:endParaRPr lang="en-US" sz="850" dirty="0"/>
          </a:p>
        </p:txBody>
      </p:sp>
      <p:sp>
        <p:nvSpPr>
          <p:cNvPr id="40" name="Text 34"/>
          <p:cNvSpPr/>
          <p:nvPr/>
        </p:nvSpPr>
        <p:spPr>
          <a:xfrm>
            <a:off x="1892808" y="4270248"/>
            <a:ext cx="2377440" cy="256032"/>
          </a:xfrm>
          <a:prstGeom prst="rect">
            <a:avLst/>
          </a:prstGeom>
          <a:noFill/>
          <a:ln/>
        </p:spPr>
        <p:txBody>
          <a:bodyPr wrap="square" rtlCol="0" anchor="ctr"/>
          <a:lstStyle/>
          <a:p>
            <a:pPr indent="0" marL="0">
              <a:buNone/>
            </a:pPr>
            <a:r>
              <a:rPr lang="en-US" sz="850" dirty="0">
                <a:solidFill>
                  <a:srgbClr val="CBD5E1"/>
                </a:solidFill>
              </a:rPr>
              <a:t>&gt; 40 dB (transparent to human eye)</a:t>
            </a:r>
            <a:endParaRPr lang="en-US" sz="850" dirty="0"/>
          </a:p>
        </p:txBody>
      </p:sp>
      <p:pic>
        <p:nvPicPr>
          <p:cNvPr id="41" name="Image 4" descr="preencoded.png">    </p:cNvPr>
          <p:cNvPicPr>
            <a:picLocks noChangeAspect="1"/>
          </p:cNvPicPr>
          <p:nvPr/>
        </p:nvPicPr>
        <p:blipFill>
          <a:blip r:embed="rId5"/>
          <a:stretch>
            <a:fillRect/>
          </a:stretch>
        </p:blipFill>
        <p:spPr>
          <a:xfrm>
            <a:off x="347472" y="4590288"/>
            <a:ext cx="182880" cy="182880"/>
          </a:xfrm>
          <a:prstGeom prst="rect">
            <a:avLst/>
          </a:prstGeom>
        </p:spPr>
      </p:pic>
      <p:sp>
        <p:nvSpPr>
          <p:cNvPr id="42" name="Text 35"/>
          <p:cNvSpPr/>
          <p:nvPr/>
        </p:nvSpPr>
        <p:spPr>
          <a:xfrm>
            <a:off x="566928" y="4572000"/>
            <a:ext cx="1325880" cy="256032"/>
          </a:xfrm>
          <a:prstGeom prst="rect">
            <a:avLst/>
          </a:prstGeom>
          <a:noFill/>
          <a:ln/>
        </p:spPr>
        <p:txBody>
          <a:bodyPr wrap="square" rtlCol="0" anchor="ctr"/>
          <a:lstStyle/>
          <a:p>
            <a:pPr indent="0" marL="0">
              <a:buNone/>
            </a:pPr>
            <a:r>
              <a:rPr lang="en-US" sz="850" b="1" dirty="0">
                <a:solidFill>
                  <a:srgbClr val="00D4A1"/>
                </a:solidFill>
              </a:rPr>
              <a:t>SSIM:  </a:t>
            </a:r>
            <a:endParaRPr lang="en-US" sz="850" dirty="0"/>
          </a:p>
        </p:txBody>
      </p:sp>
      <p:sp>
        <p:nvSpPr>
          <p:cNvPr id="43" name="Text 36"/>
          <p:cNvSpPr/>
          <p:nvPr/>
        </p:nvSpPr>
        <p:spPr>
          <a:xfrm>
            <a:off x="1892808" y="4572000"/>
            <a:ext cx="2377440" cy="256032"/>
          </a:xfrm>
          <a:prstGeom prst="rect">
            <a:avLst/>
          </a:prstGeom>
          <a:noFill/>
          <a:ln/>
        </p:spPr>
        <p:txBody>
          <a:bodyPr wrap="square" rtlCol="0" anchor="ctr"/>
          <a:lstStyle/>
          <a:p>
            <a:pPr indent="0" marL="0">
              <a:buNone/>
            </a:pPr>
            <a:r>
              <a:rPr lang="en-US" sz="850" dirty="0">
                <a:solidFill>
                  <a:srgbClr val="CBD5E1"/>
                </a:solidFill>
              </a:rPr>
              <a:t>&gt; 0.95 (near-identical images)</a:t>
            </a:r>
            <a:endParaRPr lang="en-US" sz="850" dirty="0"/>
          </a:p>
        </p:txBody>
      </p:sp>
      <p:sp>
        <p:nvSpPr>
          <p:cNvPr id="44" name="Shape 37"/>
          <p:cNvSpPr/>
          <p:nvPr/>
        </p:nvSpPr>
        <p:spPr>
          <a:xfrm>
            <a:off x="4572000" y="749808"/>
            <a:ext cx="4343400" cy="4160520"/>
          </a:xfrm>
          <a:prstGeom prst="roundRect">
            <a:avLst>
              <a:gd name="adj" fmla="val 2198"/>
            </a:avLst>
          </a:prstGeom>
          <a:solidFill>
            <a:srgbClr val="0F1E35"/>
          </a:solidFill>
          <a:ln w="19050">
            <a:solidFill>
              <a:srgbClr val="7B2FFF"/>
            </a:solidFill>
            <a:prstDash val="solid"/>
          </a:ln>
          <a:effectLst>
            <a:outerShdw sx="100000" sy="100000" kx="0" ky="0" algn="bl" rotWithShape="0" blurRad="101600" dist="38100" dir="8100000">
              <a:srgbClr val="000000">
                <a:alpha val="30000"/>
              </a:srgbClr>
            </a:outerShdw>
          </a:effectLst>
        </p:spPr>
      </p:sp>
      <p:sp>
        <p:nvSpPr>
          <p:cNvPr id="45" name="Shape 38"/>
          <p:cNvSpPr/>
          <p:nvPr/>
        </p:nvSpPr>
        <p:spPr>
          <a:xfrm>
            <a:off x="4572000" y="749808"/>
            <a:ext cx="4343400" cy="274320"/>
          </a:xfrm>
          <a:prstGeom prst="rect">
            <a:avLst/>
          </a:prstGeom>
          <a:solidFill>
            <a:srgbClr val="7B2FFF">
              <a:alpha val="80000"/>
            </a:srgbClr>
          </a:solidFill>
          <a:ln w="12700">
            <a:solidFill>
              <a:srgbClr val="7B2FFF">
                <a:alpha val="80000"/>
              </a:srgbClr>
            </a:solidFill>
            <a:prstDash val="solid"/>
          </a:ln>
        </p:spPr>
      </p:sp>
      <p:sp>
        <p:nvSpPr>
          <p:cNvPr id="46" name="Text 39"/>
          <p:cNvSpPr/>
          <p:nvPr/>
        </p:nvSpPr>
        <p:spPr>
          <a:xfrm>
            <a:off x="4690872" y="768096"/>
            <a:ext cx="4114800" cy="246888"/>
          </a:xfrm>
          <a:prstGeom prst="rect">
            <a:avLst/>
          </a:prstGeom>
          <a:noFill/>
          <a:ln/>
        </p:spPr>
        <p:txBody>
          <a:bodyPr wrap="square" rtlCol="0" anchor="ctr"/>
          <a:lstStyle/>
          <a:p>
            <a:pPr indent="0" marL="0">
              <a:buNone/>
            </a:pPr>
            <a:r>
              <a:rPr lang="en-US" sz="1100" b="1" dirty="0">
                <a:solidFill>
                  <a:srgbClr val="FFFFFF"/>
                </a:solidFill>
              </a:rPr>
              <a:t>Docker Compose Deployment</a:t>
            </a:r>
            <a:endParaRPr lang="en-US" sz="1100" dirty="0"/>
          </a:p>
        </p:txBody>
      </p:sp>
      <p:sp>
        <p:nvSpPr>
          <p:cNvPr id="47" name="Shape 40"/>
          <p:cNvSpPr/>
          <p:nvPr/>
        </p:nvSpPr>
        <p:spPr>
          <a:xfrm>
            <a:off x="4709160" y="1115568"/>
            <a:ext cx="4069080" cy="749808"/>
          </a:xfrm>
          <a:prstGeom prst="roundRect">
            <a:avLst>
              <a:gd name="adj" fmla="val 9756"/>
            </a:avLst>
          </a:prstGeom>
          <a:solidFill>
            <a:srgbClr val="0A1830"/>
          </a:solidFill>
          <a:ln w="12700">
            <a:solidFill>
              <a:srgbClr val="1A8CFF"/>
            </a:solidFill>
            <a:prstDash val="solid"/>
          </a:ln>
        </p:spPr>
      </p:sp>
      <p:sp>
        <p:nvSpPr>
          <p:cNvPr id="48" name="Shape 41"/>
          <p:cNvSpPr/>
          <p:nvPr/>
        </p:nvSpPr>
        <p:spPr>
          <a:xfrm>
            <a:off x="4736592" y="1188720"/>
            <a:ext cx="228600" cy="603504"/>
          </a:xfrm>
          <a:prstGeom prst="roundRect">
            <a:avLst>
              <a:gd name="adj" fmla="val 16000"/>
            </a:avLst>
          </a:prstGeom>
          <a:solidFill>
            <a:srgbClr val="1A8CFF">
              <a:alpha val="70000"/>
            </a:srgbClr>
          </a:solidFill>
          <a:ln w="12700">
            <a:solidFill>
              <a:srgbClr val="1A8CFF">
                <a:alpha val="70000"/>
              </a:srgbClr>
            </a:solidFill>
            <a:prstDash val="solid"/>
          </a:ln>
        </p:spPr>
      </p:sp>
      <p:sp>
        <p:nvSpPr>
          <p:cNvPr id="49" name="Text 42"/>
          <p:cNvSpPr/>
          <p:nvPr/>
        </p:nvSpPr>
        <p:spPr>
          <a:xfrm>
            <a:off x="5029200" y="1188720"/>
            <a:ext cx="2377440" cy="274320"/>
          </a:xfrm>
          <a:prstGeom prst="rect">
            <a:avLst/>
          </a:prstGeom>
          <a:noFill/>
          <a:ln/>
        </p:spPr>
        <p:txBody>
          <a:bodyPr wrap="square" rtlCol="0" anchor="ctr"/>
          <a:lstStyle/>
          <a:p>
            <a:pPr indent="0" marL="0">
              <a:buNone/>
            </a:pPr>
            <a:r>
              <a:rPr lang="en-US" sz="950" b="1" dirty="0">
                <a:solidFill>
                  <a:srgbClr val="1A8CFF"/>
                </a:solidFill>
                <a:latin typeface="Consolas" pitchFamily="34" charset="0"/>
                <a:ea typeface="Consolas" pitchFamily="34" charset="-122"/>
                <a:cs typeface="Consolas" pitchFamily="34" charset="-120"/>
              </a:rPr>
              <a:t>react-container</a:t>
            </a:r>
            <a:endParaRPr lang="en-US" sz="950" dirty="0"/>
          </a:p>
        </p:txBody>
      </p:sp>
      <p:sp>
        <p:nvSpPr>
          <p:cNvPr id="50" name="Text 43"/>
          <p:cNvSpPr/>
          <p:nvPr/>
        </p:nvSpPr>
        <p:spPr>
          <a:xfrm>
            <a:off x="5029200" y="1444752"/>
            <a:ext cx="2377440" cy="201168"/>
          </a:xfrm>
          <a:prstGeom prst="rect">
            <a:avLst/>
          </a:prstGeom>
          <a:noFill/>
          <a:ln/>
        </p:spPr>
        <p:txBody>
          <a:bodyPr wrap="square" rtlCol="0" anchor="ctr"/>
          <a:lstStyle/>
          <a:p>
            <a:pPr indent="0" marL="0">
              <a:buNone/>
            </a:pPr>
            <a:r>
              <a:rPr lang="en-US" sz="800" dirty="0">
                <a:solidFill>
                  <a:srgbClr val="64748B"/>
                </a:solidFill>
                <a:latin typeface="Consolas" pitchFamily="34" charset="0"/>
                <a:ea typeface="Consolas" pitchFamily="34" charset="-122"/>
                <a:cs typeface="Consolas" pitchFamily="34" charset="-120"/>
              </a:rPr>
              <a:t>port 3000:3000</a:t>
            </a:r>
            <a:endParaRPr lang="en-US" sz="800" dirty="0"/>
          </a:p>
        </p:txBody>
      </p:sp>
      <p:sp>
        <p:nvSpPr>
          <p:cNvPr id="51" name="Text 44"/>
          <p:cNvSpPr/>
          <p:nvPr/>
        </p:nvSpPr>
        <p:spPr>
          <a:xfrm>
            <a:off x="7406640" y="1207008"/>
            <a:ext cx="1234440" cy="566928"/>
          </a:xfrm>
          <a:prstGeom prst="rect">
            <a:avLst/>
          </a:prstGeom>
          <a:noFill/>
          <a:ln/>
        </p:spPr>
        <p:txBody>
          <a:bodyPr wrap="square" rtlCol="0" anchor="ctr"/>
          <a:lstStyle/>
          <a:p>
            <a:pPr algn="r" indent="0" marL="0">
              <a:buNone/>
            </a:pPr>
            <a:r>
              <a:rPr lang="en-US" sz="800" dirty="0">
                <a:solidFill>
                  <a:srgbClr val="CBD5E1"/>
                </a:solidFill>
              </a:rPr>
              <a:t>React 18 frontend</a:t>
            </a:r>
            <a:endParaRPr lang="en-US" sz="800" dirty="0"/>
          </a:p>
          <a:p>
            <a:pPr algn="r" indent="0" marL="0">
              <a:buNone/>
            </a:pPr>
            <a:r>
              <a:rPr lang="en-US" sz="800" dirty="0">
                <a:solidFill>
                  <a:srgbClr val="CBD5E1"/>
                </a:solidFill>
              </a:rPr>
              <a:t>Nginx static serving</a:t>
            </a:r>
            <a:endParaRPr lang="en-US" sz="800" dirty="0"/>
          </a:p>
        </p:txBody>
      </p:sp>
      <p:sp>
        <p:nvSpPr>
          <p:cNvPr id="52" name="Shape 45"/>
          <p:cNvSpPr/>
          <p:nvPr/>
        </p:nvSpPr>
        <p:spPr>
          <a:xfrm>
            <a:off x="4709160" y="1956816"/>
            <a:ext cx="4069080" cy="749808"/>
          </a:xfrm>
          <a:prstGeom prst="roundRect">
            <a:avLst>
              <a:gd name="adj" fmla="val 9756"/>
            </a:avLst>
          </a:prstGeom>
          <a:solidFill>
            <a:srgbClr val="0A1830"/>
          </a:solidFill>
          <a:ln w="12700">
            <a:solidFill>
              <a:srgbClr val="7B2FFF"/>
            </a:solidFill>
            <a:prstDash val="solid"/>
          </a:ln>
        </p:spPr>
      </p:sp>
      <p:sp>
        <p:nvSpPr>
          <p:cNvPr id="53" name="Shape 46"/>
          <p:cNvSpPr/>
          <p:nvPr/>
        </p:nvSpPr>
        <p:spPr>
          <a:xfrm>
            <a:off x="4736592" y="2029968"/>
            <a:ext cx="228600" cy="603504"/>
          </a:xfrm>
          <a:prstGeom prst="roundRect">
            <a:avLst>
              <a:gd name="adj" fmla="val 16000"/>
            </a:avLst>
          </a:prstGeom>
          <a:solidFill>
            <a:srgbClr val="7B2FFF">
              <a:alpha val="70000"/>
            </a:srgbClr>
          </a:solidFill>
          <a:ln w="12700">
            <a:solidFill>
              <a:srgbClr val="7B2FFF">
                <a:alpha val="70000"/>
              </a:srgbClr>
            </a:solidFill>
            <a:prstDash val="solid"/>
          </a:ln>
        </p:spPr>
      </p:sp>
      <p:sp>
        <p:nvSpPr>
          <p:cNvPr id="54" name="Text 47"/>
          <p:cNvSpPr/>
          <p:nvPr/>
        </p:nvSpPr>
        <p:spPr>
          <a:xfrm>
            <a:off x="5029200" y="2029968"/>
            <a:ext cx="2377440" cy="274320"/>
          </a:xfrm>
          <a:prstGeom prst="rect">
            <a:avLst/>
          </a:prstGeom>
          <a:noFill/>
          <a:ln/>
        </p:spPr>
        <p:txBody>
          <a:bodyPr wrap="square" rtlCol="0" anchor="ctr"/>
          <a:lstStyle/>
          <a:p>
            <a:pPr indent="0" marL="0">
              <a:buNone/>
            </a:pPr>
            <a:r>
              <a:rPr lang="en-US" sz="950" b="1" dirty="0">
                <a:solidFill>
                  <a:srgbClr val="7B2FFF"/>
                </a:solidFill>
                <a:latin typeface="Consolas" pitchFamily="34" charset="0"/>
                <a:ea typeface="Consolas" pitchFamily="34" charset="-122"/>
                <a:cs typeface="Consolas" pitchFamily="34" charset="-120"/>
              </a:rPr>
              <a:t>fastapi-container</a:t>
            </a:r>
            <a:endParaRPr lang="en-US" sz="950" dirty="0"/>
          </a:p>
        </p:txBody>
      </p:sp>
      <p:sp>
        <p:nvSpPr>
          <p:cNvPr id="55" name="Text 48"/>
          <p:cNvSpPr/>
          <p:nvPr/>
        </p:nvSpPr>
        <p:spPr>
          <a:xfrm>
            <a:off x="5029200" y="2286000"/>
            <a:ext cx="2377440" cy="201168"/>
          </a:xfrm>
          <a:prstGeom prst="rect">
            <a:avLst/>
          </a:prstGeom>
          <a:noFill/>
          <a:ln/>
        </p:spPr>
        <p:txBody>
          <a:bodyPr wrap="square" rtlCol="0" anchor="ctr"/>
          <a:lstStyle/>
          <a:p>
            <a:pPr indent="0" marL="0">
              <a:buNone/>
            </a:pPr>
            <a:r>
              <a:rPr lang="en-US" sz="800" dirty="0">
                <a:solidFill>
                  <a:srgbClr val="64748B"/>
                </a:solidFill>
                <a:latin typeface="Consolas" pitchFamily="34" charset="0"/>
                <a:ea typeface="Consolas" pitchFamily="34" charset="-122"/>
                <a:cs typeface="Consolas" pitchFamily="34" charset="-120"/>
              </a:rPr>
              <a:t>port 8000:8000</a:t>
            </a:r>
            <a:endParaRPr lang="en-US" sz="800" dirty="0"/>
          </a:p>
        </p:txBody>
      </p:sp>
      <p:sp>
        <p:nvSpPr>
          <p:cNvPr id="56" name="Text 49"/>
          <p:cNvSpPr/>
          <p:nvPr/>
        </p:nvSpPr>
        <p:spPr>
          <a:xfrm>
            <a:off x="7406640" y="2048256"/>
            <a:ext cx="1234440" cy="566928"/>
          </a:xfrm>
          <a:prstGeom prst="rect">
            <a:avLst/>
          </a:prstGeom>
          <a:noFill/>
          <a:ln/>
        </p:spPr>
        <p:txBody>
          <a:bodyPr wrap="square" rtlCol="0" anchor="ctr"/>
          <a:lstStyle/>
          <a:p>
            <a:pPr algn="r" indent="0" marL="0">
              <a:buNone/>
            </a:pPr>
            <a:r>
              <a:rPr lang="en-US" sz="800" dirty="0">
                <a:solidFill>
                  <a:srgbClr val="CBD5E1"/>
                </a:solidFill>
              </a:rPr>
              <a:t>FastAPI + Uvicorn</a:t>
            </a:r>
            <a:endParaRPr lang="en-US" sz="800" dirty="0"/>
          </a:p>
          <a:p>
            <a:pPr algn="r" indent="0" marL="0">
              <a:buNone/>
            </a:pPr>
            <a:r>
              <a:rPr lang="en-US" sz="800" dirty="0">
                <a:solidFill>
                  <a:srgbClr val="CBD5E1"/>
                </a:solidFill>
              </a:rPr>
              <a:t>Orchestration layer</a:t>
            </a:r>
            <a:endParaRPr lang="en-US" sz="800" dirty="0"/>
          </a:p>
        </p:txBody>
      </p:sp>
      <p:sp>
        <p:nvSpPr>
          <p:cNvPr id="57" name="Shape 50"/>
          <p:cNvSpPr/>
          <p:nvPr/>
        </p:nvSpPr>
        <p:spPr>
          <a:xfrm>
            <a:off x="4709160" y="2798064"/>
            <a:ext cx="4069080" cy="749808"/>
          </a:xfrm>
          <a:prstGeom prst="roundRect">
            <a:avLst>
              <a:gd name="adj" fmla="val 9756"/>
            </a:avLst>
          </a:prstGeom>
          <a:solidFill>
            <a:srgbClr val="0A1830"/>
          </a:solidFill>
          <a:ln w="12700">
            <a:solidFill>
              <a:srgbClr val="00D4A1"/>
            </a:solidFill>
            <a:prstDash val="solid"/>
          </a:ln>
        </p:spPr>
      </p:sp>
      <p:sp>
        <p:nvSpPr>
          <p:cNvPr id="58" name="Shape 51"/>
          <p:cNvSpPr/>
          <p:nvPr/>
        </p:nvSpPr>
        <p:spPr>
          <a:xfrm>
            <a:off x="4736592" y="2871216"/>
            <a:ext cx="228600" cy="603504"/>
          </a:xfrm>
          <a:prstGeom prst="roundRect">
            <a:avLst>
              <a:gd name="adj" fmla="val 16000"/>
            </a:avLst>
          </a:prstGeom>
          <a:solidFill>
            <a:srgbClr val="00D4A1">
              <a:alpha val="70000"/>
            </a:srgbClr>
          </a:solidFill>
          <a:ln w="12700">
            <a:solidFill>
              <a:srgbClr val="00D4A1">
                <a:alpha val="70000"/>
              </a:srgbClr>
            </a:solidFill>
            <a:prstDash val="solid"/>
          </a:ln>
        </p:spPr>
      </p:sp>
      <p:sp>
        <p:nvSpPr>
          <p:cNvPr id="59" name="Text 52"/>
          <p:cNvSpPr/>
          <p:nvPr/>
        </p:nvSpPr>
        <p:spPr>
          <a:xfrm>
            <a:off x="5029200" y="2871216"/>
            <a:ext cx="2377440" cy="274320"/>
          </a:xfrm>
          <a:prstGeom prst="rect">
            <a:avLst/>
          </a:prstGeom>
          <a:noFill/>
          <a:ln/>
        </p:spPr>
        <p:txBody>
          <a:bodyPr wrap="square" rtlCol="0" anchor="ctr"/>
          <a:lstStyle/>
          <a:p>
            <a:pPr indent="0" marL="0">
              <a:buNone/>
            </a:pPr>
            <a:r>
              <a:rPr lang="en-US" sz="950" b="1" dirty="0">
                <a:solidFill>
                  <a:srgbClr val="00D4A1"/>
                </a:solidFill>
                <a:latin typeface="Consolas" pitchFamily="34" charset="0"/>
                <a:ea typeface="Consolas" pitchFamily="34" charset="-122"/>
                <a:cs typeface="Consolas" pitchFamily="34" charset="-120"/>
              </a:rPr>
              <a:t>ml-container</a:t>
            </a:r>
            <a:endParaRPr lang="en-US" sz="950" dirty="0"/>
          </a:p>
        </p:txBody>
      </p:sp>
      <p:sp>
        <p:nvSpPr>
          <p:cNvPr id="60" name="Text 53"/>
          <p:cNvSpPr/>
          <p:nvPr/>
        </p:nvSpPr>
        <p:spPr>
          <a:xfrm>
            <a:off x="5029200" y="3127248"/>
            <a:ext cx="2377440" cy="201168"/>
          </a:xfrm>
          <a:prstGeom prst="rect">
            <a:avLst/>
          </a:prstGeom>
          <a:noFill/>
          <a:ln/>
        </p:spPr>
        <p:txBody>
          <a:bodyPr wrap="square" rtlCol="0" anchor="ctr"/>
          <a:lstStyle/>
          <a:p>
            <a:pPr indent="0" marL="0">
              <a:buNone/>
            </a:pPr>
            <a:r>
              <a:rPr lang="en-US" sz="800" dirty="0">
                <a:solidFill>
                  <a:srgbClr val="64748B"/>
                </a:solidFill>
                <a:latin typeface="Consolas" pitchFamily="34" charset="0"/>
                <a:ea typeface="Consolas" pitchFamily="34" charset="-122"/>
                <a:cs typeface="Consolas" pitchFamily="34" charset="-120"/>
              </a:rPr>
              <a:t>port internal</a:t>
            </a:r>
            <a:endParaRPr lang="en-US" sz="800" dirty="0"/>
          </a:p>
        </p:txBody>
      </p:sp>
      <p:sp>
        <p:nvSpPr>
          <p:cNvPr id="61" name="Text 54"/>
          <p:cNvSpPr/>
          <p:nvPr/>
        </p:nvSpPr>
        <p:spPr>
          <a:xfrm>
            <a:off x="7406640" y="2889504"/>
            <a:ext cx="1234440" cy="566928"/>
          </a:xfrm>
          <a:prstGeom prst="rect">
            <a:avLst/>
          </a:prstGeom>
          <a:noFill/>
          <a:ln/>
        </p:spPr>
        <p:txBody>
          <a:bodyPr wrap="square" rtlCol="0" anchor="ctr"/>
          <a:lstStyle/>
          <a:p>
            <a:pPr algn="r" indent="0" marL="0">
              <a:buNone/>
            </a:pPr>
            <a:r>
              <a:rPr lang="en-US" sz="800" dirty="0">
                <a:solidFill>
                  <a:srgbClr val="CBD5E1"/>
                </a:solidFill>
              </a:rPr>
              <a:t>ONNX Runtime</a:t>
            </a:r>
            <a:endParaRPr lang="en-US" sz="800" dirty="0"/>
          </a:p>
          <a:p>
            <a:pPr algn="r" indent="0" marL="0">
              <a:buNone/>
            </a:pPr>
            <a:r>
              <a:rPr lang="en-US" sz="800" dirty="0">
                <a:solidFill>
                  <a:srgbClr val="CBD5E1"/>
                </a:solidFill>
              </a:rPr>
              <a:t>CNN inference service</a:t>
            </a:r>
            <a:endParaRPr lang="en-US" sz="800" dirty="0"/>
          </a:p>
        </p:txBody>
      </p:sp>
      <p:sp>
        <p:nvSpPr>
          <p:cNvPr id="62" name="Shape 55"/>
          <p:cNvSpPr/>
          <p:nvPr/>
        </p:nvSpPr>
        <p:spPr>
          <a:xfrm>
            <a:off x="4709160" y="3639312"/>
            <a:ext cx="4069080" cy="749808"/>
          </a:xfrm>
          <a:prstGeom prst="roundRect">
            <a:avLst>
              <a:gd name="adj" fmla="val 9756"/>
            </a:avLst>
          </a:prstGeom>
          <a:solidFill>
            <a:srgbClr val="0A1830"/>
          </a:solidFill>
          <a:ln w="12700">
            <a:solidFill>
              <a:srgbClr val="FF6B35"/>
            </a:solidFill>
            <a:prstDash val="solid"/>
          </a:ln>
        </p:spPr>
      </p:sp>
      <p:sp>
        <p:nvSpPr>
          <p:cNvPr id="63" name="Shape 56"/>
          <p:cNvSpPr/>
          <p:nvPr/>
        </p:nvSpPr>
        <p:spPr>
          <a:xfrm>
            <a:off x="4736592" y="3712464"/>
            <a:ext cx="228600" cy="603504"/>
          </a:xfrm>
          <a:prstGeom prst="roundRect">
            <a:avLst>
              <a:gd name="adj" fmla="val 16000"/>
            </a:avLst>
          </a:prstGeom>
          <a:solidFill>
            <a:srgbClr val="FF6B35">
              <a:alpha val="70000"/>
            </a:srgbClr>
          </a:solidFill>
          <a:ln w="12700">
            <a:solidFill>
              <a:srgbClr val="FF6B35">
                <a:alpha val="70000"/>
              </a:srgbClr>
            </a:solidFill>
            <a:prstDash val="solid"/>
          </a:ln>
        </p:spPr>
      </p:sp>
      <p:sp>
        <p:nvSpPr>
          <p:cNvPr id="64" name="Text 57"/>
          <p:cNvSpPr/>
          <p:nvPr/>
        </p:nvSpPr>
        <p:spPr>
          <a:xfrm>
            <a:off x="5029200" y="3712464"/>
            <a:ext cx="2377440" cy="274320"/>
          </a:xfrm>
          <a:prstGeom prst="rect">
            <a:avLst/>
          </a:prstGeom>
          <a:noFill/>
          <a:ln/>
        </p:spPr>
        <p:txBody>
          <a:bodyPr wrap="square" rtlCol="0" anchor="ctr"/>
          <a:lstStyle/>
          <a:p>
            <a:pPr indent="0" marL="0">
              <a:buNone/>
            </a:pPr>
            <a:r>
              <a:rPr lang="en-US" sz="950" b="1" dirty="0">
                <a:solidFill>
                  <a:srgbClr val="FF6B35"/>
                </a:solidFill>
                <a:latin typeface="Consolas" pitchFamily="34" charset="0"/>
                <a:ea typeface="Consolas" pitchFamily="34" charset="-122"/>
                <a:cs typeface="Consolas" pitchFamily="34" charset="-120"/>
              </a:rPr>
              <a:t>crypto-stego-svc</a:t>
            </a:r>
            <a:endParaRPr lang="en-US" sz="950" dirty="0"/>
          </a:p>
        </p:txBody>
      </p:sp>
      <p:sp>
        <p:nvSpPr>
          <p:cNvPr id="65" name="Text 58"/>
          <p:cNvSpPr/>
          <p:nvPr/>
        </p:nvSpPr>
        <p:spPr>
          <a:xfrm>
            <a:off x="5029200" y="3968496"/>
            <a:ext cx="2377440" cy="201168"/>
          </a:xfrm>
          <a:prstGeom prst="rect">
            <a:avLst/>
          </a:prstGeom>
          <a:noFill/>
          <a:ln/>
        </p:spPr>
        <p:txBody>
          <a:bodyPr wrap="square" rtlCol="0" anchor="ctr"/>
          <a:lstStyle/>
          <a:p>
            <a:pPr indent="0" marL="0">
              <a:buNone/>
            </a:pPr>
            <a:r>
              <a:rPr lang="en-US" sz="800" dirty="0">
                <a:solidFill>
                  <a:srgbClr val="64748B"/>
                </a:solidFill>
                <a:latin typeface="Consolas" pitchFamily="34" charset="0"/>
                <a:ea typeface="Consolas" pitchFamily="34" charset="-122"/>
                <a:cs typeface="Consolas" pitchFamily="34" charset="-120"/>
              </a:rPr>
              <a:t>port internal</a:t>
            </a:r>
            <a:endParaRPr lang="en-US" sz="800" dirty="0"/>
          </a:p>
        </p:txBody>
      </p:sp>
      <p:sp>
        <p:nvSpPr>
          <p:cNvPr id="66" name="Text 59"/>
          <p:cNvSpPr/>
          <p:nvPr/>
        </p:nvSpPr>
        <p:spPr>
          <a:xfrm>
            <a:off x="7406640" y="3730752"/>
            <a:ext cx="1234440" cy="566928"/>
          </a:xfrm>
          <a:prstGeom prst="rect">
            <a:avLst/>
          </a:prstGeom>
          <a:noFill/>
          <a:ln/>
        </p:spPr>
        <p:txBody>
          <a:bodyPr wrap="square" rtlCol="0" anchor="ctr"/>
          <a:lstStyle/>
          <a:p>
            <a:pPr algn="r" indent="0" marL="0">
              <a:buNone/>
            </a:pPr>
            <a:r>
              <a:rPr lang="en-US" sz="800" dirty="0">
                <a:solidFill>
                  <a:srgbClr val="CBD5E1"/>
                </a:solidFill>
              </a:rPr>
              <a:t>AES + JUNIWARD</a:t>
            </a:r>
            <a:endParaRPr lang="en-US" sz="800" dirty="0"/>
          </a:p>
          <a:p>
            <a:pPr algn="r" indent="0" marL="0">
              <a:buNone/>
            </a:pPr>
            <a:r>
              <a:rPr lang="en-US" sz="800" dirty="0">
                <a:solidFill>
                  <a:srgbClr val="CBD5E1"/>
                </a:solidFill>
              </a:rPr>
              <a:t>Internal services layer</a:t>
            </a:r>
            <a:endParaRPr lang="en-US" sz="800" dirty="0"/>
          </a:p>
        </p:txBody>
      </p:sp>
      <p:sp>
        <p:nvSpPr>
          <p:cNvPr id="67" name="Shape 60"/>
          <p:cNvSpPr/>
          <p:nvPr/>
        </p:nvSpPr>
        <p:spPr>
          <a:xfrm>
            <a:off x="4709160" y="4480560"/>
            <a:ext cx="4069080" cy="320040"/>
          </a:xfrm>
          <a:prstGeom prst="roundRect">
            <a:avLst>
              <a:gd name="adj" fmla="val 17143"/>
            </a:avLst>
          </a:prstGeom>
          <a:solidFill>
            <a:srgbClr val="112233"/>
          </a:solidFill>
          <a:ln w="6350">
            <a:solidFill>
              <a:srgbClr val="64748B"/>
            </a:solidFill>
            <a:prstDash val="solid"/>
          </a:ln>
        </p:spPr>
      </p:sp>
      <p:sp>
        <p:nvSpPr>
          <p:cNvPr id="68" name="Text 61"/>
          <p:cNvSpPr/>
          <p:nvPr/>
        </p:nvSpPr>
        <p:spPr>
          <a:xfrm>
            <a:off x="4754880" y="4498848"/>
            <a:ext cx="3977640" cy="274320"/>
          </a:xfrm>
          <a:prstGeom prst="rect">
            <a:avLst/>
          </a:prstGeom>
          <a:noFill/>
          <a:ln/>
        </p:spPr>
        <p:txBody>
          <a:bodyPr wrap="square" rtlCol="0" anchor="ctr"/>
          <a:lstStyle/>
          <a:p>
            <a:pPr algn="ctr" indent="0" marL="0">
              <a:buNone/>
            </a:pPr>
            <a:r>
              <a:rPr lang="en-US" sz="850" dirty="0">
                <a:solidFill>
                  <a:srgbClr val="00E5FF"/>
                </a:solidFill>
                <a:latin typeface="Consolas" pitchFamily="34" charset="0"/>
                <a:ea typeface="Consolas" pitchFamily="34" charset="-122"/>
                <a:cs typeface="Consolas" pitchFamily="34" charset="-120"/>
              </a:rPr>
              <a:t>docker-compose up  →  All services launch with single command</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220"/>
          </a:solidFill>
          <a:ln w="12700">
            <a:solidFill>
              <a:srgbClr val="0B1220"/>
            </a:solidFill>
            <a:prstDash val="solid"/>
          </a:ln>
        </p:spPr>
      </p:sp>
      <p:sp>
        <p:nvSpPr>
          <p:cNvPr id="3" name="Shape 1"/>
          <p:cNvSpPr/>
          <p:nvPr/>
        </p:nvSpPr>
        <p:spPr>
          <a:xfrm>
            <a:off x="0" y="0"/>
            <a:ext cx="9144000" cy="36576"/>
          </a:xfrm>
          <a:prstGeom prst="rect">
            <a:avLst/>
          </a:prstGeom>
          <a:solidFill>
            <a:srgbClr val="00E5FF"/>
          </a:solidFill>
          <a:ln w="12700">
            <a:solidFill>
              <a:srgbClr val="00E5FF"/>
            </a:solidFill>
            <a:prstDash val="solid"/>
          </a:ln>
        </p:spPr>
      </p:sp>
      <p:sp>
        <p:nvSpPr>
          <p:cNvPr id="4" name="Shape 2"/>
          <p:cNvSpPr/>
          <p:nvPr/>
        </p:nvSpPr>
        <p:spPr>
          <a:xfrm>
            <a:off x="457200" y="256032"/>
            <a:ext cx="1463040" cy="256032"/>
          </a:xfrm>
          <a:prstGeom prst="rect">
            <a:avLst/>
          </a:prstGeom>
          <a:solidFill>
            <a:srgbClr val="00E5FF"/>
          </a:solidFill>
          <a:ln w="12700">
            <a:solidFill>
              <a:srgbClr val="00E5FF"/>
            </a:solidFill>
            <a:prstDash val="solid"/>
          </a:ln>
        </p:spPr>
      </p:sp>
      <p:sp>
        <p:nvSpPr>
          <p:cNvPr id="5" name="Text 3"/>
          <p:cNvSpPr/>
          <p:nvPr/>
        </p:nvSpPr>
        <p:spPr>
          <a:xfrm>
            <a:off x="457200" y="256032"/>
            <a:ext cx="1463040" cy="256032"/>
          </a:xfrm>
          <a:prstGeom prst="rect">
            <a:avLst/>
          </a:prstGeom>
          <a:noFill/>
          <a:ln/>
        </p:spPr>
        <p:txBody>
          <a:bodyPr wrap="square" lIns="0" tIns="0" rIns="0" bIns="0" rtlCol="0" anchor="ctr"/>
          <a:lstStyle/>
          <a:p>
            <a:pPr algn="ctr" indent="0" marL="0">
              <a:buNone/>
            </a:pPr>
            <a:r>
              <a:rPr lang="en-US" sz="900" b="1" dirty="0">
                <a:solidFill>
                  <a:srgbClr val="07090F"/>
                </a:solidFill>
              </a:rPr>
              <a:t>CONCLUSION</a:t>
            </a:r>
            <a:endParaRPr lang="en-US" sz="900" dirty="0"/>
          </a:p>
        </p:txBody>
      </p:sp>
      <p:sp>
        <p:nvSpPr>
          <p:cNvPr id="6" name="Text 4"/>
          <p:cNvSpPr/>
          <p:nvPr/>
        </p:nvSpPr>
        <p:spPr>
          <a:xfrm>
            <a:off x="2103120" y="182880"/>
            <a:ext cx="6675120" cy="438912"/>
          </a:xfrm>
          <a:prstGeom prst="rect">
            <a:avLst/>
          </a:prstGeom>
          <a:noFill/>
          <a:ln/>
        </p:spPr>
        <p:txBody>
          <a:bodyPr wrap="square" rtlCol="0" anchor="ctr"/>
          <a:lstStyle/>
          <a:p>
            <a:pPr indent="0" marL="0">
              <a:buNone/>
            </a:pPr>
            <a:r>
              <a:rPr lang="en-US" sz="2400" b="1" dirty="0">
                <a:solidFill>
                  <a:srgbClr val="FFFFFF"/>
                </a:solidFill>
                <a:latin typeface="Arial Black" pitchFamily="34" charset="0"/>
                <a:ea typeface="Arial Black" pitchFamily="34" charset="-122"/>
                <a:cs typeface="Arial Black" pitchFamily="34" charset="-120"/>
              </a:rPr>
              <a:t>Risks, Limitations &amp; Conclusion</a:t>
            </a:r>
            <a:endParaRPr lang="en-US" sz="2400" dirty="0"/>
          </a:p>
        </p:txBody>
      </p:sp>
      <p:sp>
        <p:nvSpPr>
          <p:cNvPr id="7" name="Shape 5"/>
          <p:cNvSpPr/>
          <p:nvPr/>
        </p:nvSpPr>
        <p:spPr>
          <a:xfrm>
            <a:off x="228600" y="749808"/>
            <a:ext cx="4663440" cy="2423160"/>
          </a:xfrm>
          <a:prstGeom prst="roundRect">
            <a:avLst>
              <a:gd name="adj" fmla="val 3774"/>
            </a:avLst>
          </a:prstGeom>
          <a:solidFill>
            <a:srgbClr val="0F1E35"/>
          </a:solidFill>
          <a:ln w="19050">
            <a:solidFill>
              <a:srgbClr val="FF6B35"/>
            </a:solidFill>
            <a:prstDash val="solid"/>
          </a:ln>
          <a:effectLst>
            <a:outerShdw sx="100000" sy="100000" kx="0" ky="0" algn="bl" rotWithShape="0" blurRad="101600" dist="38100" dir="8100000">
              <a:srgbClr val="000000">
                <a:alpha val="30000"/>
              </a:srgbClr>
            </a:outerShdw>
          </a:effectLst>
        </p:spPr>
      </p:sp>
      <p:sp>
        <p:nvSpPr>
          <p:cNvPr id="8" name="Shape 6"/>
          <p:cNvSpPr/>
          <p:nvPr/>
        </p:nvSpPr>
        <p:spPr>
          <a:xfrm>
            <a:off x="228600" y="749808"/>
            <a:ext cx="4663440" cy="274320"/>
          </a:xfrm>
          <a:prstGeom prst="rect">
            <a:avLst/>
          </a:prstGeom>
          <a:solidFill>
            <a:srgbClr val="FF6B35">
              <a:alpha val="80000"/>
            </a:srgbClr>
          </a:solidFill>
          <a:ln w="12700">
            <a:solidFill>
              <a:srgbClr val="FF6B35">
                <a:alpha val="80000"/>
              </a:srgbClr>
            </a:solidFill>
            <a:prstDash val="solid"/>
          </a:ln>
        </p:spPr>
      </p:sp>
      <p:pic>
        <p:nvPicPr>
          <p:cNvPr id="9" name="Image 0" descr="preencoded.png">    </p:cNvPr>
          <p:cNvPicPr>
            <a:picLocks noChangeAspect="1"/>
          </p:cNvPicPr>
          <p:nvPr/>
        </p:nvPicPr>
        <p:blipFill>
          <a:blip r:embed="rId1"/>
          <a:stretch>
            <a:fillRect/>
          </a:stretch>
        </p:blipFill>
        <p:spPr>
          <a:xfrm>
            <a:off x="347472" y="786384"/>
            <a:ext cx="201168" cy="201168"/>
          </a:xfrm>
          <a:prstGeom prst="rect">
            <a:avLst/>
          </a:prstGeom>
        </p:spPr>
      </p:pic>
      <p:sp>
        <p:nvSpPr>
          <p:cNvPr id="10" name="Text 7"/>
          <p:cNvSpPr/>
          <p:nvPr/>
        </p:nvSpPr>
        <p:spPr>
          <a:xfrm>
            <a:off x="603504" y="768096"/>
            <a:ext cx="4206240" cy="246888"/>
          </a:xfrm>
          <a:prstGeom prst="rect">
            <a:avLst/>
          </a:prstGeom>
          <a:noFill/>
          <a:ln/>
        </p:spPr>
        <p:txBody>
          <a:bodyPr wrap="square" rtlCol="0" anchor="ctr"/>
          <a:lstStyle/>
          <a:p>
            <a:pPr indent="0" marL="0">
              <a:buNone/>
            </a:pPr>
            <a:r>
              <a:rPr lang="en-US" sz="1100" b="1" dirty="0">
                <a:solidFill>
                  <a:srgbClr val="FF6B35"/>
                </a:solidFill>
              </a:rPr>
              <a:t>Known Limitations &amp; Risks</a:t>
            </a:r>
            <a:endParaRPr lang="en-US" sz="1100" dirty="0"/>
          </a:p>
        </p:txBody>
      </p:sp>
      <p:pic>
        <p:nvPicPr>
          <p:cNvPr id="11" name="Image 1" descr="preencoded.png">    </p:cNvPr>
          <p:cNvPicPr>
            <a:picLocks noChangeAspect="1"/>
          </p:cNvPicPr>
          <p:nvPr/>
        </p:nvPicPr>
        <p:blipFill>
          <a:blip r:embed="rId2"/>
          <a:stretch>
            <a:fillRect/>
          </a:stretch>
        </p:blipFill>
        <p:spPr>
          <a:xfrm>
            <a:off x="347472" y="1115568"/>
            <a:ext cx="201168" cy="201168"/>
          </a:xfrm>
          <a:prstGeom prst="rect">
            <a:avLst/>
          </a:prstGeom>
        </p:spPr>
      </p:pic>
      <p:sp>
        <p:nvSpPr>
          <p:cNvPr id="12" name="Text 8"/>
          <p:cNvSpPr/>
          <p:nvPr/>
        </p:nvSpPr>
        <p:spPr>
          <a:xfrm>
            <a:off x="621792" y="1097280"/>
            <a:ext cx="4133088" cy="384048"/>
          </a:xfrm>
          <a:prstGeom prst="rect">
            <a:avLst/>
          </a:prstGeom>
          <a:noFill/>
          <a:ln/>
        </p:spPr>
        <p:txBody>
          <a:bodyPr wrap="square" rtlCol="0" anchor="ctr"/>
          <a:lstStyle/>
          <a:p>
            <a:pPr indent="0" marL="0">
              <a:buNone/>
            </a:pPr>
            <a:r>
              <a:rPr lang="en-US" sz="880" dirty="0">
                <a:solidFill>
                  <a:srgbClr val="CBD5E1"/>
                </a:solidFill>
              </a:rPr>
              <a:t>Synthetic dataset — trained on JUNIWARD stego only; real-world algorithms may exhibit distribution shift</a:t>
            </a:r>
            <a:endParaRPr lang="en-US" sz="880" dirty="0"/>
          </a:p>
        </p:txBody>
      </p:sp>
      <p:pic>
        <p:nvPicPr>
          <p:cNvPr id="13" name="Image 2" descr="preencoded.png">    </p:cNvPr>
          <p:cNvPicPr>
            <a:picLocks noChangeAspect="1"/>
          </p:cNvPicPr>
          <p:nvPr/>
        </p:nvPicPr>
        <p:blipFill>
          <a:blip r:embed="rId3"/>
          <a:stretch>
            <a:fillRect/>
          </a:stretch>
        </p:blipFill>
        <p:spPr>
          <a:xfrm>
            <a:off x="347472" y="1600200"/>
            <a:ext cx="201168" cy="201168"/>
          </a:xfrm>
          <a:prstGeom prst="rect">
            <a:avLst/>
          </a:prstGeom>
        </p:spPr>
      </p:pic>
      <p:sp>
        <p:nvSpPr>
          <p:cNvPr id="14" name="Text 9"/>
          <p:cNvSpPr/>
          <p:nvPr/>
        </p:nvSpPr>
        <p:spPr>
          <a:xfrm>
            <a:off x="621792" y="1581912"/>
            <a:ext cx="4133088" cy="384048"/>
          </a:xfrm>
          <a:prstGeom prst="rect">
            <a:avLst/>
          </a:prstGeom>
          <a:noFill/>
          <a:ln/>
        </p:spPr>
        <p:txBody>
          <a:bodyPr wrap="square" rtlCol="0" anchor="ctr"/>
          <a:lstStyle/>
          <a:p>
            <a:pPr indent="0" marL="0">
              <a:buNone/>
            </a:pPr>
            <a:r>
              <a:rPr lang="en-US" sz="880" dirty="0">
                <a:solidFill>
                  <a:srgbClr val="CBD5E1"/>
                </a:solidFill>
              </a:rPr>
              <a:t>Detection model not tested against non-JUNIWARD algorithms (LSB, DCT-based, deep steganography)</a:t>
            </a:r>
            <a:endParaRPr lang="en-US" sz="880" dirty="0"/>
          </a:p>
        </p:txBody>
      </p:sp>
      <p:pic>
        <p:nvPicPr>
          <p:cNvPr id="15" name="Image 3" descr="preencoded.png">    </p:cNvPr>
          <p:cNvPicPr>
            <a:picLocks noChangeAspect="1"/>
          </p:cNvPicPr>
          <p:nvPr/>
        </p:nvPicPr>
        <p:blipFill>
          <a:blip r:embed="rId4"/>
          <a:stretch>
            <a:fillRect/>
          </a:stretch>
        </p:blipFill>
        <p:spPr>
          <a:xfrm>
            <a:off x="347472" y="2084832"/>
            <a:ext cx="201168" cy="201168"/>
          </a:xfrm>
          <a:prstGeom prst="rect">
            <a:avLst/>
          </a:prstGeom>
        </p:spPr>
      </p:pic>
      <p:sp>
        <p:nvSpPr>
          <p:cNvPr id="16" name="Text 10"/>
          <p:cNvSpPr/>
          <p:nvPr/>
        </p:nvSpPr>
        <p:spPr>
          <a:xfrm>
            <a:off x="621792" y="2066544"/>
            <a:ext cx="4133088" cy="384048"/>
          </a:xfrm>
          <a:prstGeom prst="rect">
            <a:avLst/>
          </a:prstGeom>
          <a:noFill/>
          <a:ln/>
        </p:spPr>
        <p:txBody>
          <a:bodyPr wrap="square" rtlCol="0" anchor="ctr"/>
          <a:lstStyle/>
          <a:p>
            <a:pPr indent="0" marL="0">
              <a:buNone/>
            </a:pPr>
            <a:r>
              <a:rPr lang="en-US" sz="880" dirty="0">
                <a:solidFill>
                  <a:srgbClr val="CBD5E1"/>
                </a:solidFill>
              </a:rPr>
              <a:t>Payload constraint — JUNIWARD capacity limited by image size and texture content</a:t>
            </a:r>
            <a:endParaRPr lang="en-US" sz="880" dirty="0"/>
          </a:p>
        </p:txBody>
      </p:sp>
      <p:pic>
        <p:nvPicPr>
          <p:cNvPr id="17" name="Image 4" descr="preencoded.png">    </p:cNvPr>
          <p:cNvPicPr>
            <a:picLocks noChangeAspect="1"/>
          </p:cNvPicPr>
          <p:nvPr/>
        </p:nvPicPr>
        <p:blipFill>
          <a:blip r:embed="rId5"/>
          <a:stretch>
            <a:fillRect/>
          </a:stretch>
        </p:blipFill>
        <p:spPr>
          <a:xfrm>
            <a:off x="347472" y="2569464"/>
            <a:ext cx="201168" cy="201168"/>
          </a:xfrm>
          <a:prstGeom prst="rect">
            <a:avLst/>
          </a:prstGeom>
        </p:spPr>
      </p:pic>
      <p:sp>
        <p:nvSpPr>
          <p:cNvPr id="18" name="Text 11"/>
          <p:cNvSpPr/>
          <p:nvPr/>
        </p:nvSpPr>
        <p:spPr>
          <a:xfrm>
            <a:off x="621792" y="2551176"/>
            <a:ext cx="4133088" cy="384048"/>
          </a:xfrm>
          <a:prstGeom prst="rect">
            <a:avLst/>
          </a:prstGeom>
          <a:noFill/>
          <a:ln/>
        </p:spPr>
        <p:txBody>
          <a:bodyPr wrap="square" rtlCol="0" anchor="ctr"/>
          <a:lstStyle/>
          <a:p>
            <a:pPr indent="0" marL="0">
              <a:buNone/>
            </a:pPr>
            <a:r>
              <a:rPr lang="en-US" sz="880" dirty="0">
                <a:solidFill>
                  <a:srgbClr val="CBD5E1"/>
                </a:solidFill>
              </a:rPr>
              <a:t>Image transformations (JPEG compression &lt; Q50) may corrupt hidden payload beyond recovery</a:t>
            </a:r>
            <a:endParaRPr lang="en-US" sz="880" dirty="0"/>
          </a:p>
        </p:txBody>
      </p:sp>
      <p:sp>
        <p:nvSpPr>
          <p:cNvPr id="19" name="Shape 12"/>
          <p:cNvSpPr/>
          <p:nvPr/>
        </p:nvSpPr>
        <p:spPr>
          <a:xfrm>
            <a:off x="5074920" y="749808"/>
            <a:ext cx="3840480" cy="2423160"/>
          </a:xfrm>
          <a:prstGeom prst="roundRect">
            <a:avLst>
              <a:gd name="adj" fmla="val 4528"/>
            </a:avLst>
          </a:prstGeom>
          <a:solidFill>
            <a:srgbClr val="06150D"/>
          </a:solidFill>
          <a:ln w="25400">
            <a:solidFill>
              <a:srgbClr val="00D4A1"/>
            </a:solidFill>
            <a:prstDash val="solid"/>
          </a:ln>
          <a:effectLst>
            <a:outerShdw sx="100000" sy="100000" kx="0" ky="0" algn="bl" rotWithShape="0" blurRad="101600" dist="38100" dir="8100000">
              <a:srgbClr val="000000">
                <a:alpha val="30000"/>
              </a:srgbClr>
            </a:outerShdw>
          </a:effectLst>
        </p:spPr>
      </p:sp>
      <p:pic>
        <p:nvPicPr>
          <p:cNvPr id="20" name="Image 5" descr="preencoded.png">    </p:cNvPr>
          <p:cNvPicPr>
            <a:picLocks noChangeAspect="1"/>
          </p:cNvPicPr>
          <p:nvPr/>
        </p:nvPicPr>
        <p:blipFill>
          <a:blip r:embed="rId6"/>
          <a:stretch>
            <a:fillRect/>
          </a:stretch>
        </p:blipFill>
        <p:spPr>
          <a:xfrm>
            <a:off x="6263640" y="896112"/>
            <a:ext cx="1463040" cy="1463040"/>
          </a:xfrm>
          <a:prstGeom prst="rect">
            <a:avLst/>
          </a:prstGeom>
        </p:spPr>
      </p:pic>
      <p:sp>
        <p:nvSpPr>
          <p:cNvPr id="21" name="Shape 13"/>
          <p:cNvSpPr/>
          <p:nvPr/>
        </p:nvSpPr>
        <p:spPr>
          <a:xfrm>
            <a:off x="228600" y="3310128"/>
            <a:ext cx="8686800" cy="1645920"/>
          </a:xfrm>
          <a:prstGeom prst="roundRect">
            <a:avLst>
              <a:gd name="adj" fmla="val 6667"/>
            </a:avLst>
          </a:prstGeom>
          <a:solidFill>
            <a:srgbClr val="07130A"/>
          </a:solidFill>
          <a:ln w="25400">
            <a:solidFill>
              <a:srgbClr val="00D4A1"/>
            </a:solidFill>
            <a:prstDash val="solid"/>
          </a:ln>
          <a:effectLst>
            <a:outerShdw sx="100000" sy="100000" kx="0" ky="0" algn="bl" rotWithShape="0" blurRad="101600" dist="38100" dir="8100000">
              <a:srgbClr val="000000">
                <a:alpha val="30000"/>
              </a:srgbClr>
            </a:outerShdw>
          </a:effectLst>
        </p:spPr>
      </p:sp>
      <p:sp>
        <p:nvSpPr>
          <p:cNvPr id="22" name="Text 14"/>
          <p:cNvSpPr/>
          <p:nvPr/>
        </p:nvSpPr>
        <p:spPr>
          <a:xfrm>
            <a:off x="411480" y="3346704"/>
            <a:ext cx="8321040" cy="320040"/>
          </a:xfrm>
          <a:prstGeom prst="rect">
            <a:avLst/>
          </a:prstGeom>
          <a:noFill/>
          <a:ln/>
        </p:spPr>
        <p:txBody>
          <a:bodyPr wrap="square" rtlCol="0" anchor="ctr"/>
          <a:lstStyle/>
          <a:p>
            <a:pPr indent="0" marL="0">
              <a:buNone/>
            </a:pPr>
            <a:r>
              <a:rPr lang="en-US" sz="1400" b="1" dirty="0">
                <a:solidFill>
                  <a:srgbClr val="00D4A1"/>
                </a:solidFill>
              </a:rPr>
              <a:t>Conclusion</a:t>
            </a:r>
            <a:endParaRPr lang="en-US" sz="1400" dirty="0"/>
          </a:p>
        </p:txBody>
      </p:sp>
      <p:sp>
        <p:nvSpPr>
          <p:cNvPr id="23" name="Text 15"/>
          <p:cNvSpPr/>
          <p:nvPr/>
        </p:nvSpPr>
        <p:spPr>
          <a:xfrm>
            <a:off x="411480" y="3685032"/>
            <a:ext cx="8321040" cy="1170432"/>
          </a:xfrm>
          <a:prstGeom prst="rect">
            <a:avLst/>
          </a:prstGeom>
          <a:noFill/>
          <a:ln/>
        </p:spPr>
        <p:txBody>
          <a:bodyPr wrap="square" rtlCol="0" anchor="ctr"/>
          <a:lstStyle/>
          <a:p>
            <a:pPr indent="0" marL="0">
              <a:lnSpc>
                <a:spcPct val="135000"/>
              </a:lnSpc>
              <a:buNone/>
            </a:pPr>
            <a:r>
              <a:rPr lang="en-US" sz="1050" b="1" dirty="0">
                <a:solidFill>
                  <a:srgbClr val="00E5FF"/>
                </a:solidFill>
              </a:rPr>
              <a:t>StegoShield </a:t>
            </a:r>
            <a:pPr indent="0" marL="0">
              <a:lnSpc>
                <a:spcPct val="135000"/>
              </a:lnSpc>
              <a:buNone/>
            </a:pPr>
            <a:r>
              <a:rPr lang="en-US" sz="1050" dirty="0">
                <a:solidFill>
                  <a:srgbClr val="CBD5E1"/>
                </a:solidFill>
              </a:rPr>
              <a:t>provides a modular, production-ready secure pipeline that unifies </a:t>
            </a:r>
            <a:pPr indent="0" marL="0">
              <a:lnSpc>
                <a:spcPct val="135000"/>
              </a:lnSpc>
              <a:buNone/>
            </a:pPr>
            <a:r>
              <a:rPr lang="en-US" sz="1050" b="1" dirty="0">
                <a:solidFill>
                  <a:srgbClr val="00E5FF"/>
                </a:solidFill>
              </a:rPr>
              <a:t>AES-256-CBC encryption</a:t>
            </a:r>
            <a:pPr indent="0" marL="0">
              <a:lnSpc>
                <a:spcPct val="135000"/>
              </a:lnSpc>
              <a:buNone/>
            </a:pPr>
            <a:r>
              <a:rPr lang="en-US" sz="1050" dirty="0">
                <a:solidFill>
                  <a:srgbClr val="CBD5E1"/>
                </a:solidFill>
              </a:rPr>
              <a:t>,
</a:t>
            </a:r>
            <a:pPr indent="0" marL="0">
              <a:lnSpc>
                <a:spcPct val="135000"/>
              </a:lnSpc>
              <a:buNone/>
            </a:pPr>
            <a:r>
              <a:rPr lang="en-US" sz="1050" b="1" dirty="0">
                <a:solidFill>
                  <a:srgbClr val="FF6B35"/>
                </a:solidFill>
              </a:rPr>
              <a:t>JUNIWARD adaptive steganography</a:t>
            </a:r>
            <a:pPr indent="0" marL="0">
              <a:lnSpc>
                <a:spcPct val="135000"/>
              </a:lnSpc>
              <a:buNone/>
            </a:pPr>
            <a:r>
              <a:rPr lang="en-US" sz="1050" dirty="0">
                <a:solidFill>
                  <a:srgbClr val="CBD5E1"/>
                </a:solidFill>
              </a:rPr>
              <a:t> (heuristic DWT+STC), and </a:t>
            </a:r>
            <a:pPr indent="0" marL="0">
              <a:lnSpc>
                <a:spcPct val="135000"/>
              </a:lnSpc>
              <a:buNone/>
            </a:pPr>
            <a:r>
              <a:rPr lang="en-US" sz="1050" b="1" dirty="0">
                <a:solidFill>
                  <a:srgbClr val="00D4A1"/>
                </a:solidFill>
              </a:rPr>
              <a:t>CNN-based AI forensic detection</a:t>
            </a:r>
            <a:pPr indent="0" marL="0">
              <a:lnSpc>
                <a:spcPct val="135000"/>
              </a:lnSpc>
              <a:buNone/>
            </a:pPr>
            <a:r>
              <a:rPr lang="en-US" sz="1050" dirty="0">
                <a:solidFill>
                  <a:srgbClr val="CBD5E1"/>
                </a:solidFill>
              </a:rPr>
              <a:t> (ONNX).
</a:t>
            </a:r>
            <a:pPr indent="0" marL="0">
              <a:lnSpc>
                <a:spcPct val="135000"/>
              </a:lnSpc>
              <a:buNone/>
            </a:pPr>
            <a:r>
              <a:rPr lang="en-US" sz="1050" dirty="0">
                <a:solidFill>
                  <a:srgbClr val="CBD5E1"/>
                </a:solidFill>
              </a:rPr>
              <a:t>Each module is independently operable, strictly scoped, and designed for academic rigour and real-world deployment.</a:t>
            </a:r>
            <a:endParaRPr lang="en-US" sz="1050" dirty="0"/>
          </a:p>
        </p:txBody>
      </p:sp>
      <p:sp>
        <p:nvSpPr>
          <p:cNvPr id="24" name="Shape 16"/>
          <p:cNvSpPr/>
          <p:nvPr/>
        </p:nvSpPr>
        <p:spPr>
          <a:xfrm>
            <a:off x="6035040" y="2834640"/>
            <a:ext cx="1874520" cy="274320"/>
          </a:xfrm>
          <a:prstGeom prst="roundRect">
            <a:avLst>
              <a:gd name="adj" fmla="val 16667"/>
            </a:avLst>
          </a:prstGeom>
          <a:solidFill>
            <a:srgbClr val="00D4A1">
              <a:alpha val="70000"/>
            </a:srgbClr>
          </a:solidFill>
          <a:ln w="12700">
            <a:solidFill>
              <a:srgbClr val="00D4A1"/>
            </a:solidFill>
            <a:prstDash val="solid"/>
          </a:ln>
        </p:spPr>
      </p:sp>
      <p:sp>
        <p:nvSpPr>
          <p:cNvPr id="25" name="Text 17"/>
          <p:cNvSpPr/>
          <p:nvPr/>
        </p:nvSpPr>
        <p:spPr>
          <a:xfrm>
            <a:off x="6035040" y="2834640"/>
            <a:ext cx="1874520" cy="274320"/>
          </a:xfrm>
          <a:prstGeom prst="rect">
            <a:avLst/>
          </a:prstGeom>
          <a:noFill/>
          <a:ln/>
        </p:spPr>
        <p:txBody>
          <a:bodyPr wrap="square" rtlCol="0" anchor="ctr"/>
          <a:lstStyle/>
          <a:p>
            <a:pPr algn="ctr" indent="0" marL="0">
              <a:buNone/>
            </a:pPr>
            <a:r>
              <a:rPr lang="en-US" sz="850" b="1" dirty="0">
                <a:solidFill>
                  <a:srgbClr val="00D4A1"/>
                </a:solidFill>
              </a:rPr>
              <a:t>✓ React 18 UI</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StegoShield: AI-Driven Secure Steganography &amp; Steganalysis System</dc:title>
  <dc:subject>PptxGenJS Presentation</dc:subject>
  <dc:creator>StegoShield Team</dc:creator>
  <cp:lastModifiedBy>StegoShield Team</cp:lastModifiedBy>
  <cp:revision>1</cp:revision>
  <dcterms:created xsi:type="dcterms:W3CDTF">2026-05-04T23:10:07Z</dcterms:created>
  <dcterms:modified xsi:type="dcterms:W3CDTF">2026-05-04T23:10:07Z</dcterms:modified>
</cp:coreProperties>
</file>